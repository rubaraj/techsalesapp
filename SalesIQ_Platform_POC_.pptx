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CallCenter IQ is a working POC of three AI capability sets for any customer-facing sales or service operation. Everything shown runs today on a reference tele-sales implementation — the vertical is configuration, not code. This is a capabilities showcase, not a domain product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statement is domain-neutral: any regulated sales or service operation has restricted speech on recorded lines, blind supervision, sampled and late QA, and overloaded agents. The conversation itself is unwatched.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capability pillars on one pipeline. Design stance: human-in-the-loop by default — every AI write is a proposal a person approves — with Auto-Pilot as an explicit opt-in where the customer's policy allows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 is the agentic copilot embedded in the application: full tool use over live business data, UI navigation, drafted actions behind human approval (or Auto-Pilot where policy allows), voice commands to place calls, live entity capture that stages new records, and automatic caller identification with a disambiguation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2 is the conversation intelligence layer. Deterministic rules give sub-second inline compliance alerts; an AI review layer catches paraphrased violations; sentiment shifts and behavioral coaching rules fire proactively. Cost engineering: one merged structured LLM call per 15-second window covers sentiment, coaching, and compliance review together; rule engines are free. Graceful degradation with a self-healing 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3 is the command center plus governance. Live monitoring with instant mid-call backfill and events pinned to their trigger lines. The governance story: business users own the compliance rules, coaching rules, and the QA rubric itself from admin screens — no deployment. On-demand scoring produces evidence-quoted scorecards, and every AI interaction is fully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capability section. The framing is a capture problem, not a staffing problem: missed calls, leaky voicemail, cold callbacks. Three triggers for the same capability — agent-invoked delegation, ring timeout, and nobody-available. The capability in one line: a voice AI that answers what agents can't, converses, looks things up live, builds the record mid-call, and hands off to a human at any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flow: disclose, recognise returning callers, converse naturally, perform live lookups, create and save the record mid-call, schedule the callback, hand off cleanly. The caller experiences a conversation; the system ends with a record, a booking, and a transcript. On engineering: every system call is time-capped so a slow backend never leaves dead air, and anything captured late in the call is reconciled onto the record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on one slide. Grounding: answers come from live system lookups through the same governed tool layer as the chat copilot, and identity is injected server-side so the AI can never act as anyone but the agent it answers for. Record building: fields populate on screen and save mid-call, free text is matched to master-data catalogs as structured links, unmatched detail is preserved in notes and flagged for human verification, and returning callers enrich the existing record rather than duplicating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Takeover is seamless in three senses: the agent watches the live transcript and can take over mid-sentence, the customer experiences one continuous call, and one record spans both halves so QA and compliance run across the whole conversation. Four guardrails hold throughout: mandatory disclosure, facts-not-advice, no sensitive identifiers, and off-means-off. Then the deliberate scope boundary — no outbound AI calling, no AI recommendations; the AI gathers and prepares, the licensed human advises and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split: the business edits the playbook, voice, greeting, and capability switches self-service, effective on the next call. Compliance guardrails, disclosure, identity injection, and audit stay locked server-side and cannot be edited away. And the capability reports into the same telemetry as everything else — per-call cost from logged tokens and latency, utilisation by trigger, and linear economics that project to a full workforce.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slide: this is a working build. Real inbound and outbound calls, all three pillars on one conversation, business-user governance exercised live, full audit. The screenshots come from the reference implementation — a regulated tele-sales build; the domain is configuration,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reusability argument: the platform is six domain-agnostic building blocks. Configurable rules engines, structured LLM outputs, real-time event streaming, human-in-the-loop approval, a tool-using agent framework, and audit/cost telemetry. A new vertical means new data model and rule content — the AI layer is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in three shifts: compliance risk falls because violations are caught in the moment on every call rather than in a sampled review; agents ramp faster with real-time coaching and hands-free capture; supervisors scale to effective presence on every call with AI they govern themselves. Close on the one-liner.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invitation slide. Three worked examples — financial services, retail/telecom, collections — and a fourth card for the audience: bring your rules, your playbook, your rubric; the pillars stay the same. End by asking which pillar would move the needle first in their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411480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POC · AI CAPABILITY SHOWCASE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CallCenter IQ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822960" y="2542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for customer-facing sales &amp; service operations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3561588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3429000"/>
            <a:ext cx="2167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4048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68" y="356158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429000"/>
            <a:ext cx="2624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0" y="3429000"/>
            <a:ext cx="530352" cy="530352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788" y="3561588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3429000"/>
            <a:ext cx="1755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QA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22960" y="434340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on a reference tele-sales implementation — the domain is swappable: contact centers, financial services, retail, any regulated sales or service operation.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9966960" y="1371600"/>
            <a:ext cx="1463040" cy="14630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7373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carry the risk — and nobody can see them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regulated selling and service, compliance policies restrict what can be said on a recorded line. Yet supervisors are blind to live calls, QA samples a fraction days later, and agents juggle systems mid-conversation.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33272" y="2898648"/>
            <a:ext cx="731520" cy="7315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30815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speech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3272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phrase on a recorded line is a violation — fines, license exposure, remediation. Enforcement happens live, not in a report.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9866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55898" y="289864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30815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supervision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5898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can't hear calls in progress. Problems surface after the damage is done — if at all.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2492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8524" y="2898648"/>
            <a:ext cx="731520" cy="7315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308152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Sampled, late QA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8524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reviews a tiny sample, days later. Coaching arrives long after the moment it was needed.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5118" y="2606040"/>
            <a:ext cx="2466594" cy="3154680"/>
          </a:xfrm>
          <a:prstGeom prst="roundRect">
            <a:avLst>
              <a:gd name="adj" fmla="val 4078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01150" y="2898648"/>
            <a:ext cx="731520" cy="731520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308152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776472"/>
            <a:ext cx="195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agents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01150" y="4215384"/>
            <a:ext cx="195453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juggle the conversation, forms, product lookups, and policy — all at once, mid-call.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exist to sell and serve. Nothing watches the conversation itself.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pillars, one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 on the same real-time conversation pipeline — transcript in, actions and insight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688336"/>
            <a:ext cx="822960" cy="82296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89407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27248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1088136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88136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assistant with full tool use: answers from live business data, drives the UI, drafts actions, and places calls — approval-gated, or autonomous in Auto-Pilot mode.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9704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2688336"/>
            <a:ext cx="822960" cy="82296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89407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39712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800600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 Intelligence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800600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transcription, two-layer compliance monitoring, sentiment shift detection, and proactive coaching — cost-engineered to run on every call.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02168" y="2377440"/>
            <a:ext cx="3401568" cy="3063240"/>
          </a:xfrm>
          <a:prstGeom prst="roundRect">
            <a:avLst>
              <a:gd name="adj" fmla="val 3284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513064" y="2688336"/>
            <a:ext cx="822960" cy="82296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289407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552176" y="259689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513064" y="3602736"/>
            <a:ext cx="2779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Command Center &amp; AI Governance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513064" y="4352544"/>
            <a:ext cx="27797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with instant mid-call backfill; business users edit the rules, coaching, and QA rubric — no deployment, full audit trail.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77240" y="5715000"/>
            <a:ext cx="10634472" cy="749808"/>
          </a:xfrm>
          <a:prstGeom prst="roundRect">
            <a:avLst>
              <a:gd name="adj" fmla="val 12195"/>
            </a:avLst>
          </a:prstGeom>
          <a:solidFill>
            <a:srgbClr val="E8590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91616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7150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default: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proposes, humans approve — with an opt-in Auto-Pilot mode where policy allows.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Copilot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works alongside the agent — sees the live call, uses the tools, drives the UI, and asks permission before it acts.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conversational assistant with full tool use — queries live business data and answers with rich UI cards, aware of the active call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actions — emails, record updates, notes — for one-click human approval, or executes autonomously in Auto-Pilot mode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integration: places and controls phone calls from natural language — “call John Smith”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capture: entities mentioned in conversation auto-fill forms across screens — including staged records that don't exist yet, created in one click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caller intelligence: inbound callers identified and their record opened automatically; ambiguous matches get a disambiguation flow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says “call John Smith.” The copilot finds the record, dials, and the call panel opens as it connects — then drafts the follow-up email for one-click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5070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Conversation Intelligence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 of every conversation, watched by two layers — deterministic rules for speed, AI for nuance.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7576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with speaker separation, streamed into the agent's workspace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844802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656588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compliance: instant deterministic rules (admin-configurable phrases &amp; patterns) — violating sentence highlighted inline with a corrective suggestion in under a second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1383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325624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layer catches paraphrased violations keyword rules can't — “you'd be crazy not to take this”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18287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2994660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customer sentiment with shift detection (neutral → confused → positive), surfaced to agent and supervisor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85191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3663696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coaching engine: configurable behavioral rules — talk-ratio imbalance, long monologues, missed discovery questions — nudge before the mistake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520946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74920" y="4332732"/>
            <a:ext cx="6629400" cy="669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Cost-engineered &amp; resilient: one merged structured LLM call per 15-second window covers sentiment + coaching + compliance; if the LLM drops, rules continue, the UI shows “AI degraded,” and a self-healing probe restores service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50708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070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26" name="Text 16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paraphrases a guarantee — keyword rules stay silent, but the AI layer flags it and offers a compliant rephrase. If the model drops out, rule-based monitoring never blinks.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oundRect">
            <a:avLst/>
          </a:prstGeom>
          <a:solidFill>
            <a:srgbClr val="222B36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-1371600"/>
            <a:ext cx="2468880" cy="24688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8580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097280" cy="109728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Command Center &amp; AI Governance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4480560"/>
            <a:ext cx="3154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operation on one screen — and the AI itself governed by business users, not engineers.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502920"/>
            <a:ext cx="7086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spc="1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4267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74920" y="98755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monitoring: click any active call and watch the transcript stream in real time — joining mid-call instantly backfills the full conversation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5513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179039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coaching, and sentiment events pinned to the exact lines that triggered them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84835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2593238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AI governance: business users edit compliance rules, coaching rules, and the QA scoring rubric (dimensions, weights, disclosure checklists) — effective on the next call, no deployment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651199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74920" y="3396082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AI quality scoring against the custom rubric — evidence-quoted scorecards, strengths, coaching points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45404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74920" y="4198925"/>
            <a:ext cx="6629400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auditability: every AI interaction logged with model, tokens, latency, and output</a:t>
            </a:r>
            <a:endParaRPr lang="en-US" sz="1350" dirty="0"/>
          </a:p>
        </p:txBody>
      </p:sp>
      <p:sp>
        <p:nvSpPr>
          <p:cNvPr id="20" name="Shape 12"/>
          <p:cNvSpPr/>
          <p:nvPr/>
        </p:nvSpPr>
        <p:spPr>
          <a:xfrm>
            <a:off x="4617720" y="5138928"/>
            <a:ext cx="7086600" cy="1188720"/>
          </a:xfrm>
          <a:prstGeom prst="roundRect">
            <a:avLst>
              <a:gd name="adj" fmla="val 7692"/>
            </a:avLst>
          </a:prstGeom>
          <a:solidFill>
            <a:srgbClr val="F5F7F9"/>
          </a:solidFill>
          <a:ln w="15875">
            <a:solidFill>
              <a:srgbClr val="2FA36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027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4837176" y="5440680"/>
            <a:ext cx="585216" cy="58521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5184" y="5598688"/>
            <a:ext cx="269199" cy="269199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77840" y="52943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5577840" y="5550408"/>
            <a:ext cx="5897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joins a call mid-conversation — the full transcript backfills instantly, every alert pinned to its line. Edit a rule, and the very next call obeys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612648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 · AUTOMATED INBOUND CALL HANDLING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896112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unanswered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361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inbound call is a lost opportunity that never enters the funnel. This is a capture problem, not a staffing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3401568" cy="2121408"/>
          </a:xfrm>
          <a:prstGeom prst="roundRect">
            <a:avLst>
              <a:gd name="adj" fmla="val 4741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340864"/>
            <a:ext cx="658368" cy="65836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5054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072384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nobody took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51560" y="3456432"/>
            <a:ext cx="2852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Ring-outs and after-hours calls simply vanish. The intent existed — the funnel never saw 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9704" y="2084832"/>
            <a:ext cx="3401568" cy="2121408"/>
          </a:xfrm>
          <a:prstGeom prst="roundRect">
            <a:avLst>
              <a:gd name="adj" fmla="val 4741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64024" y="2340864"/>
            <a:ext cx="658368" cy="658368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50545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4024" y="3072384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Voicemail converts poorly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64024" y="3456432"/>
            <a:ext cx="2852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callers leave one; fewer answer the return call. The channel leaks by design.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02168" y="2084832"/>
            <a:ext cx="3401568" cy="2121408"/>
          </a:xfrm>
          <a:prstGeom prst="roundRect">
            <a:avLst>
              <a:gd name="adj" fmla="val 4741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76488" y="2340864"/>
            <a:ext cx="658368" cy="658368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0545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3072384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arrive cold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476488" y="3456432"/>
            <a:ext cx="28529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someone calls back, the moment has passed — the intent has cooled or gone elsewhere.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77240" y="43708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ANSWERS WHEN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77240" y="4718304"/>
            <a:ext cx="3401568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85546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35608" y="4718304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hands it over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89704" y="4718304"/>
            <a:ext cx="3401568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855464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48072" y="4718304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timeout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202168" y="4718304"/>
            <a:ext cx="3401568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855464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860536" y="4718304"/>
            <a:ext cx="2624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available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777240" y="5532120"/>
            <a:ext cx="10634472" cy="1005840"/>
          </a:xfrm>
          <a:prstGeom prst="roundRect">
            <a:avLst>
              <a:gd name="adj" fmla="val 9091"/>
            </a:avLst>
          </a:prstGeom>
          <a:solidFill>
            <a:srgbClr val="E8590C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585216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645920" y="553212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AI that answers calls staffed agents can't take — holds a real conversation, does live system lookups, builds the customer record as it talks, and hands to a human at any moment. The business, not engineering, controls how it behaves.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the call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conversation, seven steps — all of it visible to a supervising human in real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0229" y="256032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05" y="271119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stating it's automated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59290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14738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387890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17727" y="2560320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03" y="271119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1314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397034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callers by number — confirms, doesn't re-interrogate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96789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852237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925389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255226" y="2560320"/>
            <a:ext cx="603504" cy="60350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102" y="271119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88813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934533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the intake naturally, not as a form read aloud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234287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389735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462887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792724" y="2560320"/>
            <a:ext cx="603504" cy="60350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711196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26311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72031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availability, locations &amp; eligibility from real systems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771785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6927233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7000385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330222" y="2560320"/>
            <a:ext cx="603504" cy="60350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1098" y="2711196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63809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7009529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record — saved mid-call, not after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309283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8464731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8537883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867721" y="2560320"/>
            <a:ext cx="603504" cy="603504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8597" y="2711196"/>
            <a:ext cx="301752" cy="30175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501307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250" dirty="0"/>
          </a:p>
        </p:txBody>
      </p:sp>
      <p:sp>
        <p:nvSpPr>
          <p:cNvPr id="45" name="Text 37"/>
          <p:cNvSpPr/>
          <p:nvPr/>
        </p:nvSpPr>
        <p:spPr>
          <a:xfrm>
            <a:off x="8547027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callback while the caller is still on the line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846782" y="2926080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47" name="Shape 39"/>
          <p:cNvSpPr/>
          <p:nvPr/>
        </p:nvSpPr>
        <p:spPr>
          <a:xfrm>
            <a:off x="10002230" y="2121408"/>
            <a:ext cx="1409482" cy="2606040"/>
          </a:xfrm>
          <a:prstGeom prst="roundRect">
            <a:avLst>
              <a:gd name="adj" fmla="val 713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10075382" y="2194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9" name="Shape 41"/>
          <p:cNvSpPr/>
          <p:nvPr/>
        </p:nvSpPr>
        <p:spPr>
          <a:xfrm>
            <a:off x="10405219" y="2560320"/>
            <a:ext cx="603504" cy="603504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6095" y="2711196"/>
            <a:ext cx="301752" cy="30175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10038806" y="3291840"/>
            <a:ext cx="133633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</a:t>
            </a:r>
            <a:endParaRPr lang="en-US" sz="1250" dirty="0"/>
          </a:p>
        </p:txBody>
      </p:sp>
      <p:sp>
        <p:nvSpPr>
          <p:cNvPr id="52" name="Text 43"/>
          <p:cNvSpPr/>
          <p:nvPr/>
        </p:nvSpPr>
        <p:spPr>
          <a:xfrm>
            <a:off x="10084526" y="3657600"/>
            <a:ext cx="124489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cleanly to a human — at any moment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777240" y="4956048"/>
            <a:ext cx="5166360" cy="1481328"/>
          </a:xfrm>
          <a:prstGeom prst="roundRect">
            <a:avLst>
              <a:gd name="adj" fmla="val 6173"/>
            </a:avLst>
          </a:prstGeom>
          <a:solidFill>
            <a:srgbClr val="F5F7F9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033272" y="5193792"/>
            <a:ext cx="512064" cy="51206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1529" y="5332049"/>
            <a:ext cx="235549" cy="235549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691640" y="519379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experiences a conversation</a:t>
            </a:r>
            <a:endParaRPr lang="en-US" sz="1450" dirty="0"/>
          </a:p>
        </p:txBody>
      </p:sp>
      <p:sp>
        <p:nvSpPr>
          <p:cNvPr id="57" name="Text 47"/>
          <p:cNvSpPr/>
          <p:nvPr/>
        </p:nvSpPr>
        <p:spPr>
          <a:xfrm>
            <a:off x="1051560" y="579729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with a saved customer record, a booked callback, and a full transcript ready for QA.</a:t>
            </a:r>
            <a:endParaRPr lang="en-US" sz="1200" dirty="0"/>
          </a:p>
        </p:txBody>
      </p:sp>
      <p:sp>
        <p:nvSpPr>
          <p:cNvPr id="58" name="Shape 48"/>
          <p:cNvSpPr/>
          <p:nvPr/>
        </p:nvSpPr>
        <p:spPr>
          <a:xfrm>
            <a:off x="6254496" y="4956048"/>
            <a:ext cx="5157216" cy="1481328"/>
          </a:xfrm>
          <a:prstGeom prst="roundRect">
            <a:avLst>
              <a:gd name="adj" fmla="val 6173"/>
            </a:avLst>
          </a:prstGeom>
          <a:solidFill>
            <a:srgbClr val="222B36"/>
          </a:solidFill>
          <a:ln/>
        </p:spPr>
      </p:sp>
      <p:sp>
        <p:nvSpPr>
          <p:cNvPr id="59" name="Shape 49"/>
          <p:cNvSpPr/>
          <p:nvPr/>
        </p:nvSpPr>
        <p:spPr>
          <a:xfrm>
            <a:off x="6510528" y="5193792"/>
            <a:ext cx="512064" cy="51206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785" y="5332049"/>
            <a:ext cx="235549" cy="235549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7168896" y="5193792"/>
            <a:ext cx="4059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live voice — no dead air</a:t>
            </a:r>
            <a:endParaRPr lang="en-US" sz="1450" dirty="0"/>
          </a:p>
        </p:txBody>
      </p:sp>
      <p:sp>
        <p:nvSpPr>
          <p:cNvPr id="62" name="Text 51"/>
          <p:cNvSpPr/>
          <p:nvPr/>
        </p:nvSpPr>
        <p:spPr>
          <a:xfrm>
            <a:off x="6528816" y="5797296"/>
            <a:ext cx="4700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call is time-capped: a slow backend never leaves the caller in silence. Details that surface late are reconciled onto the saved record afterwards.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live systems — and the record builds itself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AI calls the same governed tools as the chat copilot, and writes what it learns straight into the customer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395728"/>
            <a:ext cx="713232" cy="71323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574036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 data, not model knowledge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33272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locations and eligibility come from live lookups — the model never guesses, and says so when a lookup returns nothing.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99866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55898" y="2395728"/>
            <a:ext cx="713232" cy="713232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206" y="2574036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injected server-side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55898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acts only as the agent it answers for. Identity is attached by the server, never chosen by the model.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22492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8524" y="2395728"/>
            <a:ext cx="713232" cy="713232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574036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populate live, saved mid-call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78524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fills on screen as the caller speaks; mentions are matched to master-data catalogs as structured links, not prose.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45118" y="2121408"/>
            <a:ext cx="2466594" cy="269748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01150" y="2395728"/>
            <a:ext cx="713232" cy="713232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458" y="2574036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218688"/>
            <a:ext cx="19545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said is discarded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01150" y="3822192"/>
            <a:ext cx="195453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detail goes to notes and is flagged for human verification. A returning caller enriches the existing record, never duplicates it.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10312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521208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67004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90288" y="5074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2"/>
          <p:cNvSpPr/>
          <p:nvPr/>
        </p:nvSpPr>
        <p:spPr>
          <a:xfrm>
            <a:off x="498348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8" y="521208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5040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tool layer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470648" y="5074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25"/>
          <p:cNvSpPr/>
          <p:nvPr/>
        </p:nvSpPr>
        <p:spPr>
          <a:xfrm>
            <a:off x="7863840" y="507492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2C3644"/>
          </a:solidFill>
          <a:ln w="12700">
            <a:solidFill>
              <a:srgbClr val="F98E54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08" y="5212080"/>
            <a:ext cx="292608" cy="29260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430768" y="507492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hang-up the conversation is already a clean, structured, deduplicated record — same tools, same guardrails, same audit trail as the chat assistant.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takeover, guardrails that don't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4679168" cy="713232"/>
          </a:xfrm>
          <a:prstGeom prst="roundRect">
            <a:avLst>
              <a:gd name="adj" fmla="val 11538"/>
            </a:avLst>
          </a:prstGeom>
          <a:solidFill>
            <a:srgbClr val="E8590C"/>
          </a:solidFill>
          <a:ln/>
        </p:spPr>
      </p:sp>
      <p:sp>
        <p:nvSpPr>
          <p:cNvPr id="5" name="Shape 3"/>
          <p:cNvSpPr/>
          <p:nvPr/>
        </p:nvSpPr>
        <p:spPr>
          <a:xfrm>
            <a:off x="5615925" y="1627632"/>
            <a:ext cx="5795787" cy="713232"/>
          </a:xfrm>
          <a:prstGeom prst="roundRect">
            <a:avLst>
              <a:gd name="adj" fmla="val 11538"/>
            </a:avLst>
          </a:prstGeom>
          <a:solidFill>
            <a:srgbClr val="50708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27632"/>
            <a:ext cx="43134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intake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0245" y="1627632"/>
            <a:ext cx="543002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takes over — mid-sentence if needed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86584"/>
            <a:ext cx="10634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call  ·  one record  ·  one QA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transcript streams to the agent's screen while the AI talks — takeover is one click. The customer hears no transfer and repeats nothing.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4984" y="3438144"/>
            <a:ext cx="548640" cy="5486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357530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55064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discloses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4984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opens by stating it's automated — non-negotiable, not editable.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99866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37610" y="3438144"/>
            <a:ext cx="548640" cy="54864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357530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77690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never advice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737610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what the systems say — no recommendations, no persuasion, no selling.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22492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60236" y="3438144"/>
            <a:ext cx="548640" cy="54864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357530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00316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identifiers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60236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requested — by design, not by instruction.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945118" y="3218688"/>
            <a:ext cx="2466594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82862" y="3438144"/>
            <a:ext cx="548640" cy="5486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0022" y="357530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22942" y="3438144"/>
            <a:ext cx="13693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means off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82862" y="4096512"/>
            <a:ext cx="199110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disabled capability is withheld from the AI, not discouraged in a prompt.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77240" y="5230368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222B3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641848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45920" y="5230368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scope: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AI calling, and AI-made recommendations of any kind. The AI gathers and prepares — the licensed human advises and closes. In a regulated room, that boundary is a feature.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the business, measured like everything else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77240" y="1609344"/>
            <a:ext cx="5166360" cy="2852928"/>
          </a:xfrm>
          <a:prstGeom prst="roundRect">
            <a:avLst>
              <a:gd name="adj" fmla="val 3526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1828800"/>
            <a:ext cx="566928" cy="566928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28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Business-editable, self-service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66090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968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playbook — what's asked, and in what order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11810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054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greeting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57530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5112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switches — turn any function on or off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03250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600" y="3968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on the very next call — no deployment, no ticket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6254496" y="1609344"/>
            <a:ext cx="5166360" cy="2852928"/>
          </a:xfrm>
          <a:prstGeom prst="roundRect">
            <a:avLst>
              <a:gd name="adj" fmla="val 3526"/>
            </a:avLst>
          </a:prstGeom>
          <a:solidFill>
            <a:srgbClr val="222B36"/>
          </a:solidFill>
          <a:ln/>
        </p:spPr>
      </p:sp>
      <p:sp>
        <p:nvSpPr>
          <p:cNvPr id="17" name="Shape 10"/>
          <p:cNvSpPr/>
          <p:nvPr/>
        </p:nvSpPr>
        <p:spPr>
          <a:xfrm>
            <a:off x="6510528" y="1828800"/>
            <a:ext cx="566928" cy="566928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1970532"/>
            <a:ext cx="283464" cy="28346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214616" y="1828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server-side</a:t>
            </a:r>
            <a:endParaRPr lang="en-US" sz="16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2660904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48856" y="25968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guardrails cannot be edited away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3118104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48856" y="30540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Automated-call disclosure is not optional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528" y="3575304"/>
            <a:ext cx="237744" cy="23774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48856" y="35112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injection and tool permissions enforced by the server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8" y="4032504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48856" y="3968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audited — behaviour changes included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777240" y="4736592"/>
            <a:ext cx="3401568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9" name="Shape 17"/>
          <p:cNvSpPr/>
          <p:nvPr/>
        </p:nvSpPr>
        <p:spPr>
          <a:xfrm>
            <a:off x="1014984" y="4919472"/>
            <a:ext cx="530352" cy="530352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572" y="5052060"/>
            <a:ext cx="265176" cy="265176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1636776" y="4919472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cost, tracked</a:t>
            </a:r>
            <a:endParaRPr lang="en-US" sz="1400" dirty="0"/>
          </a:p>
        </p:txBody>
      </p:sp>
      <p:sp>
        <p:nvSpPr>
          <p:cNvPr id="32" name="Text 19"/>
          <p:cNvSpPr/>
          <p:nvPr/>
        </p:nvSpPr>
        <p:spPr>
          <a:xfrm>
            <a:off x="1014984" y="55229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latency logged on every interaction — cost per handled call is a report, not an estimate.</a:t>
            </a:r>
            <a:endParaRPr lang="en-US" sz="1100" dirty="0"/>
          </a:p>
        </p:txBody>
      </p:sp>
      <p:sp>
        <p:nvSpPr>
          <p:cNvPr id="33" name="Shape 20"/>
          <p:cNvSpPr/>
          <p:nvPr/>
        </p:nvSpPr>
        <p:spPr>
          <a:xfrm>
            <a:off x="4489704" y="4736592"/>
            <a:ext cx="3401568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4" name="Shape 21"/>
          <p:cNvSpPr/>
          <p:nvPr/>
        </p:nvSpPr>
        <p:spPr>
          <a:xfrm>
            <a:off x="4727448" y="4919472"/>
            <a:ext cx="530352" cy="530352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0036" y="5052060"/>
            <a:ext cx="265176" cy="26517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349240" y="4919472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Utilisation, visible</a:t>
            </a:r>
            <a:endParaRPr lang="en-US" sz="1400" dirty="0"/>
          </a:p>
        </p:txBody>
      </p:sp>
      <p:sp>
        <p:nvSpPr>
          <p:cNvPr id="37" name="Text 23"/>
          <p:cNvSpPr/>
          <p:nvPr/>
        </p:nvSpPr>
        <p:spPr>
          <a:xfrm>
            <a:off x="4727448" y="55229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calls the AI answered, when, and on which trigger.</a:t>
            </a:r>
            <a:endParaRPr lang="en-US" sz="1100" dirty="0"/>
          </a:p>
        </p:txBody>
      </p:sp>
      <p:sp>
        <p:nvSpPr>
          <p:cNvPr id="38" name="Shape 24"/>
          <p:cNvSpPr/>
          <p:nvPr/>
        </p:nvSpPr>
        <p:spPr>
          <a:xfrm>
            <a:off x="8202168" y="4736592"/>
            <a:ext cx="3401568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9" name="Shape 25"/>
          <p:cNvSpPr/>
          <p:nvPr/>
        </p:nvSpPr>
        <p:spPr>
          <a:xfrm>
            <a:off x="8439912" y="4919472"/>
            <a:ext cx="530352" cy="530352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2500" y="5052060"/>
            <a:ext cx="265176" cy="265176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61704" y="4919472"/>
            <a:ext cx="2350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Projectable to a workforce</a:t>
            </a:r>
            <a:endParaRPr lang="en-US" sz="1400" dirty="0"/>
          </a:p>
        </p:txBody>
      </p:sp>
      <p:sp>
        <p:nvSpPr>
          <p:cNvPr id="42" name="Text 27"/>
          <p:cNvSpPr/>
          <p:nvPr/>
        </p:nvSpPr>
        <p:spPr>
          <a:xfrm>
            <a:off x="8439912" y="55229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economics scale linearly — model the cost before committing.</a:t>
            </a:r>
            <a:endParaRPr lang="en-US" sz="1100" dirty="0"/>
          </a:p>
        </p:txBody>
      </p:sp>
      <p:sp>
        <p:nvSpPr>
          <p:cNvPr id="43" name="Text 28"/>
          <p:cNvSpPr/>
          <p:nvPr/>
        </p:nvSpPr>
        <p:spPr>
          <a:xfrm>
            <a:off x="777240" y="61447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agility with policy control — and the same audit spine as the rest of the platform.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build, not a mockup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65376"/>
            <a:ext cx="548640" cy="54864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025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01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real phone calls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1214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and inbound, with real-time transcription streaming to agent and supervisor screens simultaneously.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2889504"/>
            <a:ext cx="548640" cy="54864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266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254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pillars, one conversation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actions, compliance flags, sentiment, coaching, and scoring all run on the same call, end to end.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3913632"/>
            <a:ext cx="548640" cy="54864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849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business users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16966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the QA rubric are edited from admin screens by business users — enforced on the very next call.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749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8737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08760" y="5193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interaction logged with model, tokens, latency, and output.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from the reference implementation — a regulated tele-sales build. The domain (data model, rules, vocabulary) is configuration, not code.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0" y="1691640"/>
            <a:ext cx="2377440" cy="4069080"/>
          </a:xfrm>
          <a:prstGeom prst="roundRect">
            <a:avLst>
              <a:gd name="adj" fmla="val 4231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pic>
        <p:nvPicPr>
          <p:cNvPr id="22" name="Image 4" descr="/root/deck/ss_appro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856232"/>
            <a:ext cx="2011680" cy="30998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3796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drafts an email — human approval required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052560" y="1691640"/>
            <a:ext cx="2377440" cy="1965960"/>
          </a:xfrm>
          <a:prstGeom prst="roundRect">
            <a:avLst>
              <a:gd name="adj" fmla="val 5116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pic>
        <p:nvPicPr>
          <p:cNvPr id="25" name="Image 5" descr="/root/deck/ss_navig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7152" y="1874520"/>
            <a:ext cx="2048256" cy="104241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125712" y="2999232"/>
            <a:ext cx="22311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navigates the app from chat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9052560" y="3931920"/>
            <a:ext cx="2377440" cy="1828800"/>
          </a:xfrm>
          <a:prstGeom prst="roundRect">
            <a:avLst>
              <a:gd name="adj" fmla="val 5500"/>
            </a:avLst>
          </a:prstGeom>
          <a:solidFill>
            <a:srgbClr val="222B36"/>
          </a:solidFill>
          <a:ln/>
          <a:effectLst>
            <a:outerShdw sx="100000" sy="100000" kx="0" ky="0" algn="bl" rotWithShape="0" blurRad="101600" dist="38100" dir="5400000">
              <a:srgbClr val="1A2027">
                <a:alpha val="14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923544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spc="150" kern="0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9235440" y="461772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in this deck is running in a working build today.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22B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domain-agnostic blocks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103120"/>
            <a:ext cx="676656" cy="676656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227228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37944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rules engines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phrases &amp; patterns, coaching behaviors, QA rubric — admin-edited, hot-reloaded, versioned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89704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5736" y="2103120"/>
            <a:ext cx="676656" cy="676656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227228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LLM outputs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64024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schema-validated responses; merged calls per window — predictable cost and latency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02168" y="182880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03120"/>
            <a:ext cx="676656" cy="676656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364" y="227228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62872" y="210312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76488" y="288950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alerts, sentiment, coaching pushed live to every screen that needs them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77240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33272" y="4114800"/>
            <a:ext cx="676656" cy="676656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436" y="428396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37944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patterns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051560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approve → execute, with opt-in Auto-Pilot; every action attributable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89704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45736" y="4114800"/>
            <a:ext cx="676656" cy="676656"/>
          </a:xfrm>
          <a:prstGeom prst="ellipse">
            <a:avLst/>
          </a:prstGeom>
          <a:solidFill>
            <a:srgbClr val="3C4857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428396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0408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 framework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764024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tools in the reference build — swap the toolset to swap the domain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02168" y="3840480"/>
            <a:ext cx="3401568" cy="1737360"/>
          </a:xfrm>
          <a:prstGeom prst="roundRect">
            <a:avLst>
              <a:gd name="adj" fmla="val 5789"/>
            </a:avLst>
          </a:prstGeom>
          <a:solidFill>
            <a:srgbClr val="F5F7F9"/>
          </a:solidFill>
          <a:ln w="12700">
            <a:solidFill>
              <a:srgbClr val="E0E5EA"/>
            </a:solidFill>
            <a:prstDash val="solid"/>
          </a:ln>
          <a:effectLst>
            <a:outerShdw sx="100000" sy="100000" kx="0" ky="0" algn="bl" rotWithShape="0" blurRad="152400" dist="38100" dir="5400000">
              <a:srgbClr val="1A2027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114800"/>
            <a:ext cx="676656" cy="676656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64" y="428396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62872" y="4114800"/>
            <a:ext cx="216712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1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cost telemetry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76488" y="4901184"/>
            <a:ext cx="2852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tokens, latency, and output logged per interaction; live stats endpoint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77240" y="5852160"/>
            <a:ext cx="10634472" cy="658368"/>
          </a:xfrm>
          <a:prstGeom prst="roundRect">
            <a:avLst>
              <a:gd name="adj" fmla="val 13889"/>
            </a:avLst>
          </a:prstGeom>
          <a:solidFill>
            <a:srgbClr val="222B36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852160"/>
            <a:ext cx="10634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the vertical means swapping the data model and the rule content — not rebuilding the AI.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2C36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the operation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shifts, all of them measurable from the audit and cost telemetry the platform already produces.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825496"/>
            <a:ext cx="786384" cy="786384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302209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7581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 down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97280" y="4270248"/>
            <a:ext cx="2852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are caught in the moment, on every call — not in a sampled review weeks later. The rules that catch them are owned by the business.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35424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9744" y="2825496"/>
            <a:ext cx="786384" cy="786384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3022092"/>
            <a:ext cx="393192" cy="3931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09744" y="37581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ramp faster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809744" y="4270248"/>
            <a:ext cx="2852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coaching and hands-free data capture from day one. New agents get the guidance a supervisor can't give on every call at once.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47888" y="2514600"/>
            <a:ext cx="3401568" cy="3017520"/>
          </a:xfrm>
          <a:prstGeom prst="roundRect">
            <a:avLst>
              <a:gd name="adj" fmla="val 3333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522208" y="2825496"/>
            <a:ext cx="786384" cy="786384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3022092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22208" y="3758184"/>
            <a:ext cx="2852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scale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8522208" y="4270248"/>
            <a:ext cx="285292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effectively present on every live call, with AI they govern themselves — coverage without adding headcount.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" y="5806440"/>
            <a:ext cx="10561320" cy="713232"/>
          </a:xfrm>
          <a:prstGeom prst="roundRect">
            <a:avLst>
              <a:gd name="adj" fmla="val 12821"/>
            </a:avLst>
          </a:prstGeom>
          <a:solidFill>
            <a:srgbClr val="E8590C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5806440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conversation coached, supervised, and reviewed — without adding headcount.”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IT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looks like in your domain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64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pillars — different rules, vocabulary, and data model. Three examples and an invitation: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624328"/>
            <a:ext cx="731520" cy="731520"/>
          </a:xfrm>
          <a:prstGeom prst="ellipse">
            <a:avLst/>
          </a:prstGeom>
          <a:solidFill>
            <a:srgbClr val="50708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8072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33272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&amp; disclosure rules enforced live · KYC details captured mid-call · scoring against your regulatory rubric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99866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55898" y="2624328"/>
            <a:ext cx="731520" cy="731520"/>
          </a:xfrm>
          <a:prstGeom prst="ellipse">
            <a:avLst/>
          </a:prstGeom>
          <a:solidFill>
            <a:srgbClr val="2FA36B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778" y="28072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55898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telecom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755898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claims compliance · churn-save coaching nudges · order and account details auto-captured into the CRM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22492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12700">
            <a:solidFill>
              <a:srgbClr val="3C48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8524" y="2624328"/>
            <a:ext cx="731520" cy="731520"/>
          </a:xfrm>
          <a:prstGeom prst="ellipse">
            <a:avLst/>
          </a:prstGeom>
          <a:solidFill>
            <a:srgbClr val="F2A541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28072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8524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outreach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478524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Contact-practice rules enforced in real time · required-disclosure checklists · dispute and hardship detection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45118" y="2331720"/>
            <a:ext cx="2466594" cy="3200400"/>
          </a:xfrm>
          <a:prstGeom prst="roundRect">
            <a:avLst>
              <a:gd name="adj" fmla="val 4078"/>
            </a:avLst>
          </a:prstGeom>
          <a:solidFill>
            <a:srgbClr val="2C3644"/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201150" y="2624328"/>
            <a:ext cx="731520" cy="731520"/>
          </a:xfrm>
          <a:prstGeom prst="ellipse">
            <a:avLst/>
          </a:prstGeom>
          <a:solidFill>
            <a:srgbClr val="E8590C"/>
          </a:solidFill>
          <a:ln/>
          <a:effectLst>
            <a:outerShdw sx="100000" sy="100000" kx="0" ky="0" algn="bl" rotWithShape="0" blurRad="127000" dist="38100" dir="5400000">
              <a:srgbClr val="1A2027">
                <a:alpha val="22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4030" y="2807208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01150" y="3502152"/>
            <a:ext cx="19545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domain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01150" y="3977640"/>
            <a:ext cx="195453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compliance policies, your coaching playbook, your QA rubric — the three pillars stay the same.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98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pillar would move the needle first in your operation?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CallCenter IQ — AI Capabilities for Customer-Facing Sales &amp; Service</dc:title>
  <dc:subject>PptxGenJS Presentation</dc:subject>
  <dc:creator>Adhithya Rubarajan</dc:creator>
  <cp:lastModifiedBy>Adhithya Rubarajan</cp:lastModifiedBy>
  <cp:revision>1</cp:revision>
  <dcterms:created xsi:type="dcterms:W3CDTF">2026-07-29T05:29:17Z</dcterms:created>
  <dcterms:modified xsi:type="dcterms:W3CDTF">2026-07-29T05:29:17Z</dcterms:modified>
</cp:coreProperties>
</file>