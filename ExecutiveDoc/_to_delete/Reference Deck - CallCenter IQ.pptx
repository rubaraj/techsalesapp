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1" r:id="rId2"/>
  </p:sldMasterIdLst>
  <p:notesMasterIdLst>
    <p:notesMasterId r:id="rId10"/>
  </p:notesMasterIdLst>
  <p:sldIdLst>
    <p:sldId id="2147474090" r:id="rId3"/>
    <p:sldId id="257" r:id="rId4"/>
    <p:sldId id="259" r:id="rId5"/>
    <p:sldId id="260" r:id="rId6"/>
    <p:sldId id="262" r:id="rId7"/>
    <p:sldId id="263"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1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4CC805-E335-4D58-8E28-345773987620}" v="8" dt="2026-08-12T10:25:20.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Chopra" userId="ae75b830-3825-4053-b001-31c1e484de6e" providerId="ADAL" clId="{07E23E91-0C82-4FE9-B4F0-00D6CE322762}"/>
    <pc:docChg chg="custSel addSld delSld modSld modMainMaster">
      <pc:chgData name="Vinayak Chopra" userId="ae75b830-3825-4053-b001-31c1e484de6e" providerId="ADAL" clId="{07E23E91-0C82-4FE9-B4F0-00D6CE322762}" dt="2026-08-12T13:29:21.713" v="104" actId="20577"/>
      <pc:docMkLst>
        <pc:docMk/>
      </pc:docMkLst>
      <pc:sldChg chg="del">
        <pc:chgData name="Vinayak Chopra" userId="ae75b830-3825-4053-b001-31c1e484de6e" providerId="ADAL" clId="{07E23E91-0C82-4FE9-B4F0-00D6CE322762}" dt="2026-08-12T10:06:43.806" v="30" actId="47"/>
        <pc:sldMkLst>
          <pc:docMk/>
          <pc:sldMk cId="0" sldId="256"/>
        </pc:sldMkLst>
      </pc:sldChg>
      <pc:sldChg chg="delSp modSp mod">
        <pc:chgData name="Vinayak Chopra" userId="ae75b830-3825-4053-b001-31c1e484de6e" providerId="ADAL" clId="{07E23E91-0C82-4FE9-B4F0-00D6CE322762}" dt="2026-08-12T13:29:21.713" v="104" actId="20577"/>
        <pc:sldMkLst>
          <pc:docMk/>
          <pc:sldMk cId="0" sldId="257"/>
        </pc:sldMkLst>
        <pc:spChg chg="mod">
          <ac:chgData name="Vinayak Chopra" userId="ae75b830-3825-4053-b001-31c1e484de6e" providerId="ADAL" clId="{07E23E91-0C82-4FE9-B4F0-00D6CE322762}" dt="2026-08-12T13:29:21.713" v="104" actId="20577"/>
          <ac:spMkLst>
            <pc:docMk/>
            <pc:sldMk cId="0" sldId="257"/>
            <ac:spMk id="9" creationId="{00000000-0000-0000-0000-000000000000}"/>
          </ac:spMkLst>
        </pc:spChg>
        <pc:spChg chg="del">
          <ac:chgData name="Vinayak Chopra" userId="ae75b830-3825-4053-b001-31c1e484de6e" providerId="ADAL" clId="{07E23E91-0C82-4FE9-B4F0-00D6CE322762}" dt="2026-08-12T10:07:38.355" v="54" actId="478"/>
          <ac:spMkLst>
            <pc:docMk/>
            <pc:sldMk cId="0" sldId="257"/>
            <ac:spMk id="14" creationId="{00000000-0000-0000-0000-000000000000}"/>
          </ac:spMkLst>
        </pc:spChg>
      </pc:sldChg>
      <pc:sldChg chg="delSp del mod modShow">
        <pc:chgData name="Vinayak Chopra" userId="ae75b830-3825-4053-b001-31c1e484de6e" providerId="ADAL" clId="{07E23E91-0C82-4FE9-B4F0-00D6CE322762}" dt="2026-08-12T11:27:30.020" v="69" actId="2696"/>
        <pc:sldMkLst>
          <pc:docMk/>
          <pc:sldMk cId="0" sldId="258"/>
        </pc:sldMkLst>
        <pc:spChg chg="del">
          <ac:chgData name="Vinayak Chopra" userId="ae75b830-3825-4053-b001-31c1e484de6e" providerId="ADAL" clId="{07E23E91-0C82-4FE9-B4F0-00D6CE322762}" dt="2026-08-12T10:07:53.507" v="56" actId="478"/>
          <ac:spMkLst>
            <pc:docMk/>
            <pc:sldMk cId="0" sldId="258"/>
            <ac:spMk id="16" creationId="{00000000-0000-0000-0000-000000000000}"/>
          </ac:spMkLst>
        </pc:spChg>
      </pc:sldChg>
      <pc:sldChg chg="delSp modSp mod">
        <pc:chgData name="Vinayak Chopra" userId="ae75b830-3825-4053-b001-31c1e484de6e" providerId="ADAL" clId="{07E23E91-0C82-4FE9-B4F0-00D6CE322762}" dt="2026-08-12T11:27:35.882" v="71" actId="20577"/>
        <pc:sldMkLst>
          <pc:docMk/>
          <pc:sldMk cId="0" sldId="259"/>
        </pc:sldMkLst>
        <pc:spChg chg="mod">
          <ac:chgData name="Vinayak Chopra" userId="ae75b830-3825-4053-b001-31c1e484de6e" providerId="ADAL" clId="{07E23E91-0C82-4FE9-B4F0-00D6CE322762}" dt="2026-08-12T11:27:35.882" v="71" actId="20577"/>
          <ac:spMkLst>
            <pc:docMk/>
            <pc:sldMk cId="0" sldId="259"/>
            <ac:spMk id="2" creationId="{00000000-0000-0000-0000-000000000000}"/>
          </ac:spMkLst>
        </pc:spChg>
        <pc:spChg chg="del">
          <ac:chgData name="Vinayak Chopra" userId="ae75b830-3825-4053-b001-31c1e484de6e" providerId="ADAL" clId="{07E23E91-0C82-4FE9-B4F0-00D6CE322762}" dt="2026-08-12T10:07:58.762" v="57" actId="478"/>
          <ac:spMkLst>
            <pc:docMk/>
            <pc:sldMk cId="0" sldId="259"/>
            <ac:spMk id="26" creationId="{00000000-0000-0000-0000-000000000000}"/>
          </ac:spMkLst>
        </pc:spChg>
      </pc:sldChg>
      <pc:sldChg chg="delSp modSp mod">
        <pc:chgData name="Vinayak Chopra" userId="ae75b830-3825-4053-b001-31c1e484de6e" providerId="ADAL" clId="{07E23E91-0C82-4FE9-B4F0-00D6CE322762}" dt="2026-08-12T11:27:39.431" v="73" actId="20577"/>
        <pc:sldMkLst>
          <pc:docMk/>
          <pc:sldMk cId="0" sldId="260"/>
        </pc:sldMkLst>
        <pc:spChg chg="mod">
          <ac:chgData name="Vinayak Chopra" userId="ae75b830-3825-4053-b001-31c1e484de6e" providerId="ADAL" clId="{07E23E91-0C82-4FE9-B4F0-00D6CE322762}" dt="2026-08-12T11:27:39.431" v="73" actId="20577"/>
          <ac:spMkLst>
            <pc:docMk/>
            <pc:sldMk cId="0" sldId="260"/>
            <ac:spMk id="2" creationId="{00000000-0000-0000-0000-000000000000}"/>
          </ac:spMkLst>
        </pc:spChg>
        <pc:spChg chg="del">
          <ac:chgData name="Vinayak Chopra" userId="ae75b830-3825-4053-b001-31c1e484de6e" providerId="ADAL" clId="{07E23E91-0C82-4FE9-B4F0-00D6CE322762}" dt="2026-08-12T10:08:07.795" v="58" actId="478"/>
          <ac:spMkLst>
            <pc:docMk/>
            <pc:sldMk cId="0" sldId="260"/>
            <ac:spMk id="18" creationId="{00000000-0000-0000-0000-000000000000}"/>
          </ac:spMkLst>
        </pc:spChg>
      </pc:sldChg>
      <pc:sldChg chg="delSp del mod modShow">
        <pc:chgData name="Vinayak Chopra" userId="ae75b830-3825-4053-b001-31c1e484de6e" providerId="ADAL" clId="{07E23E91-0C82-4FE9-B4F0-00D6CE322762}" dt="2026-08-12T11:27:26.448" v="68" actId="2696"/>
        <pc:sldMkLst>
          <pc:docMk/>
          <pc:sldMk cId="0" sldId="261"/>
        </pc:sldMkLst>
        <pc:spChg chg="del">
          <ac:chgData name="Vinayak Chopra" userId="ae75b830-3825-4053-b001-31c1e484de6e" providerId="ADAL" clId="{07E23E91-0C82-4FE9-B4F0-00D6CE322762}" dt="2026-08-12T10:08:16.783" v="59" actId="478"/>
          <ac:spMkLst>
            <pc:docMk/>
            <pc:sldMk cId="0" sldId="261"/>
            <ac:spMk id="24" creationId="{00000000-0000-0000-0000-000000000000}"/>
          </ac:spMkLst>
        </pc:spChg>
      </pc:sldChg>
      <pc:sldChg chg="delSp modSp mod">
        <pc:chgData name="Vinayak Chopra" userId="ae75b830-3825-4053-b001-31c1e484de6e" providerId="ADAL" clId="{07E23E91-0C82-4FE9-B4F0-00D6CE322762}" dt="2026-08-12T11:27:57.023" v="90" actId="20577"/>
        <pc:sldMkLst>
          <pc:docMk/>
          <pc:sldMk cId="0" sldId="262"/>
        </pc:sldMkLst>
        <pc:spChg chg="mod">
          <ac:chgData name="Vinayak Chopra" userId="ae75b830-3825-4053-b001-31c1e484de6e" providerId="ADAL" clId="{07E23E91-0C82-4FE9-B4F0-00D6CE322762}" dt="2026-08-12T11:27:57.023" v="90" actId="20577"/>
          <ac:spMkLst>
            <pc:docMk/>
            <pc:sldMk cId="0" sldId="262"/>
            <ac:spMk id="2" creationId="{00000000-0000-0000-0000-000000000000}"/>
          </ac:spMkLst>
        </pc:spChg>
        <pc:spChg chg="del">
          <ac:chgData name="Vinayak Chopra" userId="ae75b830-3825-4053-b001-31c1e484de6e" providerId="ADAL" clId="{07E23E91-0C82-4FE9-B4F0-00D6CE322762}" dt="2026-08-12T10:08:24.221" v="60" actId="478"/>
          <ac:spMkLst>
            <pc:docMk/>
            <pc:sldMk cId="0" sldId="262"/>
            <ac:spMk id="20" creationId="{00000000-0000-0000-0000-000000000000}"/>
          </ac:spMkLst>
        </pc:spChg>
      </pc:sldChg>
      <pc:sldChg chg="delSp modSp mod">
        <pc:chgData name="Vinayak Chopra" userId="ae75b830-3825-4053-b001-31c1e484de6e" providerId="ADAL" clId="{07E23E91-0C82-4FE9-B4F0-00D6CE322762}" dt="2026-08-12T11:28:19.805" v="96" actId="20577"/>
        <pc:sldMkLst>
          <pc:docMk/>
          <pc:sldMk cId="0" sldId="263"/>
        </pc:sldMkLst>
        <pc:spChg chg="mod">
          <ac:chgData name="Vinayak Chopra" userId="ae75b830-3825-4053-b001-31c1e484de6e" providerId="ADAL" clId="{07E23E91-0C82-4FE9-B4F0-00D6CE322762}" dt="2026-08-12T11:28:19.805" v="96" actId="20577"/>
          <ac:spMkLst>
            <pc:docMk/>
            <pc:sldMk cId="0" sldId="263"/>
            <ac:spMk id="2" creationId="{00000000-0000-0000-0000-000000000000}"/>
          </ac:spMkLst>
        </pc:spChg>
        <pc:spChg chg="del">
          <ac:chgData name="Vinayak Chopra" userId="ae75b830-3825-4053-b001-31c1e484de6e" providerId="ADAL" clId="{07E23E91-0C82-4FE9-B4F0-00D6CE322762}" dt="2026-08-12T10:08:38.026" v="62" actId="478"/>
          <ac:spMkLst>
            <pc:docMk/>
            <pc:sldMk cId="0" sldId="263"/>
            <ac:spMk id="16" creationId="{00000000-0000-0000-0000-000000000000}"/>
          </ac:spMkLst>
        </pc:spChg>
      </pc:sldChg>
      <pc:sldChg chg="delSp modSp mod">
        <pc:chgData name="Vinayak Chopra" userId="ae75b830-3825-4053-b001-31c1e484de6e" providerId="ADAL" clId="{07E23E91-0C82-4FE9-B4F0-00D6CE322762}" dt="2026-08-12T11:28:23.952" v="98" actId="20577"/>
        <pc:sldMkLst>
          <pc:docMk/>
          <pc:sldMk cId="0" sldId="264"/>
        </pc:sldMkLst>
        <pc:spChg chg="mod">
          <ac:chgData name="Vinayak Chopra" userId="ae75b830-3825-4053-b001-31c1e484de6e" providerId="ADAL" clId="{07E23E91-0C82-4FE9-B4F0-00D6CE322762}" dt="2026-08-12T11:28:23.952" v="98" actId="20577"/>
          <ac:spMkLst>
            <pc:docMk/>
            <pc:sldMk cId="0" sldId="264"/>
            <ac:spMk id="2" creationId="{00000000-0000-0000-0000-000000000000}"/>
          </ac:spMkLst>
        </pc:spChg>
        <pc:spChg chg="del">
          <ac:chgData name="Vinayak Chopra" userId="ae75b830-3825-4053-b001-31c1e484de6e" providerId="ADAL" clId="{07E23E91-0C82-4FE9-B4F0-00D6CE322762}" dt="2026-08-12T10:08:31.210" v="61" actId="478"/>
          <ac:spMkLst>
            <pc:docMk/>
            <pc:sldMk cId="0" sldId="264"/>
            <ac:spMk id="17" creationId="{00000000-0000-0000-0000-000000000000}"/>
          </ac:spMkLst>
        </pc:spChg>
      </pc:sldChg>
      <pc:sldChg chg="delSp del mod modShow">
        <pc:chgData name="Vinayak Chopra" userId="ae75b830-3825-4053-b001-31c1e484de6e" providerId="ADAL" clId="{07E23E91-0C82-4FE9-B4F0-00D6CE322762}" dt="2026-08-12T11:27:21.849" v="67" actId="2696"/>
        <pc:sldMkLst>
          <pc:docMk/>
          <pc:sldMk cId="0" sldId="265"/>
        </pc:sldMkLst>
        <pc:spChg chg="del">
          <ac:chgData name="Vinayak Chopra" userId="ae75b830-3825-4053-b001-31c1e484de6e" providerId="ADAL" clId="{07E23E91-0C82-4FE9-B4F0-00D6CE322762}" dt="2026-08-12T10:08:45.159" v="63" actId="478"/>
          <ac:spMkLst>
            <pc:docMk/>
            <pc:sldMk cId="0" sldId="265"/>
            <ac:spMk id="38" creationId="{00000000-0000-0000-0000-000000000000}"/>
          </ac:spMkLst>
        </pc:spChg>
      </pc:sldChg>
      <pc:sldChg chg="modSp del">
        <pc:chgData name="Vinayak Chopra" userId="ae75b830-3825-4053-b001-31c1e484de6e" providerId="ADAL" clId="{07E23E91-0C82-4FE9-B4F0-00D6CE322762}" dt="2026-08-12T10:07:40.433" v="55" actId="47"/>
        <pc:sldMkLst>
          <pc:docMk/>
          <pc:sldMk cId="3118879877" sldId="2147474089"/>
        </pc:sldMkLst>
        <pc:spChg chg="mod">
          <ac:chgData name="Vinayak Chopra" userId="ae75b830-3825-4053-b001-31c1e484de6e" providerId="ADAL" clId="{07E23E91-0C82-4FE9-B4F0-00D6CE322762}" dt="2026-08-12T10:07:11.461" v="52"/>
          <ac:spMkLst>
            <pc:docMk/>
            <pc:sldMk cId="3118879877" sldId="2147474089"/>
            <ac:spMk id="4" creationId="{48B3C534-FAED-A1BA-A35B-47B2B09ACDAE}"/>
          </ac:spMkLst>
        </pc:spChg>
      </pc:sldChg>
      <pc:sldChg chg="modSp new mod">
        <pc:chgData name="Vinayak Chopra" userId="ae75b830-3825-4053-b001-31c1e484de6e" providerId="ADAL" clId="{07E23E91-0C82-4FE9-B4F0-00D6CE322762}" dt="2026-08-12T10:06:50.530" v="51" actId="20577"/>
        <pc:sldMkLst>
          <pc:docMk/>
          <pc:sldMk cId="2226253077" sldId="2147474090"/>
        </pc:sldMkLst>
        <pc:spChg chg="mod">
          <ac:chgData name="Vinayak Chopra" userId="ae75b830-3825-4053-b001-31c1e484de6e" providerId="ADAL" clId="{07E23E91-0C82-4FE9-B4F0-00D6CE322762}" dt="2026-08-12T10:06:50.530" v="51" actId="20577"/>
          <ac:spMkLst>
            <pc:docMk/>
            <pc:sldMk cId="2226253077" sldId="2147474090"/>
            <ac:spMk id="2" creationId="{B164B619-41E6-3EC5-BED3-4E431A370388}"/>
          </ac:spMkLst>
        </pc:spChg>
        <pc:spChg chg="mod">
          <ac:chgData name="Vinayak Chopra" userId="ae75b830-3825-4053-b001-31c1e484de6e" providerId="ADAL" clId="{07E23E91-0C82-4FE9-B4F0-00D6CE322762}" dt="2026-08-12T10:06:34.369" v="29" actId="20577"/>
          <ac:spMkLst>
            <pc:docMk/>
            <pc:sldMk cId="2226253077" sldId="2147474090"/>
            <ac:spMk id="3" creationId="{E9188A95-265D-6486-662A-193FF82B051E}"/>
          </ac:spMkLst>
        </pc:spChg>
      </pc:sldChg>
      <pc:sldMasterChg chg="modSldLayout">
        <pc:chgData name="Vinayak Chopra" userId="ae75b830-3825-4053-b001-31c1e484de6e" providerId="ADAL" clId="{07E23E91-0C82-4FE9-B4F0-00D6CE322762}" dt="2026-08-12T10:07:24.603" v="53" actId="22"/>
        <pc:sldMasterMkLst>
          <pc:docMk/>
          <pc:sldMasterMk cId="4062608439" sldId="2147483681"/>
        </pc:sldMasterMkLst>
        <pc:sldLayoutChg chg="addSp mod">
          <pc:chgData name="Vinayak Chopra" userId="ae75b830-3825-4053-b001-31c1e484de6e" providerId="ADAL" clId="{07E23E91-0C82-4FE9-B4F0-00D6CE322762}" dt="2026-08-12T10:07:24.603" v="53" actId="22"/>
          <pc:sldLayoutMkLst>
            <pc:docMk/>
            <pc:sldMasterMk cId="4062608439" sldId="2147483681"/>
            <pc:sldLayoutMk cId="4043130791" sldId="2147483712"/>
          </pc:sldLayoutMkLst>
          <pc:spChg chg="add">
            <ac:chgData name="Vinayak Chopra" userId="ae75b830-3825-4053-b001-31c1e484de6e" providerId="ADAL" clId="{07E23E91-0C82-4FE9-B4F0-00D6CE322762}" dt="2026-08-12T10:07:24.603" v="53" actId="22"/>
            <ac:spMkLst>
              <pc:docMk/>
              <pc:sldMasterMk cId="4062608439" sldId="2147483681"/>
              <pc:sldLayoutMk cId="4043130791" sldId="2147483712"/>
              <ac:spMk id="5" creationId="{C4170704-99A4-6D39-B6D4-ACC22B80E6A6}"/>
            </ac:spMkLst>
          </pc:spChg>
          <pc:spChg chg="add">
            <ac:chgData name="Vinayak Chopra" userId="ae75b830-3825-4053-b001-31c1e484de6e" providerId="ADAL" clId="{07E23E91-0C82-4FE9-B4F0-00D6CE322762}" dt="2026-08-12T10:07:24.603" v="53" actId="22"/>
            <ac:spMkLst>
              <pc:docMk/>
              <pc:sldMasterMk cId="4062608439" sldId="2147483681"/>
              <pc:sldLayoutMk cId="4043130791" sldId="2147483712"/>
              <ac:spMk id="7" creationId="{0B89C1DE-9F44-FEE0-CEC9-2F039E22727D}"/>
            </ac:spMkLst>
          </pc:spChg>
          <pc:picChg chg="add">
            <ac:chgData name="Vinayak Chopra" userId="ae75b830-3825-4053-b001-31c1e484de6e" providerId="ADAL" clId="{07E23E91-0C82-4FE9-B4F0-00D6CE322762}" dt="2026-08-12T10:07:24.603" v="53" actId="22"/>
            <ac:picMkLst>
              <pc:docMk/>
              <pc:sldMasterMk cId="4062608439" sldId="2147483681"/>
              <pc:sldLayoutMk cId="4043130791" sldId="2147483712"/>
              <ac:picMk id="3" creationId="{E0AC088D-5C3F-38FC-2F05-0274CDA25FF8}"/>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345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23841095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388102093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7590883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  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76254011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10936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81164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37624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2328487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9935956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33523650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024852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726571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51077146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54845337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48924486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702511"/>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95136151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509938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585882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519653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1530276"/>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193487972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67426723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40384371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11446929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340399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8293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6}"/>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304700343"/>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6}"/>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168738129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639860"/>
            <a:ext cx="6376317" cy="182358"/>
          </a:xfrm>
        </p:spPr>
        <p:txBody>
          <a:bodyPr>
            <a:noAutofit/>
          </a:bodyPr>
          <a:lstStyle>
            <a:lvl1pPr algn="r">
              <a:defRPr sz="800"/>
            </a:lvl1pPr>
          </a:lstStyle>
          <a:p>
            <a:r>
              <a:rPr lang="en-US"/>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73631029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100802301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250185509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35440438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35567414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018554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580031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2116188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94198458"/>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4652385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0493619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099235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8682982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882113361"/>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68844469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5189913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512228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81322873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173160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713271"/>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503373"/>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98524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264141858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2218573677"/>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547814993"/>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695503537"/>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184950696"/>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904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734556920"/>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409063596"/>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6B39-7429-FECB-C856-10FBD328EB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45EA5A-4D9B-B37D-0C28-EF9CEDFB47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ABD9EA-7C74-6F64-4C57-6A986327CEF9}"/>
              </a:ext>
            </a:extLst>
          </p:cNvPr>
          <p:cNvSpPr>
            <a:spLocks noGrp="1"/>
          </p:cNvSpPr>
          <p:nvPr>
            <p:ph type="dt" sz="half" idx="10"/>
          </p:nvPr>
        </p:nvSpPr>
        <p:spPr/>
        <p:txBody>
          <a:bodyPr/>
          <a:lstStyle/>
          <a:p>
            <a:fld id="{2761D5B2-7168-4F15-A039-2A61F3B5166B}" type="datetimeFigureOut">
              <a:rPr lang="en-IN" smtClean="0"/>
              <a:t>12-08-2026</a:t>
            </a:fld>
            <a:endParaRPr lang="en-IN"/>
          </a:p>
        </p:txBody>
      </p:sp>
      <p:sp>
        <p:nvSpPr>
          <p:cNvPr id="5" name="Footer Placeholder 4">
            <a:extLst>
              <a:ext uri="{FF2B5EF4-FFF2-40B4-BE49-F238E27FC236}">
                <a16:creationId xmlns:a16="http://schemas.microsoft.com/office/drawing/2014/main" id="{7A496A33-4108-EAE0-DD74-E71ECDA53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CF3A5-A999-88AE-5B87-B6481FA3E3E7}"/>
              </a:ext>
            </a:extLst>
          </p:cNvPr>
          <p:cNvSpPr>
            <a:spLocks noGrp="1"/>
          </p:cNvSpPr>
          <p:nvPr>
            <p:ph type="sldNum" sz="quarter" idx="12"/>
          </p:nvPr>
        </p:nvSpPr>
        <p:spPr/>
        <p:txBody>
          <a:bodyPr/>
          <a:lstStyle/>
          <a:p>
            <a:fld id="{F0DA1BE7-A8B1-4AA5-8C20-D4EAC50DEC72}" type="slidenum">
              <a:rPr lang="en-IN" smtClean="0"/>
              <a:t>‹#›</a:t>
            </a:fld>
            <a:endParaRPr lang="en-IN"/>
          </a:p>
        </p:txBody>
      </p:sp>
    </p:spTree>
    <p:extLst>
      <p:ext uri="{BB962C8B-B14F-4D97-AF65-F5344CB8AC3E}">
        <p14:creationId xmlns:p14="http://schemas.microsoft.com/office/powerpoint/2010/main" val="1348559668"/>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AC088D-5C3F-38FC-2F05-0274CDA25FF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Box 4">
            <a:extLst>
              <a:ext uri="{FF2B5EF4-FFF2-40B4-BE49-F238E27FC236}">
                <a16:creationId xmlns:a16="http://schemas.microsoft.com/office/drawing/2014/main" id="{C4170704-99A4-6D39-B6D4-ACC22B80E6A6}"/>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7" name="TextBox 6">
            <a:extLst>
              <a:ext uri="{FF2B5EF4-FFF2-40B4-BE49-F238E27FC236}">
                <a16:creationId xmlns:a16="http://schemas.microsoft.com/office/drawing/2014/main" id="{0B89C1DE-9F44-FEE0-CEC9-2F039E22727D}"/>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40431307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8/12/2026</a:t>
            </a:fld>
            <a:endParaRPr lang="en-US"/>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a:t>©2026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54780300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2761D5B2-7168-4F15-A039-2A61F3B5166B}" type="datetimeFigureOut">
              <a:rPr lang="en-IN" smtClean="0"/>
              <a:t>12-08-2026</a:t>
            </a:fld>
            <a:endParaRPr lang="en-IN"/>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F0DA1BE7-A8B1-4AA5-8C20-D4EAC50DEC72}" type="slidenum">
              <a:rPr lang="en-IN" smtClean="0"/>
              <a:t>‹#›</a:t>
            </a:fld>
            <a:endParaRPr lang="en-IN"/>
          </a:p>
        </p:txBody>
      </p:sp>
    </p:spTree>
    <p:extLst>
      <p:ext uri="{BB962C8B-B14F-4D97-AF65-F5344CB8AC3E}">
        <p14:creationId xmlns:p14="http://schemas.microsoft.com/office/powerpoint/2010/main" val="406260843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B619-41E6-3EC5-BED3-4E431A370388}"/>
              </a:ext>
            </a:extLst>
          </p:cNvPr>
          <p:cNvSpPr>
            <a:spLocks noGrp="1"/>
          </p:cNvSpPr>
          <p:nvPr>
            <p:ph type="ctrTitle"/>
          </p:nvPr>
        </p:nvSpPr>
        <p:spPr/>
        <p:txBody>
          <a:bodyPr/>
          <a:lstStyle/>
          <a:p>
            <a:r>
              <a:rPr lang="en-IN"/>
              <a:t>CallCenter IQ</a:t>
            </a:r>
          </a:p>
        </p:txBody>
      </p:sp>
      <p:sp>
        <p:nvSpPr>
          <p:cNvPr id="3" name="Subtitle 2">
            <a:extLst>
              <a:ext uri="{FF2B5EF4-FFF2-40B4-BE49-F238E27FC236}">
                <a16:creationId xmlns:a16="http://schemas.microsoft.com/office/drawing/2014/main" id="{E9188A95-265D-6486-662A-193FF82B051E}"/>
              </a:ext>
            </a:extLst>
          </p:cNvPr>
          <p:cNvSpPr>
            <a:spLocks noGrp="1"/>
          </p:cNvSpPr>
          <p:nvPr>
            <p:ph type="subTitle" idx="1"/>
          </p:nvPr>
        </p:nvSpPr>
        <p:spPr/>
        <p:txBody>
          <a:bodyPr/>
          <a:lstStyle/>
          <a:p>
            <a:r>
              <a:rPr lang="en-IN"/>
              <a:t>Reference Deck  ·  Idea Title: CallCenter IQ — Agentic AI for Sales &amp; Service Conversations</a:t>
            </a:r>
          </a:p>
          <a:p>
            <a:r>
              <a:rPr lang="en-IN"/>
              <a:t>Working prototype, running today on a Medicare tele-sales reference implementation</a:t>
            </a:r>
          </a:p>
        </p:txBody>
      </p:sp>
    </p:spTree>
    <p:extLst>
      <p:ext uri="{BB962C8B-B14F-4D97-AF65-F5344CB8AC3E}">
        <p14:creationId xmlns:p14="http://schemas.microsoft.com/office/powerpoint/2010/main" val="2226253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a:solidFill>
                  <a:srgbClr val="FB4E0B"/>
                </a:solidFill>
                <a:latin typeface="Calibri" pitchFamily="34" charset="0"/>
                <a:ea typeface="Calibri" pitchFamily="34" charset="-122"/>
                <a:cs typeface="Calibri" pitchFamily="34" charset="-120"/>
              </a:rPr>
              <a:t>01  ·  THE OPPORTUNITY</a:t>
            </a:r>
            <a:endParaRPr lang="en-US" sz="120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Opportunity, Champions &amp; Core Team</a:t>
            </a:r>
            <a:endParaRPr lang="en-US" sz="2800"/>
          </a:p>
        </p:txBody>
      </p:sp>
      <p:sp>
        <p:nvSpPr>
          <p:cNvPr id="4" name="Shape 2"/>
          <p:cNvSpPr/>
          <p:nvPr/>
        </p:nvSpPr>
        <p:spPr>
          <a:xfrm>
            <a:off x="502920" y="1508760"/>
            <a:ext cx="11183112" cy="1417320"/>
          </a:xfrm>
          <a:prstGeom prst="roundRect">
            <a:avLst>
              <a:gd name="adj" fmla="val 3871"/>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685800" y="1627632"/>
            <a:ext cx="10789920" cy="320040"/>
          </a:xfrm>
          <a:prstGeom prst="rect">
            <a:avLst/>
          </a:prstGeom>
          <a:noFill/>
          <a:ln/>
        </p:spPr>
        <p:txBody>
          <a:bodyPr wrap="square" lIns="0" tIns="0" rIns="0" bIns="0" rtlCol="0" anchor="ctr"/>
          <a:lstStyle/>
          <a:p>
            <a:pPr marL="0" indent="0">
              <a:buNone/>
            </a:pPr>
            <a:r>
              <a:rPr lang="en-US" sz="1500" b="1">
                <a:solidFill>
                  <a:srgbClr val="005071"/>
                </a:solidFill>
                <a:latin typeface="Calibri Light" pitchFamily="34" charset="0"/>
                <a:ea typeface="Calibri Light" pitchFamily="34" charset="-122"/>
                <a:cs typeface="Calibri Light" pitchFamily="34" charset="-120"/>
              </a:rPr>
              <a:t>Opportunity</a:t>
            </a:r>
            <a:endParaRPr lang="en-US" sz="1500"/>
          </a:p>
        </p:txBody>
      </p:sp>
      <p:sp>
        <p:nvSpPr>
          <p:cNvPr id="6" name="Text 4"/>
          <p:cNvSpPr/>
          <p:nvPr/>
        </p:nvSpPr>
        <p:spPr>
          <a:xfrm>
            <a:off x="685800" y="1993392"/>
            <a:ext cx="10789920" cy="822960"/>
          </a:xfrm>
          <a:prstGeom prst="rect">
            <a:avLst/>
          </a:prstGeom>
          <a:noFill/>
          <a:ln/>
        </p:spPr>
        <p:txBody>
          <a:bodyPr wrap="square" lIns="0" tIns="0" rIns="0" bIns="0" rtlCol="0" anchor="t"/>
          <a:lstStyle/>
          <a:p>
            <a:pPr marL="0" indent="0">
              <a:spcAft>
                <a:spcPts val="300"/>
              </a:spcAft>
              <a:buNone/>
            </a:pPr>
            <a:r>
              <a:rPr lang="en-US" sz="1300" i="0">
                <a:solidFill>
                  <a:srgbClr val="6C727B"/>
                </a:solidFill>
                <a:latin typeface="Calibri" pitchFamily="34" charset="0"/>
                <a:ea typeface="Calibri" pitchFamily="34" charset="-122"/>
                <a:cs typeface="Calibri" pitchFamily="34" charset="-120"/>
              </a:rPr>
              <a:t>Contact centres have every tool to sell and serve — but nothing watches the conversation itself. Calls go unanswered, compliance is reviewed weeks late, QA covers a ~2% sample, and new agents ramp on live prospects. CallCenter IQ puts a real-time AI layer on every conversation: it covers the calls nobody answers, enforces compliance in the moment, coaches while the agent is still talking, and scores 100% of calls — without adding headcount.</a:t>
            </a:r>
            <a:endParaRPr lang="en-US" sz="1400"/>
          </a:p>
        </p:txBody>
      </p:sp>
      <p:sp>
        <p:nvSpPr>
          <p:cNvPr id="7" name="Shape 5"/>
          <p:cNvSpPr/>
          <p:nvPr/>
        </p:nvSpPr>
        <p:spPr>
          <a:xfrm>
            <a:off x="502920" y="3154680"/>
            <a:ext cx="5486400" cy="2971800"/>
          </a:xfrm>
          <a:prstGeom prst="roundRect">
            <a:avLst>
              <a:gd name="adj" fmla="val 1846"/>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685800" y="3273552"/>
            <a:ext cx="5120640" cy="320040"/>
          </a:xfrm>
          <a:prstGeom prst="rect">
            <a:avLst/>
          </a:prstGeom>
          <a:noFill/>
          <a:ln/>
        </p:spPr>
        <p:txBody>
          <a:bodyPr wrap="square" lIns="0" tIns="0" rIns="0" bIns="0" rtlCol="0" anchor="ctr"/>
          <a:lstStyle/>
          <a:p>
            <a:pPr marL="0" indent="0">
              <a:buNone/>
            </a:pPr>
            <a:r>
              <a:rPr lang="en-US" sz="1500" b="1">
                <a:solidFill>
                  <a:srgbClr val="005071"/>
                </a:solidFill>
                <a:latin typeface="Calibri Light" pitchFamily="34" charset="0"/>
                <a:ea typeface="Calibri Light" pitchFamily="34" charset="-122"/>
                <a:cs typeface="Calibri Light" pitchFamily="34" charset="-120"/>
              </a:rPr>
              <a:t>Business Champions</a:t>
            </a:r>
            <a:endParaRPr lang="en-US" sz="1500"/>
          </a:p>
        </p:txBody>
      </p:sp>
      <p:sp>
        <p:nvSpPr>
          <p:cNvPr id="9" name="Text 7"/>
          <p:cNvSpPr/>
          <p:nvPr/>
        </p:nvSpPr>
        <p:spPr>
          <a:xfrm>
            <a:off x="731520" y="3657600"/>
            <a:ext cx="5029200" cy="2286000"/>
          </a:xfrm>
          <a:prstGeom prst="rect">
            <a:avLst/>
          </a:prstGeom>
          <a:noFill/>
          <a:ln/>
        </p:spPr>
        <p:txBody>
          <a:bodyPr wrap="square" lIns="0" tIns="0" rIns="0" bIns="0" rtlCol="0" anchor="t"/>
          <a:lstStyle/>
          <a:p>
            <a:pPr marL="0" indent="0">
              <a:spcAft>
                <a:spcPts val="300"/>
              </a:spcAft>
              <a:buSzPct val="100000"/>
              <a:buNone/>
            </a:pPr>
            <a:r>
              <a:rPr lang="en-US" sz="1250" i="0" dirty="0" b="1">
                <a:solidFill>
                  <a:srgbClr val="6C727B"/>
                </a:solidFill>
                <a:latin typeface="Calibri" pitchFamily="34" charset="0"/>
                <a:ea typeface="Calibri" pitchFamily="34" charset="-122"/>
                <a:cs typeface="Calibri" pitchFamily="34" charset="-120"/>
              </a:rPr>
              <a:t>Vikas Bhalla</a:t>
            </a:r>
            <a:r>
              <a:rPr lang="en-US" sz="1250" i="0" dirty="0">
                <a:solidFill>
                  <a:srgbClr val="6C727B"/>
                </a:solidFill>
                <a:latin typeface="Calibri" pitchFamily="34" charset="0"/>
                <a:ea typeface="Calibri" pitchFamily="34" charset="-122"/>
                <a:cs typeface="Calibri" pitchFamily="34" charset="-120"/>
              </a:rPr>
              <a:t> — President &amp; Head of AI Services &amp; Operations</a:t>
            </a:r>
            <a:endParaRPr lang="en-US" sz="1300" dirty="0"/>
          </a:p>
          <a:p>
            <a:pPr marL="0" indent="0">
              <a:spcAft>
                <a:spcPts val="300"/>
              </a:spcAft>
              <a:buNone/>
            </a:pPr>
            <a:r>
              <a:rPr lang="en-US" sz="1250" i="0" dirty="0" b="1">
                <a:solidFill>
                  <a:srgbClr val="6C727B"/>
                </a:solidFill>
                <a:latin typeface="Calibri" pitchFamily="34" charset="0"/>
                <a:ea typeface="Calibri" pitchFamily="34" charset="-122"/>
                <a:cs typeface="Calibri" pitchFamily="34" charset="-120"/>
              </a:rPr>
              <a:t>Vikram Singh</a:t>
            </a:r>
            <a:r>
              <a:rPr lang="en-US" sz="1250" i="0" dirty="0">
                <a:solidFill>
                  <a:srgbClr val="6C727B"/>
                </a:solidFill>
                <a:latin typeface="Calibri" pitchFamily="34" charset="0"/>
                <a:ea typeface="Calibri" pitchFamily="34" charset="-122"/>
                <a:cs typeface="Calibri" pitchFamily="34" charset="-120"/>
              </a:rPr>
              <a:t> — Senior Vice President</a:t>
            </a:r>
          </a:p>
          <a:p>
            <a:pPr marL="0" indent="0">
              <a:spcAft>
                <a:spcPts val="300"/>
              </a:spcAft>
              <a:buNone/>
            </a:pPr>
            <a:r>
              <a:rPr lang="en-US" sz="1250" i="0" dirty="0" b="1">
                <a:solidFill>
                  <a:srgbClr val="6C727B"/>
                </a:solidFill>
                <a:latin typeface="Calibri" pitchFamily="34" charset="0"/>
                <a:ea typeface="Calibri" pitchFamily="34" charset="-122"/>
                <a:cs typeface="Calibri" pitchFamily="34" charset="-120"/>
              </a:rPr>
              <a:t>Dhirender Jain</a:t>
            </a:r>
            <a:r>
              <a:rPr lang="en-US" sz="1250" i="0" dirty="0">
                <a:solidFill>
                  <a:srgbClr val="6C727B"/>
                </a:solidFill>
                <a:latin typeface="Calibri" pitchFamily="34" charset="0"/>
                <a:ea typeface="Calibri" pitchFamily="34" charset="-122"/>
                <a:cs typeface="Calibri" pitchFamily="34" charset="-120"/>
              </a:rPr>
              <a:t> — Vice President</a:t>
            </a:r>
          </a:p>
          <a:p>
            <a:pPr marL="0" indent="0">
              <a:spcAft>
                <a:spcPts val="300"/>
              </a:spcAft>
              <a:buNone/>
            </a:pPr>
            <a:r>
              <a:rPr lang="en-US" sz="1250" i="0" dirty="0" b="1">
                <a:solidFill>
                  <a:srgbClr val="6C727B"/>
                </a:solidFill>
                <a:latin typeface="Calibri" pitchFamily="34" charset="0"/>
                <a:ea typeface="Calibri" pitchFamily="34" charset="-122"/>
                <a:cs typeface="Calibri" pitchFamily="34" charset="-120"/>
              </a:rPr>
              <a:t>Puneet Kashyap</a:t>
            </a:r>
            <a:r>
              <a:rPr lang="en-US" sz="1250" i="0" dirty="0">
                <a:solidFill>
                  <a:srgbClr val="6C727B"/>
                </a:solidFill>
                <a:latin typeface="Calibri" pitchFamily="34" charset="0"/>
                <a:ea typeface="Calibri" pitchFamily="34" charset="-122"/>
                <a:cs typeface="Calibri" pitchFamily="34" charset="-120"/>
              </a:rPr>
              <a:t> — Senior Assistant Vice President</a:t>
            </a:r>
          </a:p>
          <a:p>
            <a:pPr marL="0" indent="0">
              <a:spcAft>
                <a:spcPts val="300"/>
              </a:spcAft>
              <a:buNone/>
            </a:pPr>
            <a:r>
              <a:rPr lang="en-US" sz="1250" i="0" dirty="0">
                <a:solidFill>
                  <a:srgbClr val="6C727B"/>
                </a:solidFill>
                <a:latin typeface="Calibri" pitchFamily="34" charset="0"/>
                <a:ea typeface="Calibri" pitchFamily="34" charset="-122"/>
                <a:cs typeface="Calibri" pitchFamily="34" charset="-120"/>
              </a:rPr>
              <a:t>[Confirm final sponsor list before submission]</a:t>
            </a:r>
          </a:p>
        </p:txBody>
      </p:sp>
      <p:sp>
        <p:nvSpPr>
          <p:cNvPr id="10" name="Shape 8"/>
          <p:cNvSpPr/>
          <p:nvPr/>
        </p:nvSpPr>
        <p:spPr>
          <a:xfrm>
            <a:off x="6199632" y="3154680"/>
            <a:ext cx="5486400" cy="2971800"/>
          </a:xfrm>
          <a:prstGeom prst="roundRect">
            <a:avLst>
              <a:gd name="adj" fmla="val 1846"/>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6382512" y="3273552"/>
            <a:ext cx="5120640" cy="320040"/>
          </a:xfrm>
          <a:prstGeom prst="rect">
            <a:avLst/>
          </a:prstGeom>
          <a:noFill/>
          <a:ln/>
        </p:spPr>
        <p:txBody>
          <a:bodyPr wrap="square" lIns="0" tIns="0" rIns="0" bIns="0" rtlCol="0" anchor="ctr"/>
          <a:lstStyle/>
          <a:p>
            <a:pPr marL="0" indent="0">
              <a:buNone/>
            </a:pPr>
            <a:r>
              <a:rPr lang="en-US" sz="1500" b="1">
                <a:solidFill>
                  <a:srgbClr val="005071"/>
                </a:solidFill>
                <a:latin typeface="Calibri Light" pitchFamily="34" charset="0"/>
                <a:ea typeface="Calibri Light" pitchFamily="34" charset="-122"/>
                <a:cs typeface="Calibri Light" pitchFamily="34" charset="-120"/>
              </a:rPr>
              <a:t>Core Team</a:t>
            </a:r>
            <a:endParaRPr lang="en-US" sz="1500"/>
          </a:p>
        </p:txBody>
      </p:sp>
      <p:sp>
        <p:nvSpPr>
          <p:cNvPr id="12" name="Text 10"/>
          <p:cNvSpPr/>
          <p:nvPr/>
        </p:nvSpPr>
        <p:spPr>
          <a:xfrm>
            <a:off x="6428232" y="3657600"/>
            <a:ext cx="5029200" cy="2286000"/>
          </a:xfrm>
          <a:prstGeom prst="rect">
            <a:avLst/>
          </a:prstGeom>
          <a:noFill/>
          <a:ln/>
        </p:spPr>
        <p:txBody>
          <a:bodyPr wrap="square" lIns="0" tIns="0" rIns="0" bIns="0" rtlCol="0" anchor="t"/>
          <a:lstStyle/>
          <a:p>
            <a:pPr marL="0" indent="0">
              <a:spcAft>
                <a:spcPts val="300"/>
              </a:spcAft>
              <a:buSzPct val="100000"/>
              <a:buNone/>
            </a:pPr>
            <a:r>
              <a:rPr lang="en-US" sz="1250" i="0" b="1">
                <a:solidFill>
                  <a:srgbClr val="6C727B"/>
                </a:solidFill>
                <a:latin typeface="Calibri" pitchFamily="34" charset="0"/>
                <a:ea typeface="Calibri" pitchFamily="34" charset="-122"/>
                <a:cs typeface="Calibri" pitchFamily="34" charset="-120"/>
              </a:rPr>
              <a:t>Adhithya Rubarajan</a:t>
            </a:r>
            <a:r>
              <a:rPr lang="en-US" sz="1250" i="0">
                <a:solidFill>
                  <a:srgbClr val="6C727B"/>
                </a:solidFill>
                <a:latin typeface="Calibri" pitchFamily="34" charset="0"/>
                <a:ea typeface="Calibri" pitchFamily="34" charset="-122"/>
                <a:cs typeface="Calibri" pitchFamily="34" charset="-120"/>
              </a:rPr>
              <a:t> — Manager, Services · inventor / lead</a:t>
            </a:r>
            <a:endParaRPr lang="en-US" sz="1300"/>
          </a:p>
          <a:p>
            <a:pPr marL="0" indent="0">
              <a:spcAft>
                <a:spcPts val="300"/>
              </a:spcAft>
              <a:buNone/>
            </a:pPr>
            <a:r>
              <a:rPr lang="en-US" sz="1250" i="0" b="1">
                <a:solidFill>
                  <a:srgbClr val="6C727B"/>
                </a:solidFill>
                <a:latin typeface="Calibri" pitchFamily="34" charset="0"/>
                <a:ea typeface="Calibri" pitchFamily="34" charset="-122"/>
                <a:cs typeface="Calibri" pitchFamily="34" charset="-120"/>
              </a:rPr>
              <a:t>D Bhuvaneswari</a:t>
            </a:r>
            <a:r>
              <a:rPr lang="en-US" sz="1250" i="0">
                <a:solidFill>
                  <a:srgbClr val="6C727B"/>
                </a:solidFill>
                <a:latin typeface="Calibri" pitchFamily="34" charset="0"/>
                <a:ea typeface="Calibri" pitchFamily="34" charset="-122"/>
                <a:cs typeface="Calibri" pitchFamily="34" charset="-120"/>
              </a:rPr>
              <a:t> — Senior Business Analyst</a:t>
            </a:r>
          </a:p>
          <a:p>
            <a:pPr marL="0" indent="0">
              <a:spcAft>
                <a:spcPts val="300"/>
              </a:spcAft>
              <a:buNone/>
            </a:pPr>
            <a:r>
              <a:rPr lang="en-US" sz="1250" i="0" b="1">
                <a:solidFill>
                  <a:srgbClr val="6C727B"/>
                </a:solidFill>
                <a:latin typeface="Calibri" pitchFamily="34" charset="0"/>
                <a:ea typeface="Calibri" pitchFamily="34" charset="-122"/>
                <a:cs typeface="Calibri" pitchFamily="34" charset="-120"/>
              </a:rPr>
              <a:t>Suresh Thakur</a:t>
            </a:r>
            <a:r>
              <a:rPr lang="en-US" sz="1250" i="0">
                <a:solidFill>
                  <a:srgbClr val="6C727B"/>
                </a:solidFill>
                <a:latin typeface="Calibri" pitchFamily="34" charset="0"/>
                <a:ea typeface="Calibri" pitchFamily="34" charset="-122"/>
                <a:cs typeface="Calibri" pitchFamily="34" charset="-120"/>
              </a:rPr>
              <a:t> — Senior Business Analyst</a:t>
            </a:r>
          </a:p>
          <a:p>
            <a:pPr marL="0" indent="0">
              <a:spcAft>
                <a:spcPts val="300"/>
              </a:spcAft>
              <a:buNone/>
            </a:pPr>
            <a:r>
              <a:rPr lang="en-US" sz="1250" i="0" b="1">
                <a:solidFill>
                  <a:srgbClr val="6C727B"/>
                </a:solidFill>
                <a:latin typeface="Calibri" pitchFamily="34" charset="0"/>
                <a:ea typeface="Calibri" pitchFamily="34" charset="-122"/>
                <a:cs typeface="Calibri" pitchFamily="34" charset="-120"/>
              </a:rPr>
              <a:t>Sudha Thankaswamy</a:t>
            </a:r>
            <a:r>
              <a:rPr lang="en-US" sz="1250" i="0">
                <a:solidFill>
                  <a:srgbClr val="6C727B"/>
                </a:solidFill>
                <a:latin typeface="Calibri" pitchFamily="34" charset="0"/>
                <a:ea typeface="Calibri" pitchFamily="34" charset="-122"/>
                <a:cs typeface="Calibri" pitchFamily="34" charset="-120"/>
              </a:rPr>
              <a:t> — Lead Assistant Manager, Aetna DA</a:t>
            </a:r>
          </a:p>
          <a:p>
            <a:pPr marL="0" indent="0">
              <a:spcAft>
                <a:spcPts val="300"/>
              </a:spcAft>
              <a:buNone/>
            </a:pPr>
            <a:r>
              <a:rPr lang="en-US" sz="1250" i="0" b="1">
                <a:solidFill>
                  <a:srgbClr val="6C727B"/>
                </a:solidFill>
                <a:latin typeface="Calibri" pitchFamily="34" charset="0"/>
                <a:ea typeface="Calibri" pitchFamily="34" charset="-122"/>
                <a:cs typeface="Calibri" pitchFamily="34" charset="-120"/>
              </a:rPr>
              <a:t>Himanshu Tiwari</a:t>
            </a:r>
            <a:r>
              <a:rPr lang="en-US" sz="1250" i="0">
                <a:solidFill>
                  <a:srgbClr val="6C727B"/>
                </a:solidFill>
                <a:latin typeface="Calibri" pitchFamily="34" charset="0"/>
                <a:ea typeface="Calibri" pitchFamily="34" charset="-122"/>
                <a:cs typeface="Calibri" pitchFamily="34" charset="-120"/>
              </a:rPr>
              <a:t> — Senior Reporting Analyst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02  ·  SOLUTION</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The Solution — How It Works</a:t>
            </a:r>
            <a:endParaRPr lang="en-US" sz="2800"/>
          </a:p>
        </p:txBody>
      </p:sp>
      <p:sp>
        <p:nvSpPr>
          <p:cNvPr id="4" name="Text 2"/>
          <p:cNvSpPr/>
          <p:nvPr/>
        </p:nvSpPr>
        <p:spPr>
          <a:xfrm>
            <a:off x="502920" y="1463040"/>
            <a:ext cx="11155680" cy="548640"/>
          </a:xfrm>
          <a:prstGeom prst="rect">
            <a:avLst/>
          </a:prstGeom>
          <a:noFill/>
          <a:ln/>
        </p:spPr>
        <p:txBody>
          <a:bodyPr wrap="square" rtlCol="0" anchor="t"/>
          <a:lstStyle/>
          <a:p>
            <a:pPr marL="0" indent="0">
              <a:spcAft>
                <a:spcPts val="300"/>
              </a:spcAft>
              <a:buNone/>
            </a:pPr>
            <a:r>
              <a:rPr lang="en-US" sz="1300" i="0">
                <a:solidFill>
                  <a:srgbClr val="6C727B"/>
                </a:solidFill>
                <a:latin typeface="Calibri" pitchFamily="34" charset="0"/>
                <a:ea typeface="Calibri" pitchFamily="34" charset="-122"/>
                <a:cs typeface="Calibri" pitchFamily="34" charset="-120"/>
              </a:rPr>
              <a:t>Removes the blind spot around the live conversation — every call answered, coached, compliance-checked and scored, in the moment rather than weeks later.</a:t>
            </a:r>
            <a:endParaRPr lang="en-US" sz="1400"/>
          </a:p>
        </p:txBody>
      </p:sp>
      <p:sp>
        <p:nvSpPr>
          <p:cNvPr id="5" name="Shape 3"/>
          <p:cNvSpPr/>
          <p:nvPr/>
        </p:nvSpPr>
        <p:spPr>
          <a:xfrm>
            <a:off x="502920"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6" name="Shape 4"/>
          <p:cNvSpPr/>
          <p:nvPr/>
        </p:nvSpPr>
        <p:spPr>
          <a:xfrm>
            <a:off x="1527048" y="2468880"/>
            <a:ext cx="640080" cy="640080"/>
          </a:xfrm>
          <a:prstGeom prst="ellipse">
            <a:avLst/>
          </a:prstGeom>
          <a:solidFill>
            <a:srgbClr val="FB4E0B"/>
          </a:solidFill>
          <a:ln/>
        </p:spPr>
        <p:txBody>
          <a:bodyPr/>
          <a:lstStyle/>
          <a:p>
            <a:endParaRPr lang="en-US"/>
          </a:p>
        </p:txBody>
      </p:sp>
      <p:sp>
        <p:nvSpPr>
          <p:cNvPr id="7" name="Text 5"/>
          <p:cNvSpPr/>
          <p:nvPr/>
        </p:nvSpPr>
        <p:spPr>
          <a:xfrm>
            <a:off x="1527048"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1</a:t>
            </a:r>
            <a:endParaRPr lang="en-US" sz="2400"/>
          </a:p>
        </p:txBody>
      </p:sp>
      <p:sp>
        <p:nvSpPr>
          <p:cNvPr id="8" name="Text 6"/>
          <p:cNvSpPr/>
          <p:nvPr/>
        </p:nvSpPr>
        <p:spPr>
          <a:xfrm>
            <a:off x="640080"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Listen</a:t>
            </a:r>
            <a:endParaRPr lang="en-US" sz="1500"/>
          </a:p>
        </p:txBody>
      </p:sp>
      <p:sp>
        <p:nvSpPr>
          <p:cNvPr id="9" name="Text 7"/>
          <p:cNvSpPr/>
          <p:nvPr/>
        </p:nvSpPr>
        <p:spPr>
          <a:xfrm>
            <a:off x="685800"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Live call audio from Twilio — inbound and outbound — streamed to Deepgram for speaker-separated transcription, alongside CRM, plan, provider, pharmacy and drug master data.</a:t>
            </a:r>
            <a:endParaRPr lang="en-US" sz="1150"/>
          </a:p>
        </p:txBody>
      </p:sp>
      <p:sp>
        <p:nvSpPr>
          <p:cNvPr id="10" name="Shape 8"/>
          <p:cNvSpPr/>
          <p:nvPr/>
        </p:nvSpPr>
        <p:spPr>
          <a:xfrm>
            <a:off x="3364992"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11" name="Shape 9"/>
          <p:cNvSpPr/>
          <p:nvPr/>
        </p:nvSpPr>
        <p:spPr>
          <a:xfrm>
            <a:off x="4389120" y="2468880"/>
            <a:ext cx="640080" cy="640080"/>
          </a:xfrm>
          <a:prstGeom prst="ellipse">
            <a:avLst/>
          </a:prstGeom>
          <a:solidFill>
            <a:srgbClr val="FB4E0B"/>
          </a:solidFill>
          <a:ln/>
        </p:spPr>
        <p:txBody>
          <a:bodyPr/>
          <a:lstStyle/>
          <a:p>
            <a:endParaRPr lang="en-US"/>
          </a:p>
        </p:txBody>
      </p:sp>
      <p:sp>
        <p:nvSpPr>
          <p:cNvPr id="12" name="Text 10"/>
          <p:cNvSpPr/>
          <p:nvPr/>
        </p:nvSpPr>
        <p:spPr>
          <a:xfrm>
            <a:off x="4389120"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2</a:t>
            </a:r>
            <a:endParaRPr lang="en-US" sz="2400"/>
          </a:p>
        </p:txBody>
      </p:sp>
      <p:sp>
        <p:nvSpPr>
          <p:cNvPr id="13" name="Text 11"/>
          <p:cNvSpPr/>
          <p:nvPr/>
        </p:nvSpPr>
        <p:spPr>
          <a:xfrm>
            <a:off x="3502152"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Understand</a:t>
            </a:r>
            <a:endParaRPr lang="en-US" sz="1500"/>
          </a:p>
        </p:txBody>
      </p:sp>
      <p:sp>
        <p:nvSpPr>
          <p:cNvPr id="14" name="Text 12"/>
          <p:cNvSpPr/>
          <p:nvPr/>
        </p:nvSpPr>
        <p:spPr>
          <a:xfrm>
            <a:off x="3547872"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One merged, schema-validated LLM call per 15-second window returns compliance, sentiment and coaching together. Deterministic rules fire in under a second; hybrid RAG (BM25 + vector, RRF-fused) grounds every answer in real data.</a:t>
            </a:r>
            <a:endParaRPr lang="en-US" sz="1150"/>
          </a:p>
        </p:txBody>
      </p:sp>
      <p:sp>
        <p:nvSpPr>
          <p:cNvPr id="15" name="Shape 13"/>
          <p:cNvSpPr/>
          <p:nvPr/>
        </p:nvSpPr>
        <p:spPr>
          <a:xfrm>
            <a:off x="6227064"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16" name="Shape 14"/>
          <p:cNvSpPr/>
          <p:nvPr/>
        </p:nvSpPr>
        <p:spPr>
          <a:xfrm>
            <a:off x="7251192" y="2468880"/>
            <a:ext cx="640080" cy="640080"/>
          </a:xfrm>
          <a:prstGeom prst="ellipse">
            <a:avLst/>
          </a:prstGeom>
          <a:solidFill>
            <a:srgbClr val="FB4E0B"/>
          </a:solidFill>
          <a:ln/>
        </p:spPr>
        <p:txBody>
          <a:bodyPr/>
          <a:lstStyle/>
          <a:p>
            <a:endParaRPr lang="en-US"/>
          </a:p>
        </p:txBody>
      </p:sp>
      <p:sp>
        <p:nvSpPr>
          <p:cNvPr id="17" name="Text 15"/>
          <p:cNvSpPr/>
          <p:nvPr/>
        </p:nvSpPr>
        <p:spPr>
          <a:xfrm>
            <a:off x="7251192"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3</a:t>
            </a:r>
            <a:endParaRPr lang="en-US" sz="2400"/>
          </a:p>
        </p:txBody>
      </p:sp>
      <p:sp>
        <p:nvSpPr>
          <p:cNvPr id="18" name="Text 16"/>
          <p:cNvSpPr/>
          <p:nvPr/>
        </p:nvSpPr>
        <p:spPr>
          <a:xfrm>
            <a:off x="6364224"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Assist</a:t>
            </a:r>
            <a:endParaRPr lang="en-US" sz="1500"/>
          </a:p>
        </p:txBody>
      </p:sp>
      <p:sp>
        <p:nvSpPr>
          <p:cNvPr id="19" name="Text 17"/>
          <p:cNvSpPr/>
          <p:nvPr/>
        </p:nvSpPr>
        <p:spPr>
          <a:xfrm>
            <a:off x="6409944"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Violating sentences highlighted inline with a compliant rephrase, coaching nudges, sentiment shifts — plus a LangGraph copilot with 23 governed tools that drafts emails, updates records and places calls, approval-gated.</a:t>
            </a:r>
            <a:endParaRPr lang="en-US" sz="1150"/>
          </a:p>
        </p:txBody>
      </p:sp>
      <p:sp>
        <p:nvSpPr>
          <p:cNvPr id="20" name="Shape 18"/>
          <p:cNvSpPr/>
          <p:nvPr/>
        </p:nvSpPr>
        <p:spPr>
          <a:xfrm>
            <a:off x="9089136"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21" name="Shape 19"/>
          <p:cNvSpPr/>
          <p:nvPr/>
        </p:nvSpPr>
        <p:spPr>
          <a:xfrm>
            <a:off x="10113264" y="2468880"/>
            <a:ext cx="640080" cy="640080"/>
          </a:xfrm>
          <a:prstGeom prst="ellipse">
            <a:avLst/>
          </a:prstGeom>
          <a:solidFill>
            <a:srgbClr val="FB4E0B"/>
          </a:solidFill>
          <a:ln/>
        </p:spPr>
        <p:txBody>
          <a:bodyPr/>
          <a:lstStyle/>
          <a:p>
            <a:endParaRPr lang="en-US"/>
          </a:p>
        </p:txBody>
      </p:sp>
      <p:sp>
        <p:nvSpPr>
          <p:cNvPr id="22" name="Text 20"/>
          <p:cNvSpPr/>
          <p:nvPr/>
        </p:nvSpPr>
        <p:spPr>
          <a:xfrm>
            <a:off x="10113264"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4</a:t>
            </a:r>
            <a:endParaRPr lang="en-US" sz="2400"/>
          </a:p>
        </p:txBody>
      </p:sp>
      <p:sp>
        <p:nvSpPr>
          <p:cNvPr id="23" name="Text 21"/>
          <p:cNvSpPr/>
          <p:nvPr/>
        </p:nvSpPr>
        <p:spPr>
          <a:xfrm>
            <a:off x="9226296"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Act &amp; Measure</a:t>
            </a:r>
            <a:endParaRPr lang="en-US" sz="1500"/>
          </a:p>
        </p:txBody>
      </p:sp>
      <p:sp>
        <p:nvSpPr>
          <p:cNvPr id="24" name="Text 22"/>
          <p:cNvSpPr/>
          <p:nvPr/>
        </p:nvSpPr>
        <p:spPr>
          <a:xfrm>
            <a:off x="9272016"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Customer record built and saved mid-call, callback booked, an evidence-quoted QA scorecard on every call, a live supervisor feed, and per-call and per-agent cost telemetry.</a:t>
            </a:r>
            <a:endParaRPr lang="en-US" sz="11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03  ·  ARCHITECTURE</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Technical Architecture</a:t>
            </a:r>
            <a:endParaRPr lang="en-US" sz="2800"/>
          </a:p>
        </p:txBody>
      </p:sp>
      <p:sp>
        <p:nvSpPr>
          <p:cNvPr id="4" name="Shape 2"/>
          <p:cNvSpPr/>
          <p:nvPr/>
        </p:nvSpPr>
        <p:spPr>
          <a:xfrm>
            <a:off x="502920" y="1600200"/>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728216"/>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Ingestion &amp; telephony</a:t>
            </a:r>
            <a:endParaRPr lang="en-US" sz="1500"/>
          </a:p>
        </p:txBody>
      </p:sp>
      <p:sp>
        <p:nvSpPr>
          <p:cNvPr id="6" name="Text 4"/>
          <p:cNvSpPr/>
          <p:nvPr/>
        </p:nvSpPr>
        <p:spPr>
          <a:xfrm>
            <a:off x="4846320" y="1728216"/>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Twilio programmable voice (PSTN inbound &amp; outbound, bidirectional media streams over WSS, signed webhooks) · Deepgram streaming STT on both call tracks · Cloudflare edge with named tunnel · Caddy reverse proxy</a:t>
            </a:r>
            <a:endParaRPr lang="en-US" sz="1250"/>
          </a:p>
        </p:txBody>
      </p:sp>
      <p:sp>
        <p:nvSpPr>
          <p:cNvPr id="7" name="Shape 5"/>
          <p:cNvSpPr/>
          <p:nvPr/>
        </p:nvSpPr>
        <p:spPr>
          <a:xfrm>
            <a:off x="502920" y="2770632"/>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731520" y="2898648"/>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Processing &amp; AI engine</a:t>
            </a:r>
            <a:endParaRPr lang="en-US" sz="1500"/>
          </a:p>
        </p:txBody>
      </p:sp>
      <p:sp>
        <p:nvSpPr>
          <p:cNvPr id="9" name="Text 7"/>
          <p:cNvSpPr/>
          <p:nvPr/>
        </p:nvSpPr>
        <p:spPr>
          <a:xfrm>
            <a:off x="4846320" y="2898648"/>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Node 20 / Express 5 (TypeScript) API · LangGraph copilot agent with 23 governed tools · QA evaluator · hybrid RAG retriever (BM25 + vector, RRF-fused) with prompt cache · in-memory call bus running compliance rules, entity extraction, sentiment and coaching · Claude via OpenRouter</a:t>
            </a:r>
            <a:endParaRPr lang="en-US" sz="1250"/>
          </a:p>
        </p:txBody>
      </p:sp>
      <p:sp>
        <p:nvSpPr>
          <p:cNvPr id="10" name="Shape 8"/>
          <p:cNvSpPr/>
          <p:nvPr/>
        </p:nvSpPr>
        <p:spPr>
          <a:xfrm>
            <a:off x="502920" y="3941064"/>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731520" y="4069080"/>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Decision, storage &amp; governance</a:t>
            </a:r>
            <a:endParaRPr lang="en-US" sz="1500"/>
          </a:p>
        </p:txBody>
      </p:sp>
      <p:sp>
        <p:nvSpPr>
          <p:cNvPr id="12" name="Text 10"/>
          <p:cNvSpPr/>
          <p:nvPr/>
        </p:nvSpPr>
        <p:spPr>
          <a:xfrm>
            <a:off x="4846320" y="4069080"/>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Qdrant vector DB (5 collections, nomic-embed-text 768-d via Ollama) · MongoDB for application and reference data · hot-reloaded, versioned rule and QA-criteria sets · audit and cost telemetry logged per AI interaction (model, tokens, latency, output)</a:t>
            </a:r>
            <a:endParaRPr lang="en-US" sz="1250"/>
          </a:p>
        </p:txBody>
      </p:sp>
      <p:sp>
        <p:nvSpPr>
          <p:cNvPr id="13" name="Shape 11"/>
          <p:cNvSpPr/>
          <p:nvPr/>
        </p:nvSpPr>
        <p:spPr>
          <a:xfrm>
            <a:off x="502920" y="5111496"/>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731520" y="5239512"/>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Application &amp; delivery</a:t>
            </a:r>
            <a:endParaRPr lang="en-US" sz="1500"/>
          </a:p>
        </p:txBody>
      </p:sp>
      <p:sp>
        <p:nvSpPr>
          <p:cNvPr id="15" name="Text 13"/>
          <p:cNvSpPr/>
          <p:nvPr/>
        </p:nvSpPr>
        <p:spPr>
          <a:xfrm>
            <a:off x="4846320" y="5239512"/>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React 19 / Vite SPA with Twilio Voice SDK — agent workspace, call panel and copilot · supervisor command centre with SSE alert feed and mid-call transcript backfill · no-code admin for compliance rules, coaching rules and QA scoring criteria · RBAC</a:t>
            </a:r>
            <a:endParaRPr lang="en-US" sz="1250"/>
          </a:p>
        </p:txBody>
      </p:sp>
      <p:sp>
        <p:nvSpPr>
          <p:cNvPr id="16" name="Text 14"/>
          <p:cNvSpPr/>
          <p:nvPr/>
        </p:nvSpPr>
        <p:spPr>
          <a:xfrm>
            <a:off x="502920" y="6300216"/>
            <a:ext cx="10972800" cy="274320"/>
          </a:xfrm>
          <a:prstGeom prst="rect">
            <a:avLst/>
          </a:prstGeom>
          <a:noFill/>
          <a:ln/>
        </p:spPr>
        <p:txBody>
          <a:bodyPr wrap="square" rtlCol="0" anchor="ctr"/>
          <a:lstStyle/>
          <a:p>
            <a:pPr marL="0" indent="0">
              <a:spcAft>
                <a:spcPts val="300"/>
              </a:spcAft>
              <a:buNone/>
            </a:pPr>
            <a:r>
              <a:rPr lang="en-US" sz="1000" i="0">
                <a:solidFill>
                  <a:srgbClr val="6C727B"/>
                </a:solidFill>
                <a:latin typeface="Calibri" pitchFamily="34" charset="0"/>
                <a:ea typeface="Calibri" pitchFamily="34" charset="-122"/>
                <a:cs typeface="Calibri" pitchFamily="34" charset="-120"/>
              </a:rPr>
              <a:t>A full end-to-end deployment diagram (clients → edge &amp; telephony → app server → AI services → data &amp; vectors) is maintained alongside this deck and available on request.</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04  ·  DEPLOYMENT PLAN</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How &amp; Where It Will Be Deployed</a:t>
            </a:r>
            <a:endParaRPr lang="en-US" sz="2800"/>
          </a:p>
        </p:txBody>
      </p:sp>
      <p:sp>
        <p:nvSpPr>
          <p:cNvPr id="4" name="Shape 2"/>
          <p:cNvSpPr/>
          <p:nvPr/>
        </p:nvSpPr>
        <p:spPr>
          <a:xfrm>
            <a:off x="502920" y="160020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69164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Environment</a:t>
            </a:r>
            <a:endParaRPr lang="en-US" sz="1400"/>
          </a:p>
        </p:txBody>
      </p:sp>
      <p:sp>
        <p:nvSpPr>
          <p:cNvPr id="6" name="Text 4"/>
          <p:cNvSpPr/>
          <p:nvPr/>
        </p:nvSpPr>
        <p:spPr>
          <a:xfrm>
            <a:off x="4297680" y="169164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Containerised and cloud-portable. Runs today on cloud VMs behind a Cloudflare tunnel; deployable into a client VPC, EXL-hosted multi-tenant, or on client premises where data residency requires it.</a:t>
            </a:r>
            <a:endParaRPr lang="en-US" sz="1250"/>
          </a:p>
        </p:txBody>
      </p:sp>
      <p:sp>
        <p:nvSpPr>
          <p:cNvPr id="7" name="Shape 5"/>
          <p:cNvSpPr/>
          <p:nvPr/>
        </p:nvSpPr>
        <p:spPr>
          <a:xfrm>
            <a:off x="502920" y="256032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731520" y="265176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Integration</a:t>
            </a:r>
            <a:endParaRPr lang="en-US" sz="1400"/>
          </a:p>
        </p:txBody>
      </p:sp>
      <p:sp>
        <p:nvSpPr>
          <p:cNvPr id="9" name="Text 7"/>
          <p:cNvSpPr/>
          <p:nvPr/>
        </p:nvSpPr>
        <p:spPr>
          <a:xfrm>
            <a:off x="4297680" y="265176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REST + SSE surfaces over a governed tool layer fronting existing CRM, telephony and master data — the AI calls the same tools on chat or voice. Twilio for voice; connectors swapped per client. Identity is injected server-side, never chosen by the model.</a:t>
            </a:r>
            <a:endParaRPr lang="en-US" sz="1250"/>
          </a:p>
        </p:txBody>
      </p:sp>
      <p:sp>
        <p:nvSpPr>
          <p:cNvPr id="10" name="Shape 8"/>
          <p:cNvSpPr/>
          <p:nvPr/>
        </p:nvSpPr>
        <p:spPr>
          <a:xfrm>
            <a:off x="502920" y="352044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731520" y="361188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Security &amp; compliance</a:t>
            </a:r>
            <a:endParaRPr lang="en-US" sz="1400"/>
          </a:p>
        </p:txBody>
      </p:sp>
      <p:sp>
        <p:nvSpPr>
          <p:cNvPr id="12" name="Text 10"/>
          <p:cNvSpPr/>
          <p:nvPr/>
        </p:nvSpPr>
        <p:spPr>
          <a:xfrm>
            <a:off x="4297680" y="361188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No sensitive identifiers requested, by design. Disabled capabilities are withheld from the model rather than discouraged in a prompt. Mandatory automated-call disclosure. Every AI interaction fully audited; PII handling and retention configured per client regulation.</a:t>
            </a:r>
            <a:endParaRPr lang="en-US" sz="1250"/>
          </a:p>
        </p:txBody>
      </p:sp>
      <p:sp>
        <p:nvSpPr>
          <p:cNvPr id="13" name="Shape 11"/>
          <p:cNvSpPr/>
          <p:nvPr/>
        </p:nvSpPr>
        <p:spPr>
          <a:xfrm>
            <a:off x="502920" y="448056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731520" y="457200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Rollout approach</a:t>
            </a:r>
            <a:endParaRPr lang="en-US" sz="1400"/>
          </a:p>
        </p:txBody>
      </p:sp>
      <p:sp>
        <p:nvSpPr>
          <p:cNvPr id="15" name="Text 13"/>
          <p:cNvSpPr/>
          <p:nvPr/>
        </p:nvSpPr>
        <p:spPr>
          <a:xfrm>
            <a:off x="4297680" y="457200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Pilot one campaign or queue in shadow mode (4–6 weeks) → switch on real-time compliance and coaching → enable automated inbound handling out-of-hours → scale across queues and geographies, with the client's own business users tuning rules and QA criteria at each stage.</a:t>
            </a:r>
            <a:endParaRPr lang="en-US" sz="1250"/>
          </a:p>
        </p:txBody>
      </p:sp>
      <p:sp>
        <p:nvSpPr>
          <p:cNvPr id="16" name="Shape 14"/>
          <p:cNvSpPr/>
          <p:nvPr/>
        </p:nvSpPr>
        <p:spPr>
          <a:xfrm>
            <a:off x="502920" y="544068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7" name="Text 15"/>
          <p:cNvSpPr/>
          <p:nvPr/>
        </p:nvSpPr>
        <p:spPr>
          <a:xfrm>
            <a:off x="731520" y="553212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Ownership &amp; support</a:t>
            </a:r>
            <a:endParaRPr lang="en-US" sz="1400"/>
          </a:p>
        </p:txBody>
      </p:sp>
      <p:sp>
        <p:nvSpPr>
          <p:cNvPr id="18" name="Text 16"/>
          <p:cNvSpPr/>
          <p:nvPr/>
        </p:nvSpPr>
        <p:spPr>
          <a:xfrm>
            <a:off x="4297680" y="553212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EXL AI Services &amp; Operations owns run and support; client business owners own rule and QA-criteria content. Monitoring on latency, model health and cost per call, with graceful degradation — rules continue if the LLM drops — and a self-healing probe.</a:t>
            </a:r>
            <a:endParaRPr lang="en-US" sz="12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05  ·  IDENTIFIED CLIENT</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Where We Will Deploy &amp; Sell</a:t>
            </a:r>
            <a:endParaRPr lang="en-US" sz="2800"/>
          </a:p>
        </p:txBody>
      </p:sp>
      <p:sp>
        <p:nvSpPr>
          <p:cNvPr id="4" name="Shape 2"/>
          <p:cNvSpPr/>
          <p:nvPr/>
        </p:nvSpPr>
        <p:spPr>
          <a:xfrm>
            <a:off x="502920" y="155448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664208"/>
            <a:ext cx="10789920" cy="640080"/>
          </a:xfrm>
          <a:prstGeom prst="rect">
            <a:avLst/>
          </a:prstGeom>
          <a:noFill/>
          <a:ln/>
        </p:spPr>
        <p:txBody>
          <a:bodyPr wrap="square" lIns="0" tIns="0" rIns="0" bIns="0" rtlCol="0" anchor="ctr"/>
          <a:lstStyle/>
          <a:p>
            <a:pPr marL="0" indent="0">
              <a:spcAft>
                <a:spcPts val="300"/>
              </a:spcAft>
              <a:buNone/>
            </a:pPr>
            <a:r>
              <a:rPr lang="en-US" sz="1300" b="1" i="0">
                <a:solidFill>
                  <a:srgbClr val="005071"/>
                </a:solidFill>
                <a:latin typeface="Calibri" pitchFamily="34" charset="0"/>
                <a:ea typeface="Calibri" pitchFamily="34" charset="-122"/>
                <a:cs typeface="Calibri" pitchFamily="34" charset="-120"/>
              </a:rPr>
              <a:t>Named targets — </a:t>
            </a:r>
            <a:r>
              <a:rPr lang="en-US" sz="1300" b="1" i="0">
                <a:solidFill>
                  <a:srgbClr val="005071"/>
                </a:solidFill>
                <a:latin typeface="Calibri" pitchFamily="34" charset="0"/>
                <a:ea typeface="Calibri" pitchFamily="34" charset="-122"/>
                <a:cs typeface="Calibri" pitchFamily="34" charset="-120"/>
              </a:rPr>
              <a:t>Aetna and Humana Medicare tele-sales (both already modelled in the prototype), then EXL's wider regulated contact-centre book</a:t>
            </a:r>
            <a:endParaRPr lang="en-US" sz="1400"/>
          </a:p>
        </p:txBody>
      </p:sp>
      <p:sp>
        <p:nvSpPr>
          <p:cNvPr id="6" name="Shape 4"/>
          <p:cNvSpPr/>
          <p:nvPr/>
        </p:nvSpPr>
        <p:spPr>
          <a:xfrm>
            <a:off x="502920"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7" name="Text 5"/>
          <p:cNvSpPr/>
          <p:nvPr/>
        </p:nvSpPr>
        <p:spPr>
          <a:xfrm>
            <a:off x="640080"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Existing clients</a:t>
            </a:r>
            <a:endParaRPr lang="en-US" sz="1500"/>
          </a:p>
        </p:txBody>
      </p:sp>
      <p:sp>
        <p:nvSpPr>
          <p:cNvPr id="8" name="Text 6"/>
          <p:cNvSpPr/>
          <p:nvPr/>
        </p:nvSpPr>
        <p:spPr>
          <a:xfrm>
            <a:off x="685800"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Aetna</a:t>
            </a:r>
            <a:r>
              <a:rPr lang="en-US" sz="1150" i="0">
                <a:solidFill>
                  <a:srgbClr val="6C727B"/>
                </a:solidFill>
                <a:latin typeface="Calibri" pitchFamily="34" charset="0"/>
                <a:ea typeface="Calibri" pitchFamily="34" charset="-122"/>
                <a:cs typeface="Calibri" pitchFamily="34" charset="-120"/>
              </a:rPr>
              <a:t> — Medicare tele-sales &amp; DA operations; already modelled with carrier theming in the POC</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Humana</a:t>
            </a:r>
            <a:r>
              <a:rPr lang="en-US" sz="1150" i="0">
                <a:solidFill>
                  <a:srgbClr val="6C727B"/>
                </a:solidFill>
                <a:latin typeface="Calibri" pitchFamily="34" charset="0"/>
                <a:ea typeface="Calibri" pitchFamily="34" charset="-122"/>
                <a:cs typeface="Calibri" pitchFamily="34" charset="-120"/>
              </a:rPr>
              <a:t> — Medicare Advantage sales; second carrier theme already supported</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BFSI contact-centre accounts</a:t>
            </a:r>
            <a:r>
              <a:rPr lang="en-US" sz="1150" i="0">
                <a:solidFill>
                  <a:srgbClr val="6C727B"/>
                </a:solidFill>
                <a:latin typeface="Calibri" pitchFamily="34" charset="0"/>
                <a:ea typeface="Calibri" pitchFamily="34" charset="-122"/>
                <a:cs typeface="Calibri" pitchFamily="34" charset="-120"/>
              </a:rPr>
              <a:t> — confirm named accounts with the relevant EXL account teams</a:t>
            </a:r>
          </a:p>
        </p:txBody>
      </p:sp>
      <p:sp>
        <p:nvSpPr>
          <p:cNvPr id="9" name="Shape 7"/>
          <p:cNvSpPr/>
          <p:nvPr/>
        </p:nvSpPr>
        <p:spPr>
          <a:xfrm>
            <a:off x="4261104"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10" name="Text 8"/>
          <p:cNvSpPr/>
          <p:nvPr/>
        </p:nvSpPr>
        <p:spPr>
          <a:xfrm>
            <a:off x="4398264"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New logos / pipeline</a:t>
            </a:r>
            <a:endParaRPr lang="en-US" sz="1500"/>
          </a:p>
        </p:txBody>
      </p:sp>
      <p:sp>
        <p:nvSpPr>
          <p:cNvPr id="11" name="Text 9"/>
          <p:cNvSpPr/>
          <p:nvPr/>
        </p:nvSpPr>
        <p:spPr>
          <a:xfrm>
            <a:off x="4443984"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US health plans</a:t>
            </a:r>
            <a:r>
              <a:rPr lang="en-US" sz="1150" i="0">
                <a:solidFill>
                  <a:srgbClr val="6C727B"/>
                </a:solidFill>
                <a:latin typeface="Calibri" pitchFamily="34" charset="0"/>
                <a:ea typeface="Calibri" pitchFamily="34" charset="-122"/>
                <a:cs typeface="Calibri" pitchFamily="34" charset="-120"/>
              </a:rPr>
              <a:t> — Medicare Advantage &amp; ACA tele-sales</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Banking &amp; insurance</a:t>
            </a:r>
            <a:r>
              <a:rPr lang="en-US" sz="1150" i="0">
                <a:solidFill>
                  <a:srgbClr val="6C727B"/>
                </a:solidFill>
                <a:latin typeface="Calibri" pitchFamily="34" charset="0"/>
                <a:ea typeface="Calibri" pitchFamily="34" charset="-122"/>
                <a:cs typeface="Calibri" pitchFamily="34" charset="-120"/>
              </a:rPr>
              <a:t> — advice-adjacent sales desks under conduct rules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Collections &amp; outreach BPOs</a:t>
            </a:r>
            <a:r>
              <a:rPr lang="en-US" sz="1150" i="0">
                <a:solidFill>
                  <a:srgbClr val="6C727B"/>
                </a:solidFill>
                <a:latin typeface="Calibri" pitchFamily="34" charset="0"/>
                <a:ea typeface="Calibri" pitchFamily="34" charset="-122"/>
                <a:cs typeface="Calibri" pitchFamily="34" charset="-120"/>
              </a:rPr>
              <a:t> — contact-practice and disclosure obligations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Retail &amp; telecom</a:t>
            </a:r>
            <a:r>
              <a:rPr lang="en-US" sz="1150" i="0">
                <a:solidFill>
                  <a:srgbClr val="6C727B"/>
                </a:solidFill>
                <a:latin typeface="Calibri" pitchFamily="34" charset="0"/>
                <a:ea typeface="Calibri" pitchFamily="34" charset="-122"/>
                <a:cs typeface="Calibri" pitchFamily="34" charset="-120"/>
              </a:rPr>
              <a:t> — offer and claims compliance, churn-save coaching</a:t>
            </a:r>
          </a:p>
        </p:txBody>
      </p:sp>
      <p:sp>
        <p:nvSpPr>
          <p:cNvPr id="12" name="Shape 10"/>
          <p:cNvSpPr/>
          <p:nvPr/>
        </p:nvSpPr>
        <p:spPr>
          <a:xfrm>
            <a:off x="8019288"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13" name="Text 11"/>
          <p:cNvSpPr/>
          <p:nvPr/>
        </p:nvSpPr>
        <p:spPr>
          <a:xfrm>
            <a:off x="8156448"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Partnerships</a:t>
            </a:r>
            <a:endParaRPr lang="en-US" sz="1500"/>
          </a:p>
        </p:txBody>
      </p:sp>
      <p:sp>
        <p:nvSpPr>
          <p:cNvPr id="14" name="Text 12"/>
          <p:cNvSpPr/>
          <p:nvPr/>
        </p:nvSpPr>
        <p:spPr>
          <a:xfrm>
            <a:off x="8202168"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Twilio / Deepgram</a:t>
            </a:r>
            <a:r>
              <a:rPr lang="en-US" sz="1150" i="0">
                <a:solidFill>
                  <a:srgbClr val="6C727B"/>
                </a:solidFill>
                <a:latin typeface="Calibri" pitchFamily="34" charset="0"/>
                <a:ea typeface="Calibri" pitchFamily="34" charset="-122"/>
                <a:cs typeface="Calibri" pitchFamily="34" charset="-120"/>
              </a:rPr>
              <a:t> — telephony and speech co-sell</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Model providers</a:t>
            </a:r>
            <a:r>
              <a:rPr lang="en-US" sz="1150" i="0">
                <a:solidFill>
                  <a:srgbClr val="6C727B"/>
                </a:solidFill>
                <a:latin typeface="Calibri" pitchFamily="34" charset="0"/>
                <a:ea typeface="Calibri" pitchFamily="34" charset="-122"/>
                <a:cs typeface="Calibri" pitchFamily="34" charset="-120"/>
              </a:rPr>
              <a:t> — Anthropic via OpenRouter; joint GTM</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Cloud marketplaces</a:t>
            </a:r>
            <a:r>
              <a:rPr lang="en-US" sz="1150" i="0">
                <a:solidFill>
                  <a:srgbClr val="6C727B"/>
                </a:solidFill>
                <a:latin typeface="Calibri" pitchFamily="34" charset="0"/>
                <a:ea typeface="Calibri" pitchFamily="34" charset="-122"/>
                <a:cs typeface="Calibri" pitchFamily="34" charset="-120"/>
              </a:rPr>
              <a:t> — AWS / Azure listing for new logos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Launch client co-develop</a:t>
            </a:r>
            <a:r>
              <a:rPr lang="en-US" sz="1150" i="0">
                <a:solidFill>
                  <a:srgbClr val="6C727B"/>
                </a:solidFill>
                <a:latin typeface="Calibri" pitchFamily="34" charset="0"/>
                <a:ea typeface="Calibri" pitchFamily="34" charset="-122"/>
                <a:cs typeface="Calibri" pitchFamily="34" charset="-120"/>
              </a:rPr>
              <a:t> — build their rule and QA pack with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06  ·  GO-TO-MARKET</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GTM Strategy</a:t>
            </a:r>
            <a:endParaRPr lang="en-US" sz="2800"/>
          </a:p>
        </p:txBody>
      </p:sp>
      <p:sp>
        <p:nvSpPr>
          <p:cNvPr id="4" name="Shape 2"/>
          <p:cNvSpPr/>
          <p:nvPr/>
        </p:nvSpPr>
        <p:spPr>
          <a:xfrm>
            <a:off x="502920" y="164592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685800" y="178308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Positioning</a:t>
            </a:r>
            <a:endParaRPr lang="en-US" sz="1600"/>
          </a:p>
        </p:txBody>
      </p:sp>
      <p:sp>
        <p:nvSpPr>
          <p:cNvPr id="6" name="Text 4"/>
          <p:cNvSpPr/>
          <p:nvPr/>
        </p:nvSpPr>
        <p:spPr>
          <a:xfrm>
            <a:off x="685800" y="224028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The AI layer for regulated conversations — not a new contact centre, an add-on over the one the client already runs. EXL's edge is that we operate these desks ourselves, so the compliance rules, coaching content and QA criteria arrive with domain knowledge, not just software.</a:t>
            </a:r>
            <a:endParaRPr lang="en-US" sz="1300"/>
          </a:p>
        </p:txBody>
      </p:sp>
      <p:sp>
        <p:nvSpPr>
          <p:cNvPr id="7" name="Shape 5"/>
          <p:cNvSpPr/>
          <p:nvPr/>
        </p:nvSpPr>
        <p:spPr>
          <a:xfrm>
            <a:off x="6199632" y="164592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6382512" y="178308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Sales &amp; channel</a:t>
            </a:r>
            <a:endParaRPr lang="en-US" sz="1600"/>
          </a:p>
        </p:txBody>
      </p:sp>
      <p:sp>
        <p:nvSpPr>
          <p:cNvPr id="9" name="Text 7"/>
          <p:cNvSpPr/>
          <p:nvPr/>
        </p:nvSpPr>
        <p:spPr>
          <a:xfrm>
            <a:off x="6382512" y="224028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Lead through EXL's existing healthcare and BFSI account teams — attach to renewals and to new BPO/BPaaS pursuits, where it differentiates the bid. The live demo is the primary sales asset. Co-sell with telephony and cloud partners for new logos.</a:t>
            </a:r>
            <a:endParaRPr lang="en-US" sz="1300"/>
          </a:p>
        </p:txBody>
      </p:sp>
      <p:sp>
        <p:nvSpPr>
          <p:cNvPr id="10" name="Shape 8"/>
          <p:cNvSpPr/>
          <p:nvPr/>
        </p:nvSpPr>
        <p:spPr>
          <a:xfrm>
            <a:off x="502920" y="397764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685800" y="411480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Pricing</a:t>
            </a:r>
            <a:endParaRPr lang="en-US" sz="1600"/>
          </a:p>
        </p:txBody>
      </p:sp>
      <p:sp>
        <p:nvSpPr>
          <p:cNvPr id="12" name="Text 10"/>
          <p:cNvSpPr/>
          <p:nvPr/>
        </p:nvSpPr>
        <p:spPr>
          <a:xfrm>
            <a:off x="685800" y="457200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Per-agent-seat subscription for copilot + conversation intelligence · per-minute pricing for automated inbound handling · outcome-linked tier for QA and compliance coverage · bundled into managed-operations pricing on BPaaS deals. Per-call cost telemetry keeps margin predictable.</a:t>
            </a:r>
            <a:endParaRPr lang="en-US" sz="1300"/>
          </a:p>
        </p:txBody>
      </p:sp>
      <p:sp>
        <p:nvSpPr>
          <p:cNvPr id="13" name="Shape 11"/>
          <p:cNvSpPr/>
          <p:nvPr/>
        </p:nvSpPr>
        <p:spPr>
          <a:xfrm>
            <a:off x="6199632" y="397764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6382512" y="411480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Launch &amp; marketing</a:t>
            </a:r>
            <a:endParaRPr lang="en-US" sz="1600"/>
          </a:p>
        </p:txBody>
      </p:sp>
      <p:sp>
        <p:nvSpPr>
          <p:cNvPr id="15" name="Text 13"/>
          <p:cNvSpPr/>
          <p:nvPr/>
        </p:nvSpPr>
        <p:spPr>
          <a:xfrm>
            <a:off x="6382512" y="457200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Internal launch at the prototype showcase → reference case study from the first pilot → webinars on real-time compliance for regulated sales → thought leadership on human-in-the-loop AI → demo presence at payer and contact-centre industry events.</a:t>
            </a:r>
            <a:endParaRPr lang="en-US" sz="1300"/>
          </a:p>
        </p:txBody>
      </p:sp>
    </p:spTree>
  </p:cSld>
  <p:clrMapOvr>
    <a:masterClrMapping/>
  </p:clrMapOvr>
</p:sld>
</file>

<file path=ppt/theme/theme1.xml><?xml version="1.0" encoding="utf-8"?>
<a:theme xmlns:a="http://schemas.openxmlformats.org/drawingml/2006/main" name="1_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2.xml><?xml version="1.0" encoding="utf-8"?>
<a:theme xmlns:a="http://schemas.openxmlformats.org/drawingml/2006/main" name="EXL">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XL" id="{68B02986-82C5-4061-A57C-C8B87125180A}" vid="{4677AF4B-9B33-4684-B6BB-99EE4D7BDE7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465</Words>
  <Application>Microsoft Office PowerPoint</Application>
  <PresentationFormat>Widescreen</PresentationFormat>
  <Paragraphs>86</Paragraphs>
  <Slides>7</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Calibri</vt:lpstr>
      <vt:lpstr>Calibri Light</vt:lpstr>
      <vt:lpstr>System Font Regular</vt:lpstr>
      <vt:lpstr>1_Office Theme</vt:lpstr>
      <vt:lpstr>EXL</vt:lpstr>
      <vt:lpstr>Reference Deck - [Solution Name]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Vinayak Chopra</dc:creator>
  <cp:lastModifiedBy>Vinayak Chopra</cp:lastModifiedBy>
  <cp:revision>1</cp:revision>
  <dcterms:created xsi:type="dcterms:W3CDTF">2026-08-12T10:03:27Z</dcterms:created>
  <dcterms:modified xsi:type="dcterms:W3CDTF">2026-08-12T13:29:26Z</dcterms:modified>
</cp:coreProperties>
</file>