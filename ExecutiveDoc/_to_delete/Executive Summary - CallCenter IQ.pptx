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14747408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28" userDrawn="1">
          <p15:clr>
            <a:srgbClr val="A4A3A4"/>
          </p15:clr>
        </p15:guide>
        <p15:guide id="5" pos="3840" userDrawn="1">
          <p15:clr>
            <a:srgbClr val="A4A3A4"/>
          </p15:clr>
        </p15:guide>
        <p15:guide id="6" pos="7392" userDrawn="1">
          <p15:clr>
            <a:srgbClr val="A4A3A4"/>
          </p15:clr>
        </p15:guide>
        <p15:guide id="7" pos="288" userDrawn="1">
          <p15:clr>
            <a:srgbClr val="A4A3A4"/>
          </p15:clr>
        </p15:guide>
        <p15:guide id="8" pos="216" userDrawn="1">
          <p15:clr>
            <a:srgbClr val="A4A3A4"/>
          </p15:clr>
        </p15:guide>
        <p15:guide id="9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4E0B"/>
    <a:srgbClr val="004EFF"/>
    <a:srgbClr val="E5EDFF"/>
    <a:srgbClr val="C0D2FF"/>
    <a:srgbClr val="83A8FF"/>
    <a:srgbClr val="407AFF"/>
    <a:srgbClr val="000000"/>
    <a:srgbClr val="424242"/>
    <a:srgbClr val="FF40FF"/>
    <a:srgbClr val="FFB3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3792" autoAdjust="0"/>
  </p:normalViewPr>
  <p:slideViewPr>
    <p:cSldViewPr snapToGrid="0" snapToObjects="1">
      <p:cViewPr varScale="1">
        <p:scale>
          <a:sx n="92" d="100"/>
          <a:sy n="92" d="100"/>
        </p:scale>
        <p:origin x="259" y="82"/>
      </p:cViewPr>
      <p:guideLst>
        <p:guide orient="horz" pos="4128"/>
        <p:guide pos="3840"/>
        <p:guide pos="7392"/>
        <p:guide pos="288"/>
        <p:guide pos="21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6" d="100"/>
        <a:sy n="86" d="100"/>
      </p:scale>
      <p:origin x="0" y="0"/>
    </p:cViewPr>
  </p:sorterViewPr>
  <p:notesViewPr>
    <p:cSldViewPr snapToGrid="0" snapToObjects="1">
      <p:cViewPr varScale="1">
        <p:scale>
          <a:sx n="80" d="100"/>
          <a:sy n="80" d="100"/>
        </p:scale>
        <p:origin x="3066" y="108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handoutMaster" Target="handoutMasters/handout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ayak Chopra" userId="ae75b830-3825-4053-b001-31c1e484de6e" providerId="ADAL" clId="{07E23E91-0C82-4FE9-B4F0-00D6CE322762}"/>
    <pc:docChg chg="modSld">
      <pc:chgData name="Vinayak Chopra" userId="ae75b830-3825-4053-b001-31c1e484de6e" providerId="ADAL" clId="{07E23E91-0C82-4FE9-B4F0-00D6CE322762}" dt="2026-08-12T13:42:36.324" v="19" actId="20577"/>
      <pc:docMkLst>
        <pc:docMk/>
      </pc:docMkLst>
      <pc:sldChg chg="modSp mod">
        <pc:chgData name="Vinayak Chopra" userId="ae75b830-3825-4053-b001-31c1e484de6e" providerId="ADAL" clId="{07E23E91-0C82-4FE9-B4F0-00D6CE322762}" dt="2026-08-12T13:42:36.324" v="19" actId="20577"/>
        <pc:sldMkLst>
          <pc:docMk/>
          <pc:sldMk cId="2900283342" sldId="2147474087"/>
        </pc:sldMkLst>
        <pc:spChg chg="mod">
          <ac:chgData name="Vinayak Chopra" userId="ae75b830-3825-4053-b001-31c1e484de6e" providerId="ADAL" clId="{07E23E91-0C82-4FE9-B4F0-00D6CE322762}" dt="2026-08-12T13:42:36.324" v="19" actId="20577"/>
          <ac:spMkLst>
            <pc:docMk/>
            <pc:sldMk cId="2900283342" sldId="2147474087"/>
            <ac:spMk id="4" creationId="{55A20902-D558-3616-7D89-C7810B01F283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6561233-45DC-0946-2455-02C93F71AD3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8A0130-1F16-3354-5317-EAAD29FFB5D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D917C0-D42B-47D1-A861-215602EF8B73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8E4F27-4BF2-3909-3638-05880831A73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B71824-2436-611A-E077-B0450E3664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1FE844-F6AC-4291-8AAC-EA3323234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0829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4D9FB6-F063-5E4C-8E15-DE2BAD5FDB90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941F17-4160-ED44-996C-2E44614DC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279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-In Logo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EBB55-289A-DA4A-A0D3-EAD7AEF57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0621" y="89262"/>
            <a:ext cx="10490758" cy="667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5553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-In Logo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EBB55-289A-DA4A-A0D3-EAD7AEF57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0621" y="89262"/>
            <a:ext cx="10490758" cy="667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4476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/>
          <a:lstStyle>
            <a:lvl1pPr algn="l">
              <a:lnSpc>
                <a:spcPct val="8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4167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55FCFE5F-EACE-DF4E-98EB-EB028DF66F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3348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whit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507E633-4606-0F5C-1C47-2E2296BF60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44465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arrow win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048" y="0"/>
            <a:ext cx="12192000" cy="6858000"/>
          </a:xfrm>
          <a:solidFill>
            <a:schemeClr val="accent6"/>
          </a:solidFill>
        </p:spPr>
        <p:txBody>
          <a:bodyPr tIns="1188720" rIns="914400"/>
          <a:lstStyle>
            <a:lvl1pPr marL="0" indent="0" algn="r">
              <a:buNone/>
              <a:defRPr/>
            </a:lvl1pPr>
          </a:lstStyle>
          <a:p>
            <a:r>
              <a:rPr lang="en-US" dirty="0"/>
              <a:t>Insert Picture</a:t>
            </a:r>
            <a:br>
              <a:rPr lang="en-US" dirty="0"/>
            </a:br>
            <a:r>
              <a:rPr lang="en-US" dirty="0"/>
              <a:t>and send to back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CD8347-12EC-7004-68FD-F0EB1360FD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0"/>
            <a:ext cx="12188952" cy="6858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52627" y="457200"/>
            <a:ext cx="5637229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52627" y="4027501"/>
            <a:ext cx="563722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7C4AD12-4ACC-C840-8312-C7E5355E4F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66650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oran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51F0EE0-3D9B-E861-B59E-EC60640064C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89755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ate blue bkgr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 userDrawn="1"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820872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light blue bkgr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 userDrawn="1"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  <a:solidFill>
            <a:schemeClr val="bg2"/>
          </a:solidFill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21022AB0-A6DF-42F4-2FD1-C8A66FD65C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029341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riangle slat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riangle 6">
            <a:extLst>
              <a:ext uri="{FF2B5EF4-FFF2-40B4-BE49-F238E27FC236}">
                <a16:creationId xmlns:a16="http://schemas.microsoft.com/office/drawing/2014/main" id="{931308C3-C86F-8439-79F6-BF2D0C1E6F6F}"/>
              </a:ext>
            </a:extLst>
          </p:cNvPr>
          <p:cNvSpPr>
            <a:spLocks noChangeAspect="1"/>
          </p:cNvSpPr>
          <p:nvPr userDrawn="1"/>
        </p:nvSpPr>
        <p:spPr>
          <a:xfrm>
            <a:off x="1041123" y="1864380"/>
            <a:ext cx="4572001" cy="3152731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0654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riangle light blu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F3ADCCC-FA43-7DCA-36DD-741C471925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" name="Triangle 6">
            <a:extLst>
              <a:ext uri="{FF2B5EF4-FFF2-40B4-BE49-F238E27FC236}">
                <a16:creationId xmlns:a16="http://schemas.microsoft.com/office/drawing/2014/main" id="{4766D99B-C9CC-1DAD-1E54-88F872622439}"/>
              </a:ext>
            </a:extLst>
          </p:cNvPr>
          <p:cNvSpPr>
            <a:spLocks noChangeAspect="1"/>
          </p:cNvSpPr>
          <p:nvPr userDrawn="1"/>
        </p:nvSpPr>
        <p:spPr>
          <a:xfrm>
            <a:off x="1041123" y="1864380"/>
            <a:ext cx="4572001" cy="3152731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1909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93EB44E-E9F3-8842-B537-69D4B697C4A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</p:spPr>
        <p:txBody>
          <a:bodyPr tIns="109728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Picture</a:t>
            </a:r>
            <a:br>
              <a:rPr lang="en-US" dirty="0"/>
            </a:br>
            <a:r>
              <a:rPr lang="en-US" dirty="0"/>
              <a:t>then send to back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64E7516A-EF6D-1A45-8147-27BA6599CE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745958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riangle window ph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8FB34F-AFB3-FB22-6CF1-6C96D239CF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88952" cy="6858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2DD5020-0712-DF29-4789-07AE704465D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88952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7625" y="696688"/>
            <a:ext cx="391212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F3ADCCC-FA43-7DCA-36DD-741C471925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441410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71435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419920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420992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420813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4446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2"/>
            <a:ext cx="11277600" cy="56762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636226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636226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C9EA03-FA8F-AD79-F54A-F23726C03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930045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620FF5-63E7-D7A1-E95E-667A3A5A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19154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slate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8AEF62A-DB20-DFA5-60EF-17E3D02917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9235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7759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l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7AF6875-806F-55D2-B677-EBF1DABD07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tx2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7122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5AAFB-5AB3-8043-3405-030A209051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434840" cy="6858000"/>
          </a:xfrm>
          <a:solidFill>
            <a:schemeClr val="bg1">
              <a:lumMod val="95000"/>
            </a:schemeClr>
          </a:solidFill>
        </p:spPr>
        <p:txBody>
          <a:bodyPr tIns="182880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photo here</a:t>
            </a:r>
            <a:br>
              <a:rPr lang="en-US" dirty="0"/>
            </a:br>
            <a:r>
              <a:rPr lang="en-US" dirty="0"/>
              <a:t>4.85”w x 7.5” h </a:t>
            </a:r>
          </a:p>
        </p:txBody>
      </p:sp>
    </p:spTree>
    <p:extLst>
      <p:ext uri="{BB962C8B-B14F-4D97-AF65-F5344CB8AC3E}">
        <p14:creationId xmlns:p14="http://schemas.microsoft.com/office/powerpoint/2010/main" val="28849717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 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B1206E-A64A-F045-95E1-24068C9F08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33888" y="0"/>
            <a:ext cx="7758112" cy="6858000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Insert  photo</a:t>
            </a:r>
            <a:br>
              <a:rPr lang="en-US" dirty="0"/>
            </a:br>
            <a:r>
              <a:rPr lang="en-US" dirty="0"/>
              <a:t>8.48”w x 7.5”h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400FEE-AF2A-4A4C-A689-68AC86084282}"/>
              </a:ext>
            </a:extLst>
          </p:cNvPr>
          <p:cNvSpPr/>
          <p:nvPr userDrawn="1"/>
        </p:nvSpPr>
        <p:spPr>
          <a:xfrm>
            <a:off x="-1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6621137-81BE-E247-928E-3211656239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234979"/>
            <a:ext cx="3679825" cy="31592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Tx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228600" indent="-2222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800">
                <a:solidFill>
                  <a:schemeClr val="bg1"/>
                </a:solidFill>
                <a:latin typeface="+mj-lt"/>
              </a:defRPr>
            </a:lvl2pPr>
            <a:lvl3pPr marL="519113" indent="-2746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3pPr>
            <a:lvl4pPr marL="803275" indent="-2381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4pPr>
            <a:lvl5pPr marL="1085850" indent="-2762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8AB0188-0104-FB47-ADB6-72A9A5869A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021025-6C5D-4AD1-B98F-3B9F05B818B5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27DF11-5732-451F-BDC5-76D509152895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bg1"/>
                </a:solidFill>
              </a:rPr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18016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 userDrawn="1"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023BF8-94F9-4D4F-AE8F-3AB0B07713D0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46650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 userDrawn="1"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 userDrawn="1"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7023BF8-94F9-4D4F-AE8F-3AB0B07713D0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 userDrawn="1"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2841CF6B-CB34-C014-F54E-BC4F141F3BB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54221" y="4427256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EXL solution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 userDrawn="1"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515966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 dirty="0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405EF5-67A3-467C-B557-30C099F3F7D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6659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73797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6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5147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5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2669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757647"/>
            <a:ext cx="11277600" cy="9363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1854927"/>
            <a:ext cx="5638801" cy="412476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900"/>
              </a:spcAft>
              <a:buClr>
                <a:schemeClr val="tx2"/>
              </a:buClr>
              <a:buFont typeface="Arial" panose="020B0604020202020204" pitchFamily="34" charset="0"/>
              <a:buNone/>
              <a:defRPr sz="1600" b="0" i="0">
                <a:solidFill>
                  <a:schemeClr val="tx2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405915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639860"/>
            <a:ext cx="6376317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 dirty="0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639860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7671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12334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1277600" cy="39058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6963"/>
            <a:ext cx="31242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CCCACD6-8279-7A43-AFDE-A51255A0F160}" type="datetime1">
              <a:rPr lang="en-US" smtClean="0"/>
              <a:t>8/12/2026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176963"/>
            <a:ext cx="41148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©2024 ExlService Holdings, Inc.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91600" y="6176963"/>
            <a:ext cx="27432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403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61" r:id="rId3"/>
    <p:sldLayoutId id="2147483675" r:id="rId4"/>
    <p:sldLayoutId id="2147483677" r:id="rId5"/>
    <p:sldLayoutId id="2147483727" r:id="rId6"/>
    <p:sldLayoutId id="2147483678" r:id="rId7"/>
    <p:sldLayoutId id="2147483681" r:id="rId8"/>
    <p:sldLayoutId id="2147483728" r:id="rId9"/>
    <p:sldLayoutId id="2147483685" r:id="rId10"/>
    <p:sldLayoutId id="2147483729" r:id="rId11"/>
    <p:sldLayoutId id="2147483717" r:id="rId12"/>
    <p:sldLayoutId id="2147483731" r:id="rId13"/>
    <p:sldLayoutId id="2147483719" r:id="rId14"/>
    <p:sldLayoutId id="2147483733" r:id="rId15"/>
    <p:sldLayoutId id="2147483734" r:id="rId16"/>
    <p:sldLayoutId id="2147483735" r:id="rId17"/>
    <p:sldLayoutId id="2147483689" r:id="rId18"/>
    <p:sldLayoutId id="2147483736" r:id="rId19"/>
    <p:sldLayoutId id="2147483737" r:id="rId20"/>
    <p:sldLayoutId id="2147483738" r:id="rId21"/>
    <p:sldLayoutId id="2147483739" r:id="rId22"/>
    <p:sldLayoutId id="2147483701" r:id="rId23"/>
    <p:sldLayoutId id="2147483699" r:id="rId24"/>
    <p:sldLayoutId id="2147483741" r:id="rId25"/>
    <p:sldLayoutId id="2147483705" r:id="rId26"/>
    <p:sldLayoutId id="2147483708" r:id="rId27"/>
    <p:sldLayoutId id="2147483709" r:id="rId28"/>
    <p:sldLayoutId id="2147483710" r:id="rId29"/>
    <p:sldLayoutId id="2147483742" r:id="rId3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j-lt"/>
          <a:ea typeface="+mn-ea"/>
          <a:cs typeface="+mn-cs"/>
        </a:defRPr>
      </a:lvl1pPr>
      <a:lvl2pPr marL="515938" indent="-225425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2400" kern="1200">
          <a:solidFill>
            <a:schemeClr val="tx2"/>
          </a:solidFill>
          <a:latin typeface="+mj-lt"/>
          <a:ea typeface="+mn-ea"/>
          <a:cs typeface="+mn-cs"/>
        </a:defRPr>
      </a:lvl2pPr>
      <a:lvl3pPr marL="808038" indent="-225425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2000" kern="1200">
          <a:solidFill>
            <a:schemeClr val="tx2"/>
          </a:solidFill>
          <a:latin typeface="+mj-lt"/>
          <a:ea typeface="+mn-ea"/>
          <a:cs typeface="+mn-cs"/>
        </a:defRPr>
      </a:lvl3pPr>
      <a:lvl4pPr marL="1090613" indent="-23495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1800" kern="1200">
          <a:solidFill>
            <a:schemeClr val="tx2"/>
          </a:solidFill>
          <a:latin typeface="+mj-lt"/>
          <a:ea typeface="+mn-ea"/>
          <a:cs typeface="+mn-cs"/>
        </a:defRPr>
      </a:lvl4pPr>
      <a:lvl5pPr marL="1373188" indent="-27305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1800" kern="1200">
          <a:solidFill>
            <a:schemeClr val="tx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288" userDrawn="1">
          <p15:clr>
            <a:srgbClr val="F26B43"/>
          </p15:clr>
        </p15:guide>
        <p15:guide id="4" pos="7392" userDrawn="1">
          <p15:clr>
            <a:srgbClr val="F26B43"/>
          </p15:clr>
        </p15:guide>
        <p15:guide id="5" orient="horz" pos="4128" userDrawn="1">
          <p15:clr>
            <a:srgbClr val="F26B43"/>
          </p15:clr>
        </p15:guide>
        <p15:guide id="6" orient="horz" pos="288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6BFE8-6D58-5590-A1E7-A2795581D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17B1F9E-08E9-7B40-0BA7-4C99689B9AFB}"/>
              </a:ext>
            </a:extLst>
          </p:cNvPr>
          <p:cNvSpPr/>
          <p:nvPr/>
        </p:nvSpPr>
        <p:spPr>
          <a:xfrm>
            <a:off x="396240" y="708024"/>
            <a:ext cx="11490960" cy="5621655"/>
          </a:xfrm>
          <a:prstGeom prst="roundRect">
            <a:avLst>
              <a:gd name="adj" fmla="val 2714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5A20902-D558-3616-7D89-C7810B01F2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34925"/>
            <a:ext cx="11277600" cy="673100"/>
          </a:xfrm>
        </p:spPr>
        <p:txBody>
          <a:bodyPr anchor="ctr">
            <a:normAutofit/>
          </a:bodyPr>
          <a:lstStyle/>
          <a:p>
            <a:pPr>
              <a:buClr>
                <a:schemeClr val="tx2"/>
              </a:buClr>
            </a:pPr>
            <a:r>
              <a:rPr sz="2400" b="1"/>
              <a:t>CallCenter IQ — Agentic AI for Sales &amp; Service Conversations</a:t>
            </a:r>
            <a:endParaRPr lang="en-US" sz="3200" dirty="0">
              <a:solidFill>
                <a:schemeClr val="tx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568F24-1340-890B-283C-18D9094E11AA}"/>
              </a:ext>
            </a:extLst>
          </p:cNvPr>
          <p:cNvSpPr/>
          <p:nvPr/>
        </p:nvSpPr>
        <p:spPr>
          <a:xfrm>
            <a:off x="457200" y="1412241"/>
            <a:ext cx="2304288" cy="2083876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FE90E587-E904-18F9-76DC-B7FEDB0143D7}"/>
              </a:ext>
            </a:extLst>
          </p:cNvPr>
          <p:cNvSpPr/>
          <p:nvPr/>
        </p:nvSpPr>
        <p:spPr>
          <a:xfrm>
            <a:off x="457200" y="1307465"/>
            <a:ext cx="2304288" cy="264160"/>
          </a:xfrm>
          <a:prstGeom prst="homePlate">
            <a:avLst/>
          </a:prstGeom>
          <a:solidFill>
            <a:srgbClr val="FB4E0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Industry Context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40DAD7-71FF-D89E-C436-22B727959023}"/>
              </a:ext>
            </a:extLst>
          </p:cNvPr>
          <p:cNvSpPr/>
          <p:nvPr/>
        </p:nvSpPr>
        <p:spPr>
          <a:xfrm>
            <a:off x="5171441" y="1412240"/>
            <a:ext cx="6664956" cy="2083876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2FE74FDC-8658-AAF2-AF77-E20A1D6844FE}"/>
              </a:ext>
            </a:extLst>
          </p:cNvPr>
          <p:cNvSpPr/>
          <p:nvPr/>
        </p:nvSpPr>
        <p:spPr>
          <a:xfrm>
            <a:off x="5171441" y="1297305"/>
            <a:ext cx="6664956" cy="274320"/>
          </a:xfrm>
          <a:prstGeom prst="homePlate">
            <a:avLst/>
          </a:prstGeom>
          <a:solidFill>
            <a:srgbClr val="FB4E0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Functional Overview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7D2455-202B-5BC9-D097-90CE3CD4E61D}"/>
              </a:ext>
            </a:extLst>
          </p:cNvPr>
          <p:cNvSpPr/>
          <p:nvPr/>
        </p:nvSpPr>
        <p:spPr>
          <a:xfrm>
            <a:off x="457200" y="3781425"/>
            <a:ext cx="5638800" cy="2489300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BFC4D114-2BF9-7924-89C0-1CC7A9C148CE}"/>
              </a:ext>
            </a:extLst>
          </p:cNvPr>
          <p:cNvSpPr/>
          <p:nvPr/>
        </p:nvSpPr>
        <p:spPr>
          <a:xfrm>
            <a:off x="457200" y="3623945"/>
            <a:ext cx="5638800" cy="274320"/>
          </a:xfrm>
          <a:prstGeom prst="homePlate">
            <a:avLst/>
          </a:prstGeom>
          <a:solidFill>
            <a:srgbClr val="FB4E0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Technological Highlights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171A88-D920-B434-5E26-372F07F2B9BC}"/>
              </a:ext>
            </a:extLst>
          </p:cNvPr>
          <p:cNvSpPr/>
          <p:nvPr/>
        </p:nvSpPr>
        <p:spPr>
          <a:xfrm>
            <a:off x="6187440" y="3781425"/>
            <a:ext cx="5638800" cy="2489300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3DC75C66-12C8-AFD3-EDE1-0F23F1D280D0}"/>
              </a:ext>
            </a:extLst>
          </p:cNvPr>
          <p:cNvSpPr/>
          <p:nvPr/>
        </p:nvSpPr>
        <p:spPr>
          <a:xfrm>
            <a:off x="6187440" y="3623945"/>
            <a:ext cx="5638800" cy="274320"/>
          </a:xfrm>
          <a:prstGeom prst="homePlate">
            <a:avLst/>
          </a:prstGeom>
          <a:solidFill>
            <a:srgbClr val="FB4E0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Business Impact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9F0FD8-FB77-46DF-CFA2-83ED823E713E}"/>
              </a:ext>
            </a:extLst>
          </p:cNvPr>
          <p:cNvSpPr txBox="1"/>
          <p:nvPr/>
        </p:nvSpPr>
        <p:spPr>
          <a:xfrm>
            <a:off x="457200" y="1584960"/>
            <a:ext cx="2286000" cy="120032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200"/>
              </a:spcAft>
            </a:pPr>
            <a:r>
              <a:rPr sz="700" b="1">
                <a:solidFill>
                  <a:srgbClr val="000000"/>
                </a:solidFill>
              </a:rPr>
              <a:t>Industry: </a:t>
            </a:r>
            <a:r>
              <a:rPr sz="700" b="0">
                <a:solidFill>
                  <a:srgbClr val="000000"/>
                </a:solidFill>
              </a:rPr>
              <a:t>built on an Insurance &amp; Healthcare application, but not tied to it — it fits any contact centre whose agents speak directly to prospects or members.</a:t>
            </a:r>
          </a:p>
          <a:p>
            <a:pPr>
              <a:spcAft>
                <a:spcPts val="200"/>
              </a:spcAft>
            </a:pPr>
            <a:r>
              <a:rPr sz="700" b="1">
                <a:solidFill>
                  <a:srgbClr val="000000"/>
                </a:solidFill>
              </a:rPr>
              <a:t>Trends: </a:t>
            </a:r>
            <a:r>
              <a:rPr sz="700" b="0">
                <a:solidFill>
                  <a:srgbClr val="000000"/>
                </a:solidFill>
              </a:rPr>
              <a:t>speech-to-text and language models are now cheap and fast enough to run on every call rather than a sampled review, while regulators tighten what may be said on a sales call.</a:t>
            </a:r>
          </a:p>
          <a:p>
            <a:pPr>
              <a:spcAft>
                <a:spcPts val="200"/>
              </a:spcAft>
            </a:pPr>
            <a:r>
              <a:rPr sz="700" b="1">
                <a:solidFill>
                  <a:srgbClr val="000000"/>
                </a:solidFill>
              </a:rPr>
              <a:t>Compliance exposure: </a:t>
            </a:r>
            <a:r>
              <a:rPr sz="700" b="0">
                <a:solidFill>
                  <a:srgbClr val="000000"/>
                </a:solidFill>
              </a:rPr>
              <a:t>violations surface only when a transcript is read, days or weeks later — by then the cost is remediation, penalties and reputational damage.</a:t>
            </a:r>
          </a:p>
          <a:p>
            <a:pPr>
              <a:spcAft>
                <a:spcPts val="200"/>
              </a:spcAft>
            </a:pPr>
            <a:r>
              <a:rPr sz="700" b="1">
                <a:solidFill>
                  <a:srgbClr val="000000"/>
                </a:solidFill>
              </a:rPr>
              <a:t>Copilot, not chatbot: </a:t>
            </a:r>
            <a:r>
              <a:rPr sz="700" b="0">
                <a:solidFill>
                  <a:srgbClr val="000000"/>
                </a:solidFill>
              </a:rPr>
              <a:t>the AI works symbiotically with the application — reading live data, driving the screens, filling records and placing calls for the agent.</a:t>
            </a:r>
          </a:p>
          <a:p>
            <a:pPr>
              <a:spcAft>
                <a:spcPts val="200"/>
              </a:spcAft>
            </a:pPr>
            <a:r>
              <a:rPr sz="700" b="1">
                <a:solidFill>
                  <a:srgbClr val="000000"/>
                </a:solidFill>
              </a:rPr>
              <a:t>Use case: </a:t>
            </a:r>
            <a:r>
              <a:rPr sz="700" b="0">
                <a:solidFill>
                  <a:srgbClr val="000000"/>
                </a:solidFill>
              </a:rPr>
              <a:t>a live AI layer that assists the agent while they work, and flags a breach while they are still speaking.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1A7B6D-0398-0FE8-CDD1-599D469B52B2}"/>
              </a:ext>
            </a:extLst>
          </p:cNvPr>
          <p:cNvSpPr/>
          <p:nvPr/>
        </p:nvSpPr>
        <p:spPr>
          <a:xfrm>
            <a:off x="2814320" y="1412240"/>
            <a:ext cx="2306320" cy="2086809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6D2A01FF-BF42-9E31-AAC9-F28CD4D6A924}"/>
              </a:ext>
            </a:extLst>
          </p:cNvPr>
          <p:cNvSpPr/>
          <p:nvPr/>
        </p:nvSpPr>
        <p:spPr>
          <a:xfrm>
            <a:off x="2814320" y="1307465"/>
            <a:ext cx="2306320" cy="274320"/>
          </a:xfrm>
          <a:prstGeom prst="homePlate">
            <a:avLst/>
          </a:prstGeom>
          <a:solidFill>
            <a:srgbClr val="FB4E0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Client’s business problems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90F0C8-F93E-B121-BC3F-E8A586A3B1F6}"/>
              </a:ext>
            </a:extLst>
          </p:cNvPr>
          <p:cNvSpPr txBox="1"/>
          <p:nvPr/>
        </p:nvSpPr>
        <p:spPr>
          <a:xfrm>
            <a:off x="2824480" y="1624975"/>
            <a:ext cx="2221942" cy="64633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200"/>
              </a:spcAft>
            </a:pPr>
            <a:r>
              <a:rPr sz="700" b="1">
                <a:solidFill>
                  <a:srgbClr val="000000"/>
                </a:solidFill>
              </a:rPr>
              <a:t>Compliance after the fact. </a:t>
            </a:r>
            <a:r>
              <a:rPr sz="700" b="0">
                <a:solidFill>
                  <a:srgbClr val="000000"/>
                </a:solidFill>
              </a:rPr>
              <a:t>By the time a transcript is read, the words are said and the exposure is booked.</a:t>
            </a:r>
          </a:p>
          <a:p>
            <a:pPr>
              <a:spcAft>
                <a:spcPts val="200"/>
              </a:spcAft>
            </a:pPr>
            <a:r>
              <a:rPr sz="700" b="1">
                <a:solidFill>
                  <a:srgbClr val="000000"/>
                </a:solidFill>
              </a:rPr>
              <a:t>QA from a sample. </a:t>
            </a:r>
            <a:r>
              <a:rPr sz="700" b="0">
                <a:solidFill>
                  <a:srgbClr val="000000"/>
                </a:solidFill>
              </a:rPr>
              <a:t>A handful of calls per agent are reviewed; the standard lives in each reviewer's head, so scoring drifts.</a:t>
            </a:r>
          </a:p>
          <a:p>
            <a:pPr>
              <a:spcAft>
                <a:spcPts val="200"/>
              </a:spcAft>
            </a:pPr>
            <a:r>
              <a:rPr sz="700" b="1">
                <a:solidFill>
                  <a:srgbClr val="000000"/>
                </a:solidFill>
              </a:rPr>
              <a:t>Ramp-up on live prospects. </a:t>
            </a:r>
            <a:r>
              <a:rPr sz="700" b="0">
                <a:solidFill>
                  <a:srgbClr val="000000"/>
                </a:solidFill>
              </a:rPr>
              <a:t>A new agent's first hard call is a real one, with a real compliance obligation.</a:t>
            </a:r>
          </a:p>
          <a:p>
            <a:pPr>
              <a:spcAft>
                <a:spcPts val="200"/>
              </a:spcAft>
            </a:pPr>
            <a:r>
              <a:rPr sz="700" b="1">
                <a:solidFill>
                  <a:srgbClr val="000000"/>
                </a:solidFill>
              </a:rPr>
              <a:t>Missed calls become lost leads. </a:t>
            </a:r>
            <a:r>
              <a:rPr sz="700" b="0">
                <a:solidFill>
                  <a:srgbClr val="000000"/>
                </a:solidFill>
              </a:rPr>
              <a:t>Prospects dial when every agent is busy or off-shift, and the lead dies on a twenty-second ring.</a:t>
            </a:r>
          </a:p>
          <a:p>
            <a:pPr>
              <a:spcAft>
                <a:spcPts val="200"/>
              </a:spcAft>
            </a:pPr>
            <a:r>
              <a:rPr sz="700" b="1">
                <a:solidFill>
                  <a:srgbClr val="000000"/>
                </a:solidFill>
              </a:rPr>
              <a:t>The screen competes with the customer. </a:t>
            </a:r>
            <a:r>
              <a:rPr sz="700" b="0">
                <a:solidFill>
                  <a:srgbClr val="000000"/>
                </a:solidFill>
              </a:rPr>
              <a:t>Agents type through the call instead of listening — and an assistant that only pushes text back adds one more thing to read.</a:t>
            </a:r>
          </a:p>
          <a:p>
            <a:pPr>
              <a:spcAft>
                <a:spcPts val="200"/>
              </a:spcAft>
            </a:pPr>
            <a:r>
              <a:rPr sz="700" b="1">
                <a:solidFill>
                  <a:srgbClr val="000000"/>
                </a:solidFill>
              </a:rPr>
              <a:t>AI cost can't be traced. </a:t>
            </a:r>
            <a:r>
              <a:rPr sz="700" b="0">
                <a:solidFill>
                  <a:srgbClr val="000000"/>
                </a:solidFill>
              </a:rPr>
              <a:t>Spend arrives as one vendor invoice — no per-call or per-agent figure to manage against.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2916F6-A4BF-2416-AF79-0554EA5D6206}"/>
              </a:ext>
            </a:extLst>
          </p:cNvPr>
          <p:cNvSpPr txBox="1"/>
          <p:nvPr/>
        </p:nvSpPr>
        <p:spPr>
          <a:xfrm>
            <a:off x="5182989" y="1624975"/>
            <a:ext cx="6654106" cy="18774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</a:rPr>
              <a:t>The Solution: </a:t>
            </a:r>
            <a:r>
              <a:rPr sz="800" b="0">
                <a:solidFill>
                  <a:srgbClr val="000000"/>
                </a:solidFill>
              </a:rPr>
              <a:t>CallCenter IQ adds a real-time AI layer over the sales and service conversation itself — three pillars on one pipeline. (1) An </a:t>
            </a:r>
            <a:r>
              <a:rPr sz="800" b="1">
                <a:solidFill>
                  <a:srgbClr val="000000"/>
                </a:solidFill>
              </a:rPr>
              <a:t>Agentic Copilot</a:t>
            </a:r>
            <a:r>
              <a:rPr sz="800" b="0">
                <a:solidFill>
                  <a:srgbClr val="000000"/>
                </a:solidFill>
              </a:rPr>
              <a:t> with 23 governed tools that answers from live business data, drives the UI, drafts emails and record updates for one-click approval, and places calls from natural language. (2) </a:t>
            </a:r>
            <a:r>
              <a:rPr sz="800" b="1">
                <a:solidFill>
                  <a:srgbClr val="000000"/>
                </a:solidFill>
              </a:rPr>
              <a:t>Real-Time Conversation Intelligence</a:t>
            </a:r>
            <a:r>
              <a:rPr sz="800" b="0">
                <a:solidFill>
                  <a:srgbClr val="000000"/>
                </a:solidFill>
              </a:rPr>
              <a:t> — live transcription, two-layer compliance (deterministic rules in under a second, plus an AI layer that catches paraphrased violations), sentiment-shift detection and proactive coaching. (3) A </a:t>
            </a:r>
            <a:r>
              <a:rPr sz="800" b="1">
                <a:solidFill>
                  <a:srgbClr val="000000"/>
                </a:solidFill>
              </a:rPr>
              <a:t>Supervisor Command Centre &amp; AI Governance</a:t>
            </a:r>
            <a:r>
              <a:rPr sz="800" b="0">
                <a:solidFill>
                  <a:srgbClr val="000000"/>
                </a:solidFill>
              </a:rPr>
              <a:t> where business users edit compliance rules, coaching rules and QA scoring criteria with no deployment. A voice agent also answers inbound calls on hand-over, ring-timeout or out-of-hours — disclosing that it is automated, building the customer record mid-call and booking the callback.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</a:rPr>
              <a:t>How it works: </a:t>
            </a:r>
            <a:r>
              <a:rPr sz="800" b="0">
                <a:solidFill>
                  <a:srgbClr val="000000"/>
                </a:solidFill>
              </a:rPr>
              <a:t>call audio streams to Deepgram for speaker-separated transcription; one merged, schema-validated LLM call per 15-second window produces sentiment, coaching and compliance together for predictable cost and latency; hybrid RAG (BM25 + vector, RRF-fused over Qdrant) grounds every answer in live plan, provider, pharmacy and CRM data so the model never guesses; results stream to agent and supervisor screens over SSE. If the LLM drops, rules continue, the UI shows "AI degraded", and a self-healing probe restores service. Every AI interaction is logged with model, tokens, latency and output.</a:t>
            </a:r>
          </a:p>
          <a:p>
            <a:pPr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</a:rPr>
              <a:t>Fit with EXL sales: </a:t>
            </a:r>
            <a:r>
              <a:rPr sz="800" b="0">
                <a:solidFill>
                  <a:srgbClr val="000000"/>
                </a:solidFill>
              </a:rPr>
              <a:t>EXL runs customer-facing operations for regulated clients at scale — this differentiates every one of those pursuits. It lands as an add-on layer over an existing contact centre (no rip-and-replace), turns compliance and QA into a demonstrable auditable control, and gives sales a live POC to demo in the room.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0D16CA-572C-744B-8AAF-DBDEF574D554}"/>
              </a:ext>
            </a:extLst>
          </p:cNvPr>
          <p:cNvSpPr txBox="1"/>
          <p:nvPr/>
        </p:nvSpPr>
        <p:spPr>
          <a:xfrm>
            <a:off x="477521" y="3957321"/>
            <a:ext cx="5638799" cy="13849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200"/>
              </a:spcAft>
            </a:pPr>
            <a:r>
              <a:rPr sz="850" b="1">
                <a:solidFill>
                  <a:srgbClr val="000000"/>
                </a:solidFill>
              </a:rPr>
              <a:t>Core technologies: </a:t>
            </a:r>
            <a:r>
              <a:rPr sz="850" b="0">
                <a:solidFill>
                  <a:srgbClr val="000000"/>
                </a:solidFill>
              </a:rPr>
              <a:t>React 19 / TypeScript SPA; Node 20 + Express 5 API; LangGraph tool-using agent (23 tools); Claude via OpenRouter for reasoning; Deepgram streaming STT; Qdrant vector DB with nomic-embed-text embeddings; MongoDB; Twilio programmable voice with bidirectional media streams; Cloudflare tunnel + Caddy gateway; containerised and cloud-portable.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200"/>
              </a:spcAft>
            </a:pPr>
            <a:r>
              <a:rPr sz="850" b="1">
                <a:solidFill>
                  <a:srgbClr val="000000"/>
                </a:solidFill>
              </a:rPr>
              <a:t>Innovation factor: </a:t>
            </a:r>
            <a:r>
              <a:rPr sz="850" b="0">
                <a:solidFill>
                  <a:srgbClr val="000000"/>
                </a:solidFill>
              </a:rPr>
              <a:t>compliance and coaching enforced </a:t>
            </a:r>
            <a:r>
              <a:rPr sz="850" b="1">
                <a:solidFill>
                  <a:srgbClr val="000000"/>
                </a:solidFill>
              </a:rPr>
              <a:t>during</a:t>
            </a:r>
            <a:r>
              <a:rPr sz="850" b="0">
                <a:solidFill>
                  <a:srgbClr val="000000"/>
                </a:solidFill>
              </a:rPr>
              <a:t> the call, not after it; two-layer detection (instant rules + AI for paraphrase) so nothing is traded off between speed and nuance; no-code AI governance — business users, not engineers, own the rules and QA criteria, effective on the very next call; graceful degradation so the operation never depends on the model being up.</a:t>
            </a:r>
          </a:p>
          <a:p>
            <a:pPr>
              <a:spcAft>
                <a:spcPts val="200"/>
              </a:spcAft>
            </a:pPr>
            <a:r>
              <a:rPr sz="850" b="1">
                <a:solidFill>
                  <a:srgbClr val="000000"/>
                </a:solidFill>
              </a:rPr>
              <a:t>Scalability: </a:t>
            </a:r>
            <a:r>
              <a:rPr sz="850" b="0">
                <a:solidFill>
                  <a:srgbClr val="000000"/>
                </a:solidFill>
              </a:rPr>
              <a:t>cost-engineered by design — one merged structured LLM call per 15-second window, prompt caching and typed outputs keep cost per call predictable as volume grows. Stateless containerised API scales horizontally; per-call and per-user cost telemetry projects spend to a 100-agent workforce from real usage logs.</a:t>
            </a:r>
          </a:p>
          <a:p>
            <a:pPr>
              <a:spcAft>
                <a:spcPts val="200"/>
              </a:spcAft>
            </a:pPr>
            <a:r>
              <a:rPr sz="850" b="1">
                <a:solidFill>
                  <a:srgbClr val="000000"/>
                </a:solidFill>
              </a:rPr>
              <a:t>Integration: </a:t>
            </a:r>
            <a:r>
              <a:rPr sz="850" b="0">
                <a:solidFill>
                  <a:srgbClr val="000000"/>
                </a:solidFill>
              </a:rPr>
              <a:t>REST + SSE surfaces and a governed tool layer sit over existing CRM, telephony and master data — the AI calls the same tools whether it is on chat or voice. Identity is injected server-side, never chosen by the model; a disabled capability is withheld from the AI rather than discouraged in a prompt.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5C384A-1D7A-A3D4-2B36-CF15B9DFAD37}"/>
              </a:ext>
            </a:extLst>
          </p:cNvPr>
          <p:cNvSpPr txBox="1"/>
          <p:nvPr/>
        </p:nvSpPr>
        <p:spPr>
          <a:xfrm>
            <a:off x="6197598" y="3964503"/>
            <a:ext cx="5638799" cy="230832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200"/>
              </a:spcAft>
            </a:pPr>
            <a:r>
              <a:rPr sz="850" b="1">
                <a:solidFill>
                  <a:srgbClr val="000000"/>
                </a:solidFill>
              </a:rPr>
              <a:t>Revenue streams: </a:t>
            </a:r>
            <a:r>
              <a:rPr sz="850" b="0">
                <a:solidFill>
                  <a:srgbClr val="000000"/>
                </a:solidFill>
              </a:rPr>
              <a:t>per-agent-seat subscription for the copilot and conversation intelligence; per-minute or per-call pricing for automated inbound handling; an outcome-linked QA &amp; compliance tier; and — the largest for EXL — it strengthens BPO/BPaaS deals by bundling a differentiated AI layer into managed-operations pricing.</a:t>
            </a:r>
          </a:p>
          <a:p>
            <a:pPr>
              <a:spcAft>
                <a:spcPts val="200"/>
              </a:spcAft>
            </a:pPr>
            <a:r>
              <a:rPr sz="850" b="1">
                <a:solidFill>
                  <a:srgbClr val="000000"/>
                </a:solidFill>
              </a:rPr>
              <a:t>Customer / stakeholder value: </a:t>
            </a:r>
            <a:r>
              <a:rPr sz="850" b="0">
                <a:solidFill>
                  <a:srgbClr val="000000"/>
                </a:solidFill>
              </a:rPr>
              <a:t>agents get their hours back for people ready to talk; supervisors are effectively present on every live call rather than a sampled handful; compliance teams get evidence-quoted scorecards on 100% of conversations with a full audit trail; CFOs get per-call cost attribution instead of a single opaque invoice; and business owners can change the rules themselves without a release cycle.</a:t>
            </a:r>
          </a:p>
          <a:p>
            <a:pPr>
              <a:spcAft>
                <a:spcPts val="200"/>
              </a:spcAft>
            </a:pPr>
            <a:r>
              <a:rPr sz="850" b="1">
                <a:solidFill>
                  <a:srgbClr val="000000"/>
                </a:solidFill>
              </a:rPr>
              <a:t>Potential impact: </a:t>
            </a:r>
            <a:r>
              <a:rPr sz="850" b="0">
                <a:solidFill>
                  <a:srgbClr val="000000"/>
                </a:solidFill>
              </a:rPr>
              <a:t>captured leads that would otherwise die unanswered on ring-out and out-of-hours; QA coverage moves from a reviewed sample to every call; violations are caught in the moment rather than weeks later, reducing remediation and regulatory exposure; new-agent ramp shortens because coaching and hands-free data capture arrive from day one; supervisor span of control widens without added headcount.</a:t>
            </a:r>
          </a:p>
          <a:p>
            <a:pPr>
              <a:spcAft>
                <a:spcPts val="200"/>
              </a:spcAft>
            </a:pPr>
            <a:r>
              <a:rPr sz="850" b="1">
                <a:solidFill>
                  <a:srgbClr val="000000"/>
                </a:solidFill>
              </a:rPr>
              <a:t>Cost structure: </a:t>
            </a:r>
            <a:r>
              <a:rPr sz="850" b="0">
                <a:solidFill>
                  <a:srgbClr val="000000"/>
                </a:solidFill>
              </a:rPr>
              <a:t>dominant variable cost is LLM and STT usage per call minute — already measured and attributable in the platform; fixed costs are container hosting, Qdrant and MongoDB. The POC runs today on commodity cloud infrastructure with open-source components, so the build investment is incremental engineering rather than new licensing.</a:t>
            </a:r>
          </a:p>
        </p:txBody>
      </p:sp>
    </p:spTree>
    <p:extLst>
      <p:ext uri="{BB962C8B-B14F-4D97-AF65-F5344CB8AC3E}">
        <p14:creationId xmlns:p14="http://schemas.microsoft.com/office/powerpoint/2010/main" val="2900283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XL 2023">
      <a:dk1>
        <a:srgbClr val="000000"/>
      </a:dk1>
      <a:lt1>
        <a:srgbClr val="FFFFFF"/>
      </a:lt1>
      <a:dk2>
        <a:srgbClr val="FB4D0A"/>
      </a:dk2>
      <a:lt2>
        <a:srgbClr val="FFFFFF"/>
      </a:lt2>
      <a:accent1>
        <a:srgbClr val="2E3643"/>
      </a:accent1>
      <a:accent2>
        <a:srgbClr val="6D727B"/>
      </a:accent2>
      <a:accent3>
        <a:srgbClr val="005071"/>
      </a:accent3>
      <a:accent4>
        <a:srgbClr val="4D849B"/>
      </a:accent4>
      <a:accent5>
        <a:srgbClr val="DCF3FA"/>
      </a:accent5>
      <a:accent6>
        <a:srgbClr val="E6F6FB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3" id="{75DB2D68-EB8A-4D47-9097-25EC9E13C876}" vid="{0310C97A-7711-40A4-A3F2-58B78CFBECD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</Template>
  <TotalTime>1585</TotalTime>
  <Words>301</Words>
  <Application>Microsoft Office PowerPoint</Application>
  <PresentationFormat>Widescreen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System Font Regular</vt:lpstr>
      <vt:lpstr>Office Theme</vt:lpstr>
      <vt:lpstr>Idea Title</vt:lpstr>
    </vt:vector>
  </TitlesOfParts>
  <Company>EXL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Innovation Sprint</dc:title>
  <dc:creator>Grace Singh</dc:creator>
  <cp:lastModifiedBy>Vinayak Chopra</cp:lastModifiedBy>
  <cp:revision>31</cp:revision>
  <dcterms:created xsi:type="dcterms:W3CDTF">2024-06-06T10:38:18Z</dcterms:created>
  <dcterms:modified xsi:type="dcterms:W3CDTF">2026-08-12T13:42:41Z</dcterms:modified>
</cp:coreProperties>
</file>