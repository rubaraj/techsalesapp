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notesSlides/notesSlide1_b.xml" ContentType="application/vnd.openxmlformats-officedocument.presentationml.notesSlide+xml"/>
  <Override PartName="/ppt/notesSlides/notesSlide10_b.xml" ContentType="application/vnd.openxmlformats-officedocument.presentationml.notesSlide+xml"/>
  <Override PartName="/ppt/notesSlides/notesSlide11_b.xml" ContentType="application/vnd.openxmlformats-officedocument.presentationml.notesSlide+xml"/>
  <Override PartName="/ppt/notesSlides/notesSlide12_b.xml" ContentType="application/vnd.openxmlformats-officedocument.presentationml.notesSlide+xml"/>
  <Override PartName="/ppt/notesSlides/notesSlide13_b.xml" ContentType="application/vnd.openxmlformats-officedocument.presentationml.notesSlide+xml"/>
  <Override PartName="/ppt/notesSlides/notesSlide2_b.xml" ContentType="application/vnd.openxmlformats-officedocument.presentationml.notesSlide+xml"/>
  <Override PartName="/ppt/notesSlides/notesSlide3_b.xml" ContentType="application/vnd.openxmlformats-officedocument.presentationml.notesSlide+xml"/>
  <Override PartName="/ppt/notesSlides/notesSlide4_b.xml" ContentType="application/vnd.openxmlformats-officedocument.presentationml.notesSlide+xml"/>
  <Override PartName="/ppt/notesSlides/notesSlide5_b.xml" ContentType="application/vnd.openxmlformats-officedocument.presentationml.notesSlide+xml"/>
  <Override PartName="/ppt/notesSlides/notesSlide6_b.xml" ContentType="application/vnd.openxmlformats-officedocument.presentationml.notesSlide+xml"/>
  <Override PartName="/ppt/notesSlides/notesSlide7_b.xml" ContentType="application/vnd.openxmlformats-officedocument.presentationml.notesSlide+xml"/>
  <Override PartName="/ppt/notesSlides/notesSlide8_b.xml" ContentType="application/vnd.openxmlformats-officedocument.presentationml.notesSlide+xml"/>
  <Override PartName="/ppt/notesSlides/notesSlide9_b.xml" ContentType="application/vnd.openxmlformats-officedocument.presentationml.notesSlide+xml"/>
  <Override PartName="/ppt/slideLayouts/slideLayout1_b.xml" ContentType="application/vnd.openxmlformats-officedocument.presentationml.slideLayout+xml"/>
  <Override PartName="/ppt/slideMasters/slideMaster1_b.xml" ContentType="application/vnd.openxmlformats-officedocument.presentationml.slideMaster+xml"/>
  <Override PartName="/ppt/slides/slide1_b.xml" ContentType="application/vnd.openxmlformats-officedocument.presentationml.slide+xml"/>
  <Override PartName="/ppt/slides/slide10_b.xml" ContentType="application/vnd.openxmlformats-officedocument.presentationml.slide+xml"/>
  <Override PartName="/ppt/slides/slide11_b.xml" ContentType="application/vnd.openxmlformats-officedocument.presentationml.slide+xml"/>
  <Override PartName="/ppt/slides/slide12_b.xml" ContentType="application/vnd.openxmlformats-officedocument.presentationml.slide+xml"/>
  <Override PartName="/ppt/slides/slide13_b.xml" ContentType="application/vnd.openxmlformats-officedocument.presentationml.slide+xml"/>
  <Override PartName="/ppt/slides/slide2_b.xml" ContentType="application/vnd.openxmlformats-officedocument.presentationml.slide+xml"/>
  <Override PartName="/ppt/slides/slide3_b.xml" ContentType="application/vnd.openxmlformats-officedocument.presentationml.slide+xml"/>
  <Override PartName="/ppt/slides/slide4_b.xml" ContentType="application/vnd.openxmlformats-officedocument.presentationml.slide+xml"/>
  <Override PartName="/ppt/slides/slide5_b.xml" ContentType="application/vnd.openxmlformats-officedocument.presentationml.slide+xml"/>
  <Override PartName="/ppt/slides/slide6_b.xml" ContentType="application/vnd.openxmlformats-officedocument.presentationml.slide+xml"/>
  <Override PartName="/ppt/slides/slide7_b.xml" ContentType="application/vnd.openxmlformats-officedocument.presentationml.slide+xml"/>
  <Override PartName="/ppt/slides/slide8_b.xml" ContentType="application/vnd.openxmlformats-officedocument.presentationml.slide+xml"/>
  <Override PartName="/ppt/slides/slide9_b.xml" ContentType="application/vnd.openxmlformats-officedocument.presentationml.slide+xml"/>
  <Override PartName="/ppt/theme/theme1_b.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81" r:id="rId2"/>
    <p:sldMasterId id="2147483682" r:id="rId17"/>
  </p:sldMasterIdLst>
  <p:notesMasterIdLst>
    <p:notesMasterId r:id="rId10"/>
  </p:notesMasterIdLst>
  <p:sldIdLst>
    <p:sldId id="2147474090" r:id="rId3"/>
    <p:sldId id="257" r:id="rId4"/>
    <p:sldId id="259" r:id="rId5"/>
    <p:sldId id="260" r:id="rId6"/>
    <p:sldId id="262" r:id="rId7"/>
    <p:sldId id="263" r:id="rId8"/>
    <p:sldId id="264" r:id="rId9"/>
    <p:sldId id="2147474091" r:id="rId18"/>
    <p:sldId id="2147474092" r:id="rId19"/>
    <p:sldId id="2147474093" r:id="rId20"/>
    <p:sldId id="2147474094" r:id="rId21"/>
    <p:sldId id="2147474095" r:id="rId22"/>
    <p:sldId id="2147474096" r:id="rId23"/>
    <p:sldId id="2147474097" r:id="rId24"/>
    <p:sldId id="2147474098" r:id="rId25"/>
    <p:sldId id="2147474099" r:id="rId26"/>
    <p:sldId id="2147474100" r:id="rId27"/>
    <p:sldId id="2147474101" r:id="rId28"/>
    <p:sldId id="2147474102" r:id="rId29"/>
    <p:sldId id="2147474103"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1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4CC805-E335-4D58-8E28-345773987620}" v="8" dt="2026-08-12T10:25:20.5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Master" Target="slideMasters/slideMaster1_b.xml"/><Relationship Id="rId18" Type="http://schemas.openxmlformats.org/officeDocument/2006/relationships/slide" Target="slides/slide1_b.xml"/><Relationship Id="rId19" Type="http://schemas.openxmlformats.org/officeDocument/2006/relationships/slide" Target="slides/slide2_b.xml"/><Relationship Id="rId20" Type="http://schemas.openxmlformats.org/officeDocument/2006/relationships/slide" Target="slides/slide3_b.xml"/><Relationship Id="rId21" Type="http://schemas.openxmlformats.org/officeDocument/2006/relationships/slide" Target="slides/slide4_b.xml"/><Relationship Id="rId22" Type="http://schemas.openxmlformats.org/officeDocument/2006/relationships/slide" Target="slides/slide5_b.xml"/><Relationship Id="rId23" Type="http://schemas.openxmlformats.org/officeDocument/2006/relationships/slide" Target="slides/slide6_b.xml"/><Relationship Id="rId24" Type="http://schemas.openxmlformats.org/officeDocument/2006/relationships/slide" Target="slides/slide7_b.xml"/><Relationship Id="rId25" Type="http://schemas.openxmlformats.org/officeDocument/2006/relationships/slide" Target="slides/slide8_b.xml"/><Relationship Id="rId26" Type="http://schemas.openxmlformats.org/officeDocument/2006/relationships/slide" Target="slides/slide9_b.xml"/><Relationship Id="rId27" Type="http://schemas.openxmlformats.org/officeDocument/2006/relationships/slide" Target="slides/slide10_b.xml"/><Relationship Id="rId28" Type="http://schemas.openxmlformats.org/officeDocument/2006/relationships/slide" Target="slides/slide11_b.xml"/><Relationship Id="rId29" Type="http://schemas.openxmlformats.org/officeDocument/2006/relationships/slide" Target="slides/slide12_b.xml"/><Relationship Id="rId30" Type="http://schemas.openxmlformats.org/officeDocument/2006/relationships/slide" Target="slides/slide13_b.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ak Chopra" userId="ae75b830-3825-4053-b001-31c1e484de6e" providerId="ADAL" clId="{07E23E91-0C82-4FE9-B4F0-00D6CE322762}"/>
    <pc:docChg chg="custSel addSld delSld modSld modMainMaster">
      <pc:chgData name="Vinayak Chopra" userId="ae75b830-3825-4053-b001-31c1e484de6e" providerId="ADAL" clId="{07E23E91-0C82-4FE9-B4F0-00D6CE322762}" dt="2026-08-12T13:29:21.713" v="104" actId="20577"/>
      <pc:docMkLst>
        <pc:docMk/>
      </pc:docMkLst>
      <pc:sldChg chg="del">
        <pc:chgData name="Vinayak Chopra" userId="ae75b830-3825-4053-b001-31c1e484de6e" providerId="ADAL" clId="{07E23E91-0C82-4FE9-B4F0-00D6CE322762}" dt="2026-08-12T10:06:43.806" v="30" actId="47"/>
        <pc:sldMkLst>
          <pc:docMk/>
          <pc:sldMk cId="0" sldId="256"/>
        </pc:sldMkLst>
      </pc:sldChg>
      <pc:sldChg chg="delSp modSp mod">
        <pc:chgData name="Vinayak Chopra" userId="ae75b830-3825-4053-b001-31c1e484de6e" providerId="ADAL" clId="{07E23E91-0C82-4FE9-B4F0-00D6CE322762}" dt="2026-08-12T13:29:21.713" v="104" actId="20577"/>
        <pc:sldMkLst>
          <pc:docMk/>
          <pc:sldMk cId="0" sldId="257"/>
        </pc:sldMkLst>
        <pc:spChg chg="mod">
          <ac:chgData name="Vinayak Chopra" userId="ae75b830-3825-4053-b001-31c1e484de6e" providerId="ADAL" clId="{07E23E91-0C82-4FE9-B4F0-00D6CE322762}" dt="2026-08-12T13:29:21.713" v="104" actId="20577"/>
          <ac:spMkLst>
            <pc:docMk/>
            <pc:sldMk cId="0" sldId="257"/>
            <ac:spMk id="9" creationId="{00000000-0000-0000-0000-000000000000}"/>
          </ac:spMkLst>
        </pc:spChg>
        <pc:spChg chg="del">
          <ac:chgData name="Vinayak Chopra" userId="ae75b830-3825-4053-b001-31c1e484de6e" providerId="ADAL" clId="{07E23E91-0C82-4FE9-B4F0-00D6CE322762}" dt="2026-08-12T10:07:38.355" v="54" actId="478"/>
          <ac:spMkLst>
            <pc:docMk/>
            <pc:sldMk cId="0" sldId="257"/>
            <ac:spMk id="14" creationId="{00000000-0000-0000-0000-000000000000}"/>
          </ac:spMkLst>
        </pc:spChg>
      </pc:sldChg>
      <pc:sldChg chg="delSp del mod modShow">
        <pc:chgData name="Vinayak Chopra" userId="ae75b830-3825-4053-b001-31c1e484de6e" providerId="ADAL" clId="{07E23E91-0C82-4FE9-B4F0-00D6CE322762}" dt="2026-08-12T11:27:30.020" v="69" actId="2696"/>
        <pc:sldMkLst>
          <pc:docMk/>
          <pc:sldMk cId="0" sldId="258"/>
        </pc:sldMkLst>
        <pc:spChg chg="del">
          <ac:chgData name="Vinayak Chopra" userId="ae75b830-3825-4053-b001-31c1e484de6e" providerId="ADAL" clId="{07E23E91-0C82-4FE9-B4F0-00D6CE322762}" dt="2026-08-12T10:07:53.507" v="56" actId="478"/>
          <ac:spMkLst>
            <pc:docMk/>
            <pc:sldMk cId="0" sldId="258"/>
            <ac:spMk id="16" creationId="{00000000-0000-0000-0000-000000000000}"/>
          </ac:spMkLst>
        </pc:spChg>
      </pc:sldChg>
      <pc:sldChg chg="delSp modSp mod">
        <pc:chgData name="Vinayak Chopra" userId="ae75b830-3825-4053-b001-31c1e484de6e" providerId="ADAL" clId="{07E23E91-0C82-4FE9-B4F0-00D6CE322762}" dt="2026-08-12T11:27:35.882" v="71" actId="20577"/>
        <pc:sldMkLst>
          <pc:docMk/>
          <pc:sldMk cId="0" sldId="259"/>
        </pc:sldMkLst>
        <pc:spChg chg="mod">
          <ac:chgData name="Vinayak Chopra" userId="ae75b830-3825-4053-b001-31c1e484de6e" providerId="ADAL" clId="{07E23E91-0C82-4FE9-B4F0-00D6CE322762}" dt="2026-08-12T11:27:35.882" v="71" actId="20577"/>
          <ac:spMkLst>
            <pc:docMk/>
            <pc:sldMk cId="0" sldId="259"/>
            <ac:spMk id="2" creationId="{00000000-0000-0000-0000-000000000000}"/>
          </ac:spMkLst>
        </pc:spChg>
        <pc:spChg chg="del">
          <ac:chgData name="Vinayak Chopra" userId="ae75b830-3825-4053-b001-31c1e484de6e" providerId="ADAL" clId="{07E23E91-0C82-4FE9-B4F0-00D6CE322762}" dt="2026-08-12T10:07:58.762" v="57" actId="478"/>
          <ac:spMkLst>
            <pc:docMk/>
            <pc:sldMk cId="0" sldId="259"/>
            <ac:spMk id="26" creationId="{00000000-0000-0000-0000-000000000000}"/>
          </ac:spMkLst>
        </pc:spChg>
      </pc:sldChg>
      <pc:sldChg chg="delSp modSp mod">
        <pc:chgData name="Vinayak Chopra" userId="ae75b830-3825-4053-b001-31c1e484de6e" providerId="ADAL" clId="{07E23E91-0C82-4FE9-B4F0-00D6CE322762}" dt="2026-08-12T11:27:39.431" v="73" actId="20577"/>
        <pc:sldMkLst>
          <pc:docMk/>
          <pc:sldMk cId="0" sldId="260"/>
        </pc:sldMkLst>
        <pc:spChg chg="mod">
          <ac:chgData name="Vinayak Chopra" userId="ae75b830-3825-4053-b001-31c1e484de6e" providerId="ADAL" clId="{07E23E91-0C82-4FE9-B4F0-00D6CE322762}" dt="2026-08-12T11:27:39.431" v="73" actId="20577"/>
          <ac:spMkLst>
            <pc:docMk/>
            <pc:sldMk cId="0" sldId="260"/>
            <ac:spMk id="2" creationId="{00000000-0000-0000-0000-000000000000}"/>
          </ac:spMkLst>
        </pc:spChg>
        <pc:spChg chg="del">
          <ac:chgData name="Vinayak Chopra" userId="ae75b830-3825-4053-b001-31c1e484de6e" providerId="ADAL" clId="{07E23E91-0C82-4FE9-B4F0-00D6CE322762}" dt="2026-08-12T10:08:07.795" v="58" actId="478"/>
          <ac:spMkLst>
            <pc:docMk/>
            <pc:sldMk cId="0" sldId="260"/>
            <ac:spMk id="18" creationId="{00000000-0000-0000-0000-000000000000}"/>
          </ac:spMkLst>
        </pc:spChg>
      </pc:sldChg>
      <pc:sldChg chg="delSp del mod modShow">
        <pc:chgData name="Vinayak Chopra" userId="ae75b830-3825-4053-b001-31c1e484de6e" providerId="ADAL" clId="{07E23E91-0C82-4FE9-B4F0-00D6CE322762}" dt="2026-08-12T11:27:26.448" v="68" actId="2696"/>
        <pc:sldMkLst>
          <pc:docMk/>
          <pc:sldMk cId="0" sldId="261"/>
        </pc:sldMkLst>
        <pc:spChg chg="del">
          <ac:chgData name="Vinayak Chopra" userId="ae75b830-3825-4053-b001-31c1e484de6e" providerId="ADAL" clId="{07E23E91-0C82-4FE9-B4F0-00D6CE322762}" dt="2026-08-12T10:08:16.783" v="59" actId="478"/>
          <ac:spMkLst>
            <pc:docMk/>
            <pc:sldMk cId="0" sldId="261"/>
            <ac:spMk id="24" creationId="{00000000-0000-0000-0000-000000000000}"/>
          </ac:spMkLst>
        </pc:spChg>
      </pc:sldChg>
      <pc:sldChg chg="delSp modSp mod">
        <pc:chgData name="Vinayak Chopra" userId="ae75b830-3825-4053-b001-31c1e484de6e" providerId="ADAL" clId="{07E23E91-0C82-4FE9-B4F0-00D6CE322762}" dt="2026-08-12T11:27:57.023" v="90" actId="20577"/>
        <pc:sldMkLst>
          <pc:docMk/>
          <pc:sldMk cId="0" sldId="262"/>
        </pc:sldMkLst>
        <pc:spChg chg="mod">
          <ac:chgData name="Vinayak Chopra" userId="ae75b830-3825-4053-b001-31c1e484de6e" providerId="ADAL" clId="{07E23E91-0C82-4FE9-B4F0-00D6CE322762}" dt="2026-08-12T11:27:57.023" v="90" actId="20577"/>
          <ac:spMkLst>
            <pc:docMk/>
            <pc:sldMk cId="0" sldId="262"/>
            <ac:spMk id="2" creationId="{00000000-0000-0000-0000-000000000000}"/>
          </ac:spMkLst>
        </pc:spChg>
        <pc:spChg chg="del">
          <ac:chgData name="Vinayak Chopra" userId="ae75b830-3825-4053-b001-31c1e484de6e" providerId="ADAL" clId="{07E23E91-0C82-4FE9-B4F0-00D6CE322762}" dt="2026-08-12T10:08:24.221" v="60" actId="478"/>
          <ac:spMkLst>
            <pc:docMk/>
            <pc:sldMk cId="0" sldId="262"/>
            <ac:spMk id="20" creationId="{00000000-0000-0000-0000-000000000000}"/>
          </ac:spMkLst>
        </pc:spChg>
      </pc:sldChg>
      <pc:sldChg chg="delSp modSp mod">
        <pc:chgData name="Vinayak Chopra" userId="ae75b830-3825-4053-b001-31c1e484de6e" providerId="ADAL" clId="{07E23E91-0C82-4FE9-B4F0-00D6CE322762}" dt="2026-08-12T11:28:19.805" v="96" actId="20577"/>
        <pc:sldMkLst>
          <pc:docMk/>
          <pc:sldMk cId="0" sldId="263"/>
        </pc:sldMkLst>
        <pc:spChg chg="mod">
          <ac:chgData name="Vinayak Chopra" userId="ae75b830-3825-4053-b001-31c1e484de6e" providerId="ADAL" clId="{07E23E91-0C82-4FE9-B4F0-00D6CE322762}" dt="2026-08-12T11:28:19.805" v="96" actId="20577"/>
          <ac:spMkLst>
            <pc:docMk/>
            <pc:sldMk cId="0" sldId="263"/>
            <ac:spMk id="2" creationId="{00000000-0000-0000-0000-000000000000}"/>
          </ac:spMkLst>
        </pc:spChg>
        <pc:spChg chg="del">
          <ac:chgData name="Vinayak Chopra" userId="ae75b830-3825-4053-b001-31c1e484de6e" providerId="ADAL" clId="{07E23E91-0C82-4FE9-B4F0-00D6CE322762}" dt="2026-08-12T10:08:38.026" v="62" actId="478"/>
          <ac:spMkLst>
            <pc:docMk/>
            <pc:sldMk cId="0" sldId="263"/>
            <ac:spMk id="16" creationId="{00000000-0000-0000-0000-000000000000}"/>
          </ac:spMkLst>
        </pc:spChg>
      </pc:sldChg>
      <pc:sldChg chg="delSp modSp mod">
        <pc:chgData name="Vinayak Chopra" userId="ae75b830-3825-4053-b001-31c1e484de6e" providerId="ADAL" clId="{07E23E91-0C82-4FE9-B4F0-00D6CE322762}" dt="2026-08-12T11:28:23.952" v="98" actId="20577"/>
        <pc:sldMkLst>
          <pc:docMk/>
          <pc:sldMk cId="0" sldId="264"/>
        </pc:sldMkLst>
        <pc:spChg chg="mod">
          <ac:chgData name="Vinayak Chopra" userId="ae75b830-3825-4053-b001-31c1e484de6e" providerId="ADAL" clId="{07E23E91-0C82-4FE9-B4F0-00D6CE322762}" dt="2026-08-12T11:28:23.952" v="98" actId="20577"/>
          <ac:spMkLst>
            <pc:docMk/>
            <pc:sldMk cId="0" sldId="264"/>
            <ac:spMk id="2" creationId="{00000000-0000-0000-0000-000000000000}"/>
          </ac:spMkLst>
        </pc:spChg>
        <pc:spChg chg="del">
          <ac:chgData name="Vinayak Chopra" userId="ae75b830-3825-4053-b001-31c1e484de6e" providerId="ADAL" clId="{07E23E91-0C82-4FE9-B4F0-00D6CE322762}" dt="2026-08-12T10:08:31.210" v="61" actId="478"/>
          <ac:spMkLst>
            <pc:docMk/>
            <pc:sldMk cId="0" sldId="264"/>
            <ac:spMk id="17" creationId="{00000000-0000-0000-0000-000000000000}"/>
          </ac:spMkLst>
        </pc:spChg>
      </pc:sldChg>
      <pc:sldChg chg="delSp del mod modShow">
        <pc:chgData name="Vinayak Chopra" userId="ae75b830-3825-4053-b001-31c1e484de6e" providerId="ADAL" clId="{07E23E91-0C82-4FE9-B4F0-00D6CE322762}" dt="2026-08-12T11:27:21.849" v="67" actId="2696"/>
        <pc:sldMkLst>
          <pc:docMk/>
          <pc:sldMk cId="0" sldId="265"/>
        </pc:sldMkLst>
        <pc:spChg chg="del">
          <ac:chgData name="Vinayak Chopra" userId="ae75b830-3825-4053-b001-31c1e484de6e" providerId="ADAL" clId="{07E23E91-0C82-4FE9-B4F0-00D6CE322762}" dt="2026-08-12T10:08:45.159" v="63" actId="478"/>
          <ac:spMkLst>
            <pc:docMk/>
            <pc:sldMk cId="0" sldId="265"/>
            <ac:spMk id="38" creationId="{00000000-0000-0000-0000-000000000000}"/>
          </ac:spMkLst>
        </pc:spChg>
      </pc:sldChg>
      <pc:sldChg chg="modSp del">
        <pc:chgData name="Vinayak Chopra" userId="ae75b830-3825-4053-b001-31c1e484de6e" providerId="ADAL" clId="{07E23E91-0C82-4FE9-B4F0-00D6CE322762}" dt="2026-08-12T10:07:40.433" v="55" actId="47"/>
        <pc:sldMkLst>
          <pc:docMk/>
          <pc:sldMk cId="3118879877" sldId="2147474089"/>
        </pc:sldMkLst>
        <pc:spChg chg="mod">
          <ac:chgData name="Vinayak Chopra" userId="ae75b830-3825-4053-b001-31c1e484de6e" providerId="ADAL" clId="{07E23E91-0C82-4FE9-B4F0-00D6CE322762}" dt="2026-08-12T10:07:11.461" v="52"/>
          <ac:spMkLst>
            <pc:docMk/>
            <pc:sldMk cId="3118879877" sldId="2147474089"/>
            <ac:spMk id="4" creationId="{48B3C534-FAED-A1BA-A35B-47B2B09ACDAE}"/>
          </ac:spMkLst>
        </pc:spChg>
      </pc:sldChg>
      <pc:sldChg chg="modSp new mod">
        <pc:chgData name="Vinayak Chopra" userId="ae75b830-3825-4053-b001-31c1e484de6e" providerId="ADAL" clId="{07E23E91-0C82-4FE9-B4F0-00D6CE322762}" dt="2026-08-12T10:06:50.530" v="51" actId="20577"/>
        <pc:sldMkLst>
          <pc:docMk/>
          <pc:sldMk cId="2226253077" sldId="2147474090"/>
        </pc:sldMkLst>
        <pc:spChg chg="mod">
          <ac:chgData name="Vinayak Chopra" userId="ae75b830-3825-4053-b001-31c1e484de6e" providerId="ADAL" clId="{07E23E91-0C82-4FE9-B4F0-00D6CE322762}" dt="2026-08-12T10:06:50.530" v="51" actId="20577"/>
          <ac:spMkLst>
            <pc:docMk/>
            <pc:sldMk cId="2226253077" sldId="2147474090"/>
            <ac:spMk id="2" creationId="{B164B619-41E6-3EC5-BED3-4E431A370388}"/>
          </ac:spMkLst>
        </pc:spChg>
        <pc:spChg chg="mod">
          <ac:chgData name="Vinayak Chopra" userId="ae75b830-3825-4053-b001-31c1e484de6e" providerId="ADAL" clId="{07E23E91-0C82-4FE9-B4F0-00D6CE322762}" dt="2026-08-12T10:06:34.369" v="29" actId="20577"/>
          <ac:spMkLst>
            <pc:docMk/>
            <pc:sldMk cId="2226253077" sldId="2147474090"/>
            <ac:spMk id="3" creationId="{E9188A95-265D-6486-662A-193FF82B051E}"/>
          </ac:spMkLst>
        </pc:spChg>
      </pc:sldChg>
      <pc:sldMasterChg chg="modSldLayout">
        <pc:chgData name="Vinayak Chopra" userId="ae75b830-3825-4053-b001-31c1e484de6e" providerId="ADAL" clId="{07E23E91-0C82-4FE9-B4F0-00D6CE322762}" dt="2026-08-12T10:07:24.603" v="53" actId="22"/>
        <pc:sldMasterMkLst>
          <pc:docMk/>
          <pc:sldMasterMk cId="4062608439" sldId="2147483681"/>
        </pc:sldMasterMkLst>
        <pc:sldLayoutChg chg="addSp mod">
          <pc:chgData name="Vinayak Chopra" userId="ae75b830-3825-4053-b001-31c1e484de6e" providerId="ADAL" clId="{07E23E91-0C82-4FE9-B4F0-00D6CE322762}" dt="2026-08-12T10:07:24.603" v="53" actId="22"/>
          <pc:sldLayoutMkLst>
            <pc:docMk/>
            <pc:sldMasterMk cId="4062608439" sldId="2147483681"/>
            <pc:sldLayoutMk cId="4043130791" sldId="2147483712"/>
          </pc:sldLayoutMkLst>
          <pc:spChg chg="add">
            <ac:chgData name="Vinayak Chopra" userId="ae75b830-3825-4053-b001-31c1e484de6e" providerId="ADAL" clId="{07E23E91-0C82-4FE9-B4F0-00D6CE322762}" dt="2026-08-12T10:07:24.603" v="53" actId="22"/>
            <ac:spMkLst>
              <pc:docMk/>
              <pc:sldMasterMk cId="4062608439" sldId="2147483681"/>
              <pc:sldLayoutMk cId="4043130791" sldId="2147483712"/>
              <ac:spMk id="5" creationId="{C4170704-99A4-6D39-B6D4-ACC22B80E6A6}"/>
            </ac:spMkLst>
          </pc:spChg>
          <pc:spChg chg="add">
            <ac:chgData name="Vinayak Chopra" userId="ae75b830-3825-4053-b001-31c1e484de6e" providerId="ADAL" clId="{07E23E91-0C82-4FE9-B4F0-00D6CE322762}" dt="2026-08-12T10:07:24.603" v="53" actId="22"/>
            <ac:spMkLst>
              <pc:docMk/>
              <pc:sldMasterMk cId="4062608439" sldId="2147483681"/>
              <pc:sldLayoutMk cId="4043130791" sldId="2147483712"/>
              <ac:spMk id="7" creationId="{0B89C1DE-9F44-FEE0-CEC9-2F039E22727D}"/>
            </ac:spMkLst>
          </pc:spChg>
          <pc:picChg chg="add">
            <ac:chgData name="Vinayak Chopra" userId="ae75b830-3825-4053-b001-31c1e484de6e" providerId="ADAL" clId="{07E23E91-0C82-4FE9-B4F0-00D6CE322762}" dt="2026-08-12T10:07:24.603" v="53" actId="22"/>
            <ac:picMkLst>
              <pc:docMk/>
              <pc:sldMasterMk cId="4062608439" sldId="2147483681"/>
              <pc:sldLayoutMk cId="4043130791" sldId="2147483712"/>
              <ac:picMk id="3" creationId="{E0AC088D-5C3F-38FC-2F05-0274CDA25FF8}"/>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345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_b.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_b.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_b.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_b.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_b.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_b.xml"/></Relationships>
</file>

<file path=ppt/notesSlides/_rels/notesSlide7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_b.xml"/></Relationships>
</file>

<file path=ppt/notesSlides/_rels/notesSlide8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_b.xml"/></Relationships>
</file>

<file path=ppt/notesSlides/_rels/notesSlide9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_b.xml"/></Relationships>
</file>

<file path=ppt/notesSlides/_rels/notesSlide10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_b.xml"/></Relationships>
</file>

<file path=ppt/notesSlides/_rels/notesSlide11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_b.xml"/></Relationships>
</file>

<file path=ppt/notesSlides/_rels/notesSlide12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_b.xml"/></Relationships>
</file>

<file path=ppt/notesSlides/_rels/notesSlide13_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_b.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Center Intel is a working POC of three AI capability sets for any customer-facing sales or service operation. Everything shown runs today on a reference tele-sales implementation — the vertical is configuration, not code. This is a capabilities showcase, not a domain product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problems and the capability answering each. Top row: calls that go unanswered plus the hours agents lose to callbacks, re-dials and list-working — AI now covers both directions of that workload; compliance and coaching that arrive after the call is over; quality judged from a tiny sample against an unwritten standard. Bottom row: ramp-up happening on live prospects with no measurement of readiness; and AI spend that cannot be attributed per call or projected to a workforce. Every one is a cost already being paid. The boundary holds throughout — the AI gathers, prepares and measures; the licensed human advises and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capability pillars on one pipeline. Design stance: human-in-the-loop by default — every AI write is a proposal a person approves — with Auto-Pilot as an explicit opt-in where the customer's policy allows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 is the agentic copilot embedded in the application: full tool use over live business data, UI navigation, drafted actions behind human approval (or Auto-Pilot where policy allows), voice commands to place calls, live entity capture that stages new records, and automatic caller identification with a disambiguation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2 is the conversation intelligence layer. Deterministic rules give sub-second inline compliance alerts; an AI review layer catches paraphrased violations; sentiment shifts and behavioral coaching rules fire proactively. Cost engineering: one merged structured LLM call per 15-second window covers sentiment, coaching, and compliance review together; rule engines are free. Graceful degradation with a self-healing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is the command center plus governance. Live monitoring with instant mid-call backfill and events pinned to their trigger lines. The governance story: business users own the compliance rules, coaching rules, and the QA scoring criteria themselves from admin screens — no deployment. On-demand scoring produces evidence-quoted scorecards, and every AI interaction is fully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flow: disclose, recognise returning callers, converse naturally, perform live lookups, create and save the record mid-call, schedule the callback, hand off cleanly. The caller experiences a conversation; the system ends with a record, a booking, and a transcript. On engineering: every system call is time-capped so a slow backend never leaves dead air, and anything captured late in the call is reconciled onto the record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 one slide. Grounding: answers come from live system lookups through the same governed tool layer as the chat copilot, and identity is injected server-side so the AI can never act as anyone but the agent it answers for. Record building: fields populate on screen and save mid-call, free text is matched to master-data catalogs as structured links, unmatched detail is preserved in notes and flagged for human verification, and returning callers enrich the existing record rather than duplicating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Takeover is seamless in three senses: the agent watches the live transcript and can take over mid-sentence, the customer experiences one continuous call, and one record spans both halves so QA and compliance run across the whole conversation. Four guardrails hold throughout: mandatory disclosure, facts-not-advice, no sensitive identifiers, and off-means-off. Then the deliberate scope boundary — no outbound AI calling, no AI recommendations; the AI gathers and prepares, the licensed human advises and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in three shifts: compliance risk falls because violations are caught in the moment on every call rather than in a sampled review; agents ramp faster with real-time coaching and hands-free capture; supervisors scale to effective presence on every call with AI they govern themselves. Close on the one-liner.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invitation slide. Three worked examples — financial services, retail/telecom, collections — and a fourth card for the audience: bring your rules, your playbook, your criteria; the pillars stay the same. End by asking which pillar would move the needle first in their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reusability argument: the platform is six domain-agnostic building blocks. Configurable rules engines, structured LLM outputs, real-time event streaming, human-in-the-loop approval, a tool-using agent framework, and audit/cost telemetry. A new vertical means new data model and rule content — the AI layer is already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_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the full deployment path of the reference implementation. Clients through the Cloudflare edge; Twilio carries calls and streams media; a containerized, cloud-portable app server hosts the tunnel connector, gateway, API, agentic AI layer, and real-time analysis; Deepgram and Claude (via OpenRouter) as external AI services; Ollama, Qdrant, and MongoDB on-host for embeddings, hybrid RAG, and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_b.xml.rels><?xml version='1.0' encoding='UTF-8' standalone='yes'?>
<Relationships xmlns="http://schemas.openxmlformats.org/package/2006/relationships"><Relationship Id="rId1" Type="http://schemas.openxmlformats.org/officeDocument/2006/relationships/slideMaster" Target="../slideMasters/slideMaster1_b.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2384109575"/>
      </p:ext>
    </p:extLst>
  </p:cSld>
  <p:clrMapOvr>
    <a:overrideClrMapping bg1="dk1" tx1="lt1" bg2="dk2" tx2="lt2" accent1="accent1" accent2="accent2" accent3="accent3" accent4="accent4" accent5="accent5" accent6="accent6" hlink="hlink" folHlink="folHlink"/>
  </p:clrMapOvr>
</p:sldLayout>
</file>

<file path=ppt/slideLayouts/slideLayout1_b.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388102093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7590883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  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76254011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10936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81164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376245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23284876"/>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9935956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33523650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024852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726571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51077146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54845337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48924486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702511"/>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951361513"/>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509938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585882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519653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1530276"/>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193487972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674267236"/>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403843713"/>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114469299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34039959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82936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6}"/>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304700343"/>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6}"/>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168738129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5"/>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639860"/>
            <a:ext cx="6376317" cy="182358"/>
          </a:xfrm>
        </p:spPr>
        <p:txBody>
          <a:bodyPr>
            <a:noAutofit/>
          </a:bodyPr>
          <a:lstStyle>
            <a:lvl1pPr algn="r">
              <a:defRPr sz="800"/>
            </a:lvl1pPr>
          </a:lstStyle>
          <a:p>
            <a:r>
              <a:rPr lang="en-US"/>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0"/>
            <a:ext cx="481556" cy="182358"/>
          </a:xfrm>
        </p:spPr>
        <p:txBody>
          <a:bodyPr>
            <a:noAutofit/>
          </a:bodyPr>
          <a:lstStyle>
            <a:lvl1pPr algn="l">
              <a:defRPr sz="800"/>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373631029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100802301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250185509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35440438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35567414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018554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580031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2116188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94198458"/>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4652385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0493619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099235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8682982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882113361"/>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68844469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51899132"/>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512228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81322873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173160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3713271"/>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6503373"/>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985244"/>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264141858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2218573677"/>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547814993"/>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p:nvSpPr>
        <p:spPr>
          <a:xfrm>
            <a:off x="8955344" y="645799"/>
            <a:ext cx="2945230" cy="769441"/>
          </a:xfrm>
          <a:prstGeom prst="rect">
            <a:avLst/>
          </a:prstGeom>
          <a:noFill/>
        </p:spPr>
        <p:txBody>
          <a:bodyPr wrap="none" rtlCol="0">
            <a:spAutoFit/>
          </a:bodyPr>
          <a:lstStyle/>
          <a:p>
            <a:r>
              <a:rPr lang="en-US" sz="440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3695503537"/>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184950696"/>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0904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2734556920"/>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409063596"/>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66B39-7429-FECB-C856-10FBD328EB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45EA5A-4D9B-B37D-0C28-EF9CEDFB47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ABD9EA-7C74-6F64-4C57-6A986327CEF9}"/>
              </a:ext>
            </a:extLst>
          </p:cNvPr>
          <p:cNvSpPr>
            <a:spLocks noGrp="1"/>
          </p:cNvSpPr>
          <p:nvPr>
            <p:ph type="dt" sz="half" idx="10"/>
          </p:nvPr>
        </p:nvSpPr>
        <p:spPr/>
        <p:txBody>
          <a:bodyPr/>
          <a:lstStyle/>
          <a:p>
            <a:fld id="{2761D5B2-7168-4F15-A039-2A61F3B5166B}" type="datetimeFigureOut">
              <a:rPr lang="en-IN" smtClean="0"/>
              <a:t>12-08-2026</a:t>
            </a:fld>
            <a:endParaRPr lang="en-IN"/>
          </a:p>
        </p:txBody>
      </p:sp>
      <p:sp>
        <p:nvSpPr>
          <p:cNvPr id="5" name="Footer Placeholder 4">
            <a:extLst>
              <a:ext uri="{FF2B5EF4-FFF2-40B4-BE49-F238E27FC236}">
                <a16:creationId xmlns:a16="http://schemas.microsoft.com/office/drawing/2014/main" id="{7A496A33-4108-EAE0-DD74-E71ECDA53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CF3A5-A999-88AE-5B87-B6481FA3E3E7}"/>
              </a:ext>
            </a:extLst>
          </p:cNvPr>
          <p:cNvSpPr>
            <a:spLocks noGrp="1"/>
          </p:cNvSpPr>
          <p:nvPr>
            <p:ph type="sldNum" sz="quarter" idx="12"/>
          </p:nvPr>
        </p:nvSpPr>
        <p:spPr/>
        <p:txBody>
          <a:bodyPr/>
          <a:lstStyle/>
          <a:p>
            <a:fld id="{F0DA1BE7-A8B1-4AA5-8C20-D4EAC50DEC72}" type="slidenum">
              <a:rPr lang="en-IN" smtClean="0"/>
              <a:t>‹#›</a:t>
            </a:fld>
            <a:endParaRPr lang="en-IN"/>
          </a:p>
        </p:txBody>
      </p:sp>
    </p:spTree>
    <p:extLst>
      <p:ext uri="{BB962C8B-B14F-4D97-AF65-F5344CB8AC3E}">
        <p14:creationId xmlns:p14="http://schemas.microsoft.com/office/powerpoint/2010/main" val="1348559668"/>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AC088D-5C3F-38FC-2F05-0274CDA25FF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Box 4">
            <a:extLst>
              <a:ext uri="{FF2B5EF4-FFF2-40B4-BE49-F238E27FC236}">
                <a16:creationId xmlns:a16="http://schemas.microsoft.com/office/drawing/2014/main" id="{C4170704-99A4-6D39-B6D4-ACC22B80E6A6}"/>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©2026 ExlService Holdings, Inc. All rights reserved.</a:t>
            </a:r>
          </a:p>
        </p:txBody>
      </p:sp>
      <p:sp>
        <p:nvSpPr>
          <p:cNvPr id="7" name="TextBox 6">
            <a:extLst>
              <a:ext uri="{FF2B5EF4-FFF2-40B4-BE49-F238E27FC236}">
                <a16:creationId xmlns:a16="http://schemas.microsoft.com/office/drawing/2014/main" id="{0B89C1DE-9F44-FEE0-CEC9-2F039E22727D}"/>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40431307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1_b.xml.rels><?xml version='1.0' encoding='UTF-8' standalone='yes'?>
<Relationships xmlns="http://schemas.openxmlformats.org/package/2006/relationships"><Relationship Id="rId1" Type="http://schemas.openxmlformats.org/officeDocument/2006/relationships/slideLayout" Target="../slideLayouts/slideLayout1_b.xml"/><Relationship Id="rId2" Type="http://schemas.openxmlformats.org/officeDocument/2006/relationships/theme" Target="../theme/theme1_b.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8/12/2026</a:t>
            </a:fld>
            <a:endParaRPr lang="en-US"/>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a:t>©2026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354780300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Masters/slideMaster1_b.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2761D5B2-7168-4F15-A039-2A61F3B5166B}" type="datetimeFigureOut">
              <a:rPr lang="en-IN" smtClean="0"/>
              <a:t>12-08-2026</a:t>
            </a:fld>
            <a:endParaRPr lang="en-IN"/>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endParaRPr lang="en-IN"/>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F0DA1BE7-A8B1-4AA5-8C20-D4EAC50DEC72}" type="slidenum">
              <a:rPr lang="en-IN" smtClean="0"/>
              <a:t>‹#›</a:t>
            </a:fld>
            <a:endParaRPr lang="en-IN"/>
          </a:p>
        </p:txBody>
      </p:sp>
    </p:spTree>
    <p:extLst>
      <p:ext uri="{BB962C8B-B14F-4D97-AF65-F5344CB8AC3E}">
        <p14:creationId xmlns:p14="http://schemas.microsoft.com/office/powerpoint/2010/main" val="406260843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7392">
          <p15:clr>
            <a:srgbClr val="F26B43"/>
          </p15:clr>
        </p15:guide>
        <p15:guide id="5" orient="horz" pos="4128">
          <p15:clr>
            <a:srgbClr val="F26B43"/>
          </p15:clr>
        </p15:guide>
        <p15:guide id="6" orient="horz" pos="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_b.xml.rels><?xml version='1.0' encoding='UTF-8' standalone='yes'?>
<Relationships xmlns="http://schemas.openxmlformats.org/package/2006/relationships"><Relationship Id="rId1" Type="http://schemas.openxmlformats.org/officeDocument/2006/relationships/image" Target="../media/image-1-1_b.png"/><Relationship Id="rId2" Type="http://schemas.openxmlformats.org/officeDocument/2006/relationships/image" Target="../media/image-1-2_b.png"/><Relationship Id="rId3" Type="http://schemas.openxmlformats.org/officeDocument/2006/relationships/image" Target="../media/image-1-3_b.png"/><Relationship Id="rId4" Type="http://schemas.openxmlformats.org/officeDocument/2006/relationships/image" Target="../media/image-1-4_b.png"/><Relationship Id="rId5" Type="http://schemas.openxmlformats.org/officeDocument/2006/relationships/slideLayout" Target="../slideLayouts/slideLayout1_b.xml"/><Relationship Id="rId6" Type="http://schemas.openxmlformats.org/officeDocument/2006/relationships/notesSlide" Target="../notesSlides/notesSlide1_b.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xml"/></Relationships>
</file>

<file path=ppt/slides/_rels/slide2_b.xml.rels><?xml version='1.0' encoding='UTF-8' standalone='yes'?>
<Relationships xmlns="http://schemas.openxmlformats.org/package/2006/relationships"><Relationship Id="rId1" Type="http://schemas.openxmlformats.org/officeDocument/2006/relationships/image" Target="../media/image-2-1_b.png"/><Relationship Id="rId2" Type="http://schemas.openxmlformats.org/officeDocument/2006/relationships/image" Target="../media/image-2-2_b.png"/><Relationship Id="rId3" Type="http://schemas.openxmlformats.org/officeDocument/2006/relationships/image" Target="../media/image-2-3_b.png"/><Relationship Id="rId4" Type="http://schemas.openxmlformats.org/officeDocument/2006/relationships/image" Target="../media/image-2-4_b.png"/><Relationship Id="rId5" Type="http://schemas.openxmlformats.org/officeDocument/2006/relationships/image" Target="../media/image-2-5_b.png"/><Relationship Id="rId6" Type="http://schemas.openxmlformats.org/officeDocument/2006/relationships/slideLayout" Target="../slideLayouts/slideLayout1_b.xml"/><Relationship Id="rId7" Type="http://schemas.openxmlformats.org/officeDocument/2006/relationships/notesSlide" Target="../notesSlides/notesSlide2_b.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xml"/></Relationships>
</file>

<file path=ppt/slides/_rels/slide3_b.xml.rels><?xml version='1.0' encoding='UTF-8' standalone='yes'?>
<Relationships xmlns="http://schemas.openxmlformats.org/package/2006/relationships"><Relationship Id="rId1" Type="http://schemas.openxmlformats.org/officeDocument/2006/relationships/image" Target="../media/image-3-1_b.png"/><Relationship Id="rId2" Type="http://schemas.openxmlformats.org/officeDocument/2006/relationships/image" Target="../media/image-3-2_b.png"/><Relationship Id="rId3" Type="http://schemas.openxmlformats.org/officeDocument/2006/relationships/image" Target="../media/image-3-3_b.png"/><Relationship Id="rId4" Type="http://schemas.openxmlformats.org/officeDocument/2006/relationships/image" Target="../media/image-3-4_b.png"/><Relationship Id="rId5" Type="http://schemas.openxmlformats.org/officeDocument/2006/relationships/slideLayout" Target="../slideLayouts/slideLayout1_b.xml"/><Relationship Id="rId6" Type="http://schemas.openxmlformats.org/officeDocument/2006/relationships/notesSlide" Target="../notesSlides/notesSlide3_b.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xml"/></Relationships>
</file>

<file path=ppt/slides/_rels/slide4_b.xml.rels><?xml version='1.0' encoding='UTF-8' standalone='yes'?>
<Relationships xmlns="http://schemas.openxmlformats.org/package/2006/relationships"><Relationship Id="rId1" Type="http://schemas.openxmlformats.org/officeDocument/2006/relationships/image" Target="../media/image-4-1_b.png"/><Relationship Id="rId2" Type="http://schemas.openxmlformats.org/officeDocument/2006/relationships/image" Target="../media/image-4-2_b.png"/><Relationship Id="rId3" Type="http://schemas.openxmlformats.org/officeDocument/2006/relationships/image" Target="../media/image-4-3_b.png"/><Relationship Id="rId4" Type="http://schemas.openxmlformats.org/officeDocument/2006/relationships/image" Target="../media/image-4-4_b.png"/><Relationship Id="rId5" Type="http://schemas.openxmlformats.org/officeDocument/2006/relationships/image" Target="../media/image-4-5_b.png"/><Relationship Id="rId6" Type="http://schemas.openxmlformats.org/officeDocument/2006/relationships/image" Target="../media/image-4-6_b.png"/><Relationship Id="rId7" Type="http://schemas.openxmlformats.org/officeDocument/2006/relationships/image" Target="../media/image-4-7_b.png"/><Relationship Id="rId8" Type="http://schemas.openxmlformats.org/officeDocument/2006/relationships/slideLayout" Target="../slideLayouts/slideLayout1_b.xml"/><Relationship Id="rId9" Type="http://schemas.openxmlformats.org/officeDocument/2006/relationships/notesSlide" Target="../notesSlides/notesSlide4_b.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_b.xml.rels><?xml version='1.0' encoding='UTF-8' standalone='yes'?>
<Relationships xmlns="http://schemas.openxmlformats.org/package/2006/relationships"><Relationship Id="rId1" Type="http://schemas.openxmlformats.org/officeDocument/2006/relationships/image" Target="../media/image-5-1_b.png"/><Relationship Id="rId2" Type="http://schemas.openxmlformats.org/officeDocument/2006/relationships/image" Target="../media/image-5-2_b.png"/><Relationship Id="rId3" Type="http://schemas.openxmlformats.org/officeDocument/2006/relationships/image" Target="../media/image-5-3_b.png"/><Relationship Id="rId4" Type="http://schemas.openxmlformats.org/officeDocument/2006/relationships/image" Target="../media/image-5-4_b.png"/><Relationship Id="rId5" Type="http://schemas.openxmlformats.org/officeDocument/2006/relationships/image" Target="../media/image-5-5_b.png"/><Relationship Id="rId6" Type="http://schemas.openxmlformats.org/officeDocument/2006/relationships/image" Target="../media/image-5-6_b.png"/><Relationship Id="rId7" Type="http://schemas.openxmlformats.org/officeDocument/2006/relationships/image" Target="../media/image-5-7_b.png"/><Relationship Id="rId8" Type="http://schemas.openxmlformats.org/officeDocument/2006/relationships/image" Target="../media/image-5-8_b.png"/><Relationship Id="rId9" Type="http://schemas.openxmlformats.org/officeDocument/2006/relationships/slideLayout" Target="../slideLayouts/slideLayout1_b.xml"/><Relationship Id="rId10" Type="http://schemas.openxmlformats.org/officeDocument/2006/relationships/notesSlide" Target="../notesSlides/notesSlide5_b.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xml"/></Relationships>
</file>

<file path=ppt/slides/_rels/slide6_b.xml.rels><?xml version='1.0' encoding='UTF-8' standalone='yes'?>
<Relationships xmlns="http://schemas.openxmlformats.org/package/2006/relationships"><Relationship Id="rId1" Type="http://schemas.openxmlformats.org/officeDocument/2006/relationships/image" Target="../media/image-6-1_b.png"/><Relationship Id="rId2" Type="http://schemas.openxmlformats.org/officeDocument/2006/relationships/image" Target="../media/image-6-2_b.png"/><Relationship Id="rId3" Type="http://schemas.openxmlformats.org/officeDocument/2006/relationships/image" Target="../media/image-6-3_b.png"/><Relationship Id="rId4" Type="http://schemas.openxmlformats.org/officeDocument/2006/relationships/image" Target="../media/image-6-4_b.png"/><Relationship Id="rId5" Type="http://schemas.openxmlformats.org/officeDocument/2006/relationships/image" Target="../media/image-6-5_b.png"/><Relationship Id="rId6" Type="http://schemas.openxmlformats.org/officeDocument/2006/relationships/image" Target="../media/image-6-6_b.png"/><Relationship Id="rId7" Type="http://schemas.openxmlformats.org/officeDocument/2006/relationships/image" Target="../media/image-6-7_b.png"/><Relationship Id="rId8" Type="http://schemas.openxmlformats.org/officeDocument/2006/relationships/slideLayout" Target="../slideLayouts/slideLayout1_b.xml"/><Relationship Id="rId9" Type="http://schemas.openxmlformats.org/officeDocument/2006/relationships/notesSlide" Target="../notesSlides/notesSlide6_b.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_b.xml.rels><?xml version='1.0' encoding='UTF-8' standalone='yes'?>
<Relationships xmlns="http://schemas.openxmlformats.org/package/2006/relationships"><Relationship Id="rId1" Type="http://schemas.openxmlformats.org/officeDocument/2006/relationships/image" Target="../media/image-7-1_b.png"/><Relationship Id="rId2" Type="http://schemas.openxmlformats.org/officeDocument/2006/relationships/image" Target="../media/image-7-2_b.png"/><Relationship Id="rId3" Type="http://schemas.openxmlformats.org/officeDocument/2006/relationships/image" Target="../media/image-7-3_b.png"/><Relationship Id="rId4" Type="http://schemas.openxmlformats.org/officeDocument/2006/relationships/image" Target="../media/image-7-4_b.png"/><Relationship Id="rId5" Type="http://schemas.openxmlformats.org/officeDocument/2006/relationships/image" Target="../media/image-7-5_b.png"/><Relationship Id="rId6" Type="http://schemas.openxmlformats.org/officeDocument/2006/relationships/image" Target="../media/image-7-6_b.png"/><Relationship Id="rId7" Type="http://schemas.openxmlformats.org/officeDocument/2006/relationships/image" Target="../media/image-7-7_b.png"/><Relationship Id="rId8" Type="http://schemas.openxmlformats.org/officeDocument/2006/relationships/image" Target="../media/image-7-8_b.png"/><Relationship Id="rId9" Type="http://schemas.openxmlformats.org/officeDocument/2006/relationships/image" Target="../media/image-7-9_b.png"/><Relationship Id="rId10" Type="http://schemas.openxmlformats.org/officeDocument/2006/relationships/slideLayout" Target="../slideLayouts/slideLayout1_b.xml"/><Relationship Id="rId11" Type="http://schemas.openxmlformats.org/officeDocument/2006/relationships/notesSlide" Target="../notesSlides/notesSlide7_b.xml"/></Relationships>
</file>

<file path=ppt/slides/_rels/slide8_b.xml.rels><?xml version='1.0' encoding='UTF-8' standalone='yes'?>
<Relationships xmlns="http://schemas.openxmlformats.org/package/2006/relationships"><Relationship Id="rId1" Type="http://schemas.openxmlformats.org/officeDocument/2006/relationships/image" Target="../media/image-8-1_b.png"/><Relationship Id="rId2" Type="http://schemas.openxmlformats.org/officeDocument/2006/relationships/image" Target="../media/image-8-2_b.png"/><Relationship Id="rId3" Type="http://schemas.openxmlformats.org/officeDocument/2006/relationships/image" Target="../media/image-8-3_b.png"/><Relationship Id="rId4" Type="http://schemas.openxmlformats.org/officeDocument/2006/relationships/image" Target="../media/image-8-4_b.png"/><Relationship Id="rId5" Type="http://schemas.openxmlformats.org/officeDocument/2006/relationships/image" Target="../media/image-8-5_b.png"/><Relationship Id="rId6" Type="http://schemas.openxmlformats.org/officeDocument/2006/relationships/image" Target="../media/image-8-6_b.png"/><Relationship Id="rId7" Type="http://schemas.openxmlformats.org/officeDocument/2006/relationships/image" Target="../media/image-8-7_b.png"/><Relationship Id="rId8" Type="http://schemas.openxmlformats.org/officeDocument/2006/relationships/slideLayout" Target="../slideLayouts/slideLayout1_b.xml"/><Relationship Id="rId9" Type="http://schemas.openxmlformats.org/officeDocument/2006/relationships/notesSlide" Target="../notesSlides/notesSlide8_b.xml"/></Relationships>
</file>

<file path=ppt/slides/_rels/slide9_b.xml.rels><?xml version='1.0' encoding='UTF-8' standalone='yes'?>
<Relationships xmlns="http://schemas.openxmlformats.org/package/2006/relationships"><Relationship Id="rId1" Type="http://schemas.openxmlformats.org/officeDocument/2006/relationships/image" Target="../media/image-9-1_b.png"/><Relationship Id="rId2" Type="http://schemas.openxmlformats.org/officeDocument/2006/relationships/image" Target="../media/image-9-2_b.png"/><Relationship Id="rId3" Type="http://schemas.openxmlformats.org/officeDocument/2006/relationships/image" Target="../media/image-9-3_b.png"/><Relationship Id="rId4" Type="http://schemas.openxmlformats.org/officeDocument/2006/relationships/image" Target="../media/image-9-4_b.png"/><Relationship Id="rId5" Type="http://schemas.openxmlformats.org/officeDocument/2006/relationships/image" Target="../media/image-9-5_b.png"/><Relationship Id="rId6" Type="http://schemas.openxmlformats.org/officeDocument/2006/relationships/slideLayout" Target="../slideLayouts/slideLayout1_b.xml"/><Relationship Id="rId7" Type="http://schemas.openxmlformats.org/officeDocument/2006/relationships/notesSlide" Target="../notesSlides/notesSlide9_b.xml"/></Relationships>
</file>

<file path=ppt/slides/_rels/slide10_b.xml.rels><?xml version='1.0' encoding='UTF-8' standalone='yes'?>
<Relationships xmlns="http://schemas.openxmlformats.org/package/2006/relationships"><Relationship Id="rId1" Type="http://schemas.openxmlformats.org/officeDocument/2006/relationships/image" Target="../media/image-10-1_b.png"/><Relationship Id="rId2" Type="http://schemas.openxmlformats.org/officeDocument/2006/relationships/image" Target="../media/image-10-2_b.png"/><Relationship Id="rId3" Type="http://schemas.openxmlformats.org/officeDocument/2006/relationships/image" Target="../media/image-10-3_b.png"/><Relationship Id="rId4" Type="http://schemas.openxmlformats.org/officeDocument/2006/relationships/slideLayout" Target="../slideLayouts/slideLayout1_b.xml"/><Relationship Id="rId5" Type="http://schemas.openxmlformats.org/officeDocument/2006/relationships/notesSlide" Target="../notesSlides/notesSlide10_b.xml"/></Relationships>
</file>

<file path=ppt/slides/_rels/slide11_b.xml.rels><?xml version='1.0' encoding='UTF-8' standalone='yes'?>
<Relationships xmlns="http://schemas.openxmlformats.org/package/2006/relationships"><Relationship Id="rId1" Type="http://schemas.openxmlformats.org/officeDocument/2006/relationships/image" Target="../media/image-11-1_b.png"/><Relationship Id="rId2" Type="http://schemas.openxmlformats.org/officeDocument/2006/relationships/image" Target="../media/image-11-2_b.png"/><Relationship Id="rId3" Type="http://schemas.openxmlformats.org/officeDocument/2006/relationships/image" Target="../media/image-11-3_b.png"/><Relationship Id="rId4" Type="http://schemas.openxmlformats.org/officeDocument/2006/relationships/image" Target="../media/image-11-4_b.png"/><Relationship Id="rId5" Type="http://schemas.openxmlformats.org/officeDocument/2006/relationships/slideLayout" Target="../slideLayouts/slideLayout1_b.xml"/><Relationship Id="rId6" Type="http://schemas.openxmlformats.org/officeDocument/2006/relationships/notesSlide" Target="../notesSlides/notesSlide11_b.xml"/></Relationships>
</file>

<file path=ppt/slides/_rels/slide12_b.xml.rels><?xml version='1.0' encoding='UTF-8' standalone='yes'?>
<Relationships xmlns="http://schemas.openxmlformats.org/package/2006/relationships"><Relationship Id="rId1" Type="http://schemas.openxmlformats.org/officeDocument/2006/relationships/image" Target="../media/image-12-1_b.png"/><Relationship Id="rId2" Type="http://schemas.openxmlformats.org/officeDocument/2006/relationships/image" Target="../media/image-12-2_b.png"/><Relationship Id="rId3" Type="http://schemas.openxmlformats.org/officeDocument/2006/relationships/image" Target="../media/image-12-3_b.png"/><Relationship Id="rId4" Type="http://schemas.openxmlformats.org/officeDocument/2006/relationships/image" Target="../media/image-12-4_b.png"/><Relationship Id="rId5" Type="http://schemas.openxmlformats.org/officeDocument/2006/relationships/image" Target="../media/image-12-5_b.png"/><Relationship Id="rId6" Type="http://schemas.openxmlformats.org/officeDocument/2006/relationships/image" Target="../media/image-12-6_b.png"/><Relationship Id="rId7" Type="http://schemas.openxmlformats.org/officeDocument/2006/relationships/slideLayout" Target="../slideLayouts/slideLayout1_b.xml"/><Relationship Id="rId8" Type="http://schemas.openxmlformats.org/officeDocument/2006/relationships/notesSlide" Target="../notesSlides/notesSlide12_b.xml"/></Relationships>
</file>

<file path=ppt/slides/_rels/slide13_b.xml.rels><?xml version='1.0' encoding='UTF-8' standalone='yes'?>
<Relationships xmlns="http://schemas.openxmlformats.org/package/2006/relationships"><Relationship Id="rId1" Type="http://schemas.openxmlformats.org/officeDocument/2006/relationships/image" Target="../media/image-13-1_b.png"/><Relationship Id="rId2" Type="http://schemas.openxmlformats.org/officeDocument/2006/relationships/image" Target="../media/image-13-2_b.png"/><Relationship Id="rId3" Type="http://schemas.openxmlformats.org/officeDocument/2006/relationships/image" Target="../media/image-13-3_b.png"/><Relationship Id="rId4" Type="http://schemas.openxmlformats.org/officeDocument/2006/relationships/image" Target="../media/image-13-4_b.png"/><Relationship Id="rId5" Type="http://schemas.openxmlformats.org/officeDocument/2006/relationships/image" Target="../media/image-13-5_b.png"/><Relationship Id="rId6" Type="http://schemas.openxmlformats.org/officeDocument/2006/relationships/image" Target="../media/image-13-6_b.png"/><Relationship Id="rId7" Type="http://schemas.openxmlformats.org/officeDocument/2006/relationships/image" Target="../media/image-13-7_b.png"/><Relationship Id="rId8" Type="http://schemas.openxmlformats.org/officeDocument/2006/relationships/image" Target="../media/image-13-8_b.png"/><Relationship Id="rId9" Type="http://schemas.openxmlformats.org/officeDocument/2006/relationships/image" Target="../media/image-13-9_b.png"/><Relationship Id="rId10" Type="http://schemas.openxmlformats.org/officeDocument/2006/relationships/image" Target="../media/image-13-10_b.png"/><Relationship Id="rId11" Type="http://schemas.openxmlformats.org/officeDocument/2006/relationships/image" Target="../media/image-13-11_b.png"/><Relationship Id="rId12" Type="http://schemas.openxmlformats.org/officeDocument/2006/relationships/image" Target="../media/image-13-12_b.png"/><Relationship Id="rId13" Type="http://schemas.openxmlformats.org/officeDocument/2006/relationships/image" Target="../media/image-13-13_b.png"/><Relationship Id="rId14" Type="http://schemas.openxmlformats.org/officeDocument/2006/relationships/image" Target="../media/image-13-14_b.png"/><Relationship Id="rId15" Type="http://schemas.openxmlformats.org/officeDocument/2006/relationships/image" Target="../media/image-13-15_b.png"/><Relationship Id="rId16" Type="http://schemas.openxmlformats.org/officeDocument/2006/relationships/slideLayout" Target="../slideLayouts/slideLayout1_b.xml"/><Relationship Id="rId17" Type="http://schemas.openxmlformats.org/officeDocument/2006/relationships/notesSlide" Target="../notesSlides/notesSlide13_b.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B619-41E6-3EC5-BED3-4E431A370388}"/>
              </a:ext>
            </a:extLst>
          </p:cNvPr>
          <p:cNvSpPr>
            <a:spLocks noGrp="1"/>
          </p:cNvSpPr>
          <p:nvPr>
            <p:ph type="ctrTitle"/>
          </p:nvPr>
        </p:nvSpPr>
        <p:spPr/>
        <p:txBody>
          <a:bodyPr/>
          <a:lstStyle/>
          <a:p>
            <a:r>
              <a:rPr lang="en-IN"/>
              <a:t>Call Center Intel</a:t>
            </a:r>
          </a:p>
        </p:txBody>
      </p:sp>
      <p:sp>
        <p:nvSpPr>
          <p:cNvPr id="3" name="Subtitle 2">
            <a:extLst>
              <a:ext uri="{FF2B5EF4-FFF2-40B4-BE49-F238E27FC236}">
                <a16:creationId xmlns:a16="http://schemas.microsoft.com/office/drawing/2014/main" id="{E9188A95-265D-6486-662A-193FF82B051E}"/>
              </a:ext>
            </a:extLst>
          </p:cNvPr>
          <p:cNvSpPr>
            <a:spLocks noGrp="1"/>
          </p:cNvSpPr>
          <p:nvPr>
            <p:ph type="subTitle" idx="1"/>
          </p:nvPr>
        </p:nvSpPr>
        <p:spPr/>
        <p:txBody>
          <a:bodyPr/>
          <a:lstStyle/>
          <a:p>
            <a:r>
              <a:rPr lang="en-IN"/>
              <a:t>Reference Deck  ·  Idea Title: Call Center Intel — Agentic AI for Sales &amp; Service Conversations</a:t>
            </a:r>
          </a:p>
          <a:p>
            <a:r>
              <a:rPr lang="en-IN"/>
              <a:t>Working prototype, running today on a Medicare tele-sales reference implementation</a:t>
            </a:r>
          </a:p>
        </p:txBody>
      </p:sp>
    </p:spTree>
    <p:extLst>
      <p:ext uri="{BB962C8B-B14F-4D97-AF65-F5344CB8AC3E}">
        <p14:creationId xmlns:p14="http://schemas.microsoft.com/office/powerpoint/2010/main" val="2226253077"/>
      </p:ext>
    </p:extLst>
  </p:cSld>
  <p:clrMapOvr>
    <a:masterClrMapping/>
  </p:clrMapOvr>
</p:sld>
</file>

<file path=ppt/slides/slide1_b.xml><?xml version="1.0" encoding="utf-8"?>
<p:sld xmlns:a="http://schemas.openxmlformats.org/drawingml/2006/main" xmlns:r="http://schemas.openxmlformats.org/officeDocument/2006/relationships" xmlns:p="http://schemas.openxmlformats.org/presentationml/2006/main">
  <p:cSld name="Slide 1">
    <p:bg>
      <p:bgPr>
        <a:solidFill>
          <a:srgbClr val="222B36"/>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2C3644"/>
          </a:solidFill>
          <a:ln/>
        </p:spPr>
        <p:txBody>
          <a:bodyPr/>
          <a:p/>
        </p:txBody>
      </p:sp>
      <p:sp>
        <p:nvSpPr>
          <p:cNvPr id="3" name="Shape 1"/>
          <p:cNvSpPr/>
          <p:nvPr/>
        </p:nvSpPr>
        <p:spPr>
          <a:xfrm>
            <a:off x="10607040" y="3931920"/>
            <a:ext cx="3108960" cy="3108960"/>
          </a:xfrm>
          <a:prstGeom prst="ellipse">
            <a:avLst/>
          </a:prstGeom>
          <a:solidFill>
            <a:srgbClr val="2C3644"/>
          </a:solidFill>
          <a:ln/>
        </p:spPr>
        <p:txBody>
          <a:bodyPr/>
          <a:p/>
        </p:txBody>
      </p:sp>
      <p:sp>
        <p:nvSpPr>
          <p:cNvPr id="4" name="Text 2"/>
          <p:cNvSpPr/>
          <p:nvPr/>
        </p:nvSpPr>
        <p:spPr>
          <a:xfrm>
            <a:off x="822960" y="777240"/>
            <a:ext cx="411480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WORKING POC · AI CAPABILITY SHOWCASE</a:t>
            </a:r>
            <a:endParaRPr lang="en-US" sz="1150" dirty="0"/>
          </a:p>
        </p:txBody>
      </p:sp>
      <p:sp>
        <p:nvSpPr>
          <p:cNvPr id="5" name="Text 3"/>
          <p:cNvSpPr/>
          <p:nvPr/>
        </p:nvSpPr>
        <p:spPr>
          <a:xfrm>
            <a:off x="777240" y="1417320"/>
            <a:ext cx="8229600" cy="1051560"/>
          </a:xfrm>
          <a:prstGeom prst="rect">
            <a:avLst/>
          </a:prstGeom>
          <a:noFill/>
          <a:ln/>
        </p:spPr>
        <p:txBody>
          <a:bodyPr wrap="square" rtlCol="0" anchor="ctr"/>
          <a:lstStyle/>
          <a:p>
            <a:pPr indent="0" marL="0">
              <a:buNone/>
            </a:pPr>
            <a:r>
              <a:rPr lang="en-US" sz="6200" b="1" dirty="0">
                <a:solidFill>
                  <a:srgbClr val="FFFFFF"/>
                </a:solidFill>
                <a:latin typeface="Calibri" pitchFamily="34" charset="0"/>
                <a:ea typeface="Calibri" pitchFamily="34" charset="-122"/>
                <a:cs typeface="Calibri" pitchFamily="34" charset="-120"/>
              </a:rPr>
              <a:t>Call Center Intel</a:t>
            </a:r>
            <a:endParaRPr lang="en-US" sz="6200" dirty="0"/>
          </a:p>
        </p:txBody>
      </p:sp>
      <p:sp>
        <p:nvSpPr>
          <p:cNvPr id="6" name="Text 4"/>
          <p:cNvSpPr/>
          <p:nvPr/>
        </p:nvSpPr>
        <p:spPr>
          <a:xfrm>
            <a:off x="822960" y="2542032"/>
            <a:ext cx="8503920" cy="502920"/>
          </a:xfrm>
          <a:prstGeom prst="rect">
            <a:avLst/>
          </a:prstGeom>
          <a:noFill/>
          <a:ln/>
        </p:spPr>
        <p:txBody>
          <a:bodyPr wrap="square" rtlCol="0" anchor="ctr"/>
          <a:lstStyle/>
          <a:p>
            <a:pPr indent="0" marL="0">
              <a:buNone/>
            </a:pPr>
            <a:r>
              <a:rPr lang="en-US" sz="2200" dirty="0">
                <a:solidFill>
                  <a:srgbClr val="D7DEE7"/>
                </a:solidFill>
                <a:latin typeface="Calibri" pitchFamily="34" charset="0"/>
                <a:ea typeface="Calibri" pitchFamily="34" charset="-122"/>
                <a:cs typeface="Calibri" pitchFamily="34" charset="-120"/>
              </a:rPr>
              <a:t>AI capabilities for customer-facing sales &amp; service operations</a:t>
            </a:r>
            <a:endParaRPr lang="en-US" sz="2200" dirty="0"/>
          </a:p>
        </p:txBody>
      </p:sp>
      <p:sp>
        <p:nvSpPr>
          <p:cNvPr id="7" name="Shape 5"/>
          <p:cNvSpPr/>
          <p:nvPr/>
        </p:nvSpPr>
        <p:spPr>
          <a:xfrm>
            <a:off x="822960" y="3429000"/>
            <a:ext cx="530352" cy="530352"/>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8" name="Image 0" descr="preencoded.png">    </p:cNvPr>
          <p:cNvPicPr>
            <a:picLocks noChangeAspect="1"/>
          </p:cNvPicPr>
          <p:nvPr/>
        </p:nvPicPr>
        <p:blipFill>
          <a:blip r:embed="rId1"/>
          <a:stretch>
            <a:fillRect/>
          </a:stretch>
        </p:blipFill>
        <p:spPr>
          <a:xfrm>
            <a:off x="955548" y="3561588"/>
            <a:ext cx="265176" cy="265176"/>
          </a:xfrm>
          <a:prstGeom prst="rect">
            <a:avLst/>
          </a:prstGeom>
        </p:spPr>
      </p:pic>
      <p:sp>
        <p:nvSpPr>
          <p:cNvPr id="9" name="Text 6"/>
          <p:cNvSpPr/>
          <p:nvPr/>
        </p:nvSpPr>
        <p:spPr>
          <a:xfrm>
            <a:off x="1444752" y="3429000"/>
            <a:ext cx="2167128"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Agentic AI Copilot</a:t>
            </a:r>
            <a:endParaRPr lang="en-US" sz="1350" dirty="0"/>
          </a:p>
        </p:txBody>
      </p:sp>
      <p:sp>
        <p:nvSpPr>
          <p:cNvPr id="10" name="Shape 7"/>
          <p:cNvSpPr/>
          <p:nvPr/>
        </p:nvSpPr>
        <p:spPr>
          <a:xfrm>
            <a:off x="3840480" y="3429000"/>
            <a:ext cx="530352" cy="530352"/>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3973068" y="3561588"/>
            <a:ext cx="265176" cy="265176"/>
          </a:xfrm>
          <a:prstGeom prst="rect">
            <a:avLst/>
          </a:prstGeom>
        </p:spPr>
      </p:pic>
      <p:sp>
        <p:nvSpPr>
          <p:cNvPr id="12" name="Text 8"/>
          <p:cNvSpPr/>
          <p:nvPr/>
        </p:nvSpPr>
        <p:spPr>
          <a:xfrm>
            <a:off x="4462272" y="3429000"/>
            <a:ext cx="2624328"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Conversation Intelligence</a:t>
            </a:r>
            <a:endParaRPr lang="en-US" sz="1350" dirty="0"/>
          </a:p>
        </p:txBody>
      </p:sp>
      <p:sp>
        <p:nvSpPr>
          <p:cNvPr id="13" name="Shape 9"/>
          <p:cNvSpPr/>
          <p:nvPr/>
        </p:nvSpPr>
        <p:spPr>
          <a:xfrm>
            <a:off x="7315200" y="3429000"/>
            <a:ext cx="530352" cy="530352"/>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447788" y="3561588"/>
            <a:ext cx="265176" cy="265176"/>
          </a:xfrm>
          <a:prstGeom prst="rect">
            <a:avLst/>
          </a:prstGeom>
        </p:spPr>
      </p:pic>
      <p:sp>
        <p:nvSpPr>
          <p:cNvPr id="15" name="Text 10"/>
          <p:cNvSpPr/>
          <p:nvPr/>
        </p:nvSpPr>
        <p:spPr>
          <a:xfrm>
            <a:off x="7936992" y="3429000"/>
            <a:ext cx="1755648"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Agentic QA</a:t>
            </a:r>
            <a:endParaRPr lang="en-US" sz="1350" dirty="0"/>
          </a:p>
        </p:txBody>
      </p:sp>
      <p:sp>
        <p:nvSpPr>
          <p:cNvPr id="16" name="Text 11"/>
          <p:cNvSpPr/>
          <p:nvPr/>
        </p:nvSpPr>
        <p:spPr>
          <a:xfrm>
            <a:off x="822960" y="4343400"/>
            <a:ext cx="8778240" cy="868680"/>
          </a:xfrm>
          <a:prstGeom prst="rect">
            <a:avLst/>
          </a:prstGeom>
          <a:noFill/>
          <a:ln/>
        </p:spPr>
        <p:txBody>
          <a:bodyPr wrap="square" rtlCol="0" anchor="ctr"/>
          <a:lstStyle/>
          <a:p>
            <a:pPr indent="0" marL="0">
              <a:lnSpc>
                <a:spcPct val="110000"/>
              </a:lnSpc>
              <a:buNone/>
            </a:pPr>
            <a:r>
              <a:rPr lang="en-US" sz="1550" i="1" dirty="0">
                <a:solidFill>
                  <a:srgbClr val="F98E54"/>
                </a:solidFill>
                <a:latin typeface="Calibri" pitchFamily="34" charset="0"/>
                <a:ea typeface="Calibri" pitchFamily="34" charset="-122"/>
                <a:cs typeface="Calibri" pitchFamily="34" charset="-120"/>
              </a:rPr>
              <a:t>Running today on a reference tele-sales implementation — the domain is swappable: contact centers, financial services, retail, any regulated sales or service operation.</a:t>
            </a:r>
            <a:endParaRPr lang="en-US" sz="1550" dirty="0"/>
          </a:p>
        </p:txBody>
      </p:sp>
      <p:sp>
        <p:nvSpPr>
          <p:cNvPr id="17" name="Shape 12"/>
          <p:cNvSpPr/>
          <p:nvPr/>
        </p:nvSpPr>
        <p:spPr>
          <a:xfrm>
            <a:off x="9966960" y="1371600"/>
            <a:ext cx="1463040" cy="1463040"/>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18" name="Image 3" descr="preencoded.png">    </p:cNvPr>
          <p:cNvPicPr>
            <a:picLocks noChangeAspect="1"/>
          </p:cNvPicPr>
          <p:nvPr/>
        </p:nvPicPr>
        <p:blipFill>
          <a:blip r:embed="rId4"/>
          <a:stretch>
            <a:fillRect/>
          </a:stretch>
        </p:blipFill>
        <p:spPr>
          <a:xfrm>
            <a:off x="10332720" y="173736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a:solidFill>
                  <a:srgbClr val="FB4E0B"/>
                </a:solidFill>
                <a:latin typeface="Calibri" pitchFamily="34" charset="0"/>
                <a:ea typeface="Calibri" pitchFamily="34" charset="-122"/>
                <a:cs typeface="Calibri" pitchFamily="34" charset="-120"/>
              </a:rPr>
              <a:t>01  ·  THE OPPORTUNITY</a:t>
            </a:r>
            <a:endParaRPr lang="en-US" sz="1200"/>
          </a:p>
        </p:txBody>
      </p:sp>
      <p:sp>
        <p:nvSpPr>
          <p:cNvPr id="3" name="Text 1"/>
          <p:cNvSpPr/>
          <p:nvPr/>
        </p:nvSpPr>
        <p:spPr>
          <a:xfrm>
            <a:off x="502920" y="658368"/>
            <a:ext cx="11155680" cy="640080"/>
          </a:xfrm>
          <a:prstGeom prst="rect">
            <a:avLst/>
          </a:prstGeom>
          <a:noFill/>
          <a:ln/>
        </p:spPr>
        <p:txBody>
          <a:bodyPr wrap="square" rtlCol="0" anchor="ctr"/>
          <a:lstStyle/>
          <a:p>
            <a:pPr marL="0" indent="0">
              <a:spcAft>
                <a:spcPts val="300"/>
              </a:spcAft>
              <a:buNone/>
            </a:pPr>
            <a:r>
              <a:rPr lang="en-US" sz="2800" b="1" i="0">
                <a:solidFill>
                  <a:srgbClr val="005071"/>
                </a:solidFill>
                <a:latin typeface="Calibri Light" pitchFamily="34" charset="0"/>
                <a:ea typeface="Calibri Light" pitchFamily="34" charset="-122"/>
                <a:cs typeface="Calibri Light" pitchFamily="34" charset="-120"/>
              </a:rPr>
              <a:t>The Opportunity</a:t>
            </a:r>
            <a:endParaRPr lang="en-US" sz="2800"/>
          </a:p>
        </p:txBody>
      </p:sp>
      <p:sp>
        <p:nvSpPr>
          <p:cNvPr id="4" name="Shape 2"/>
          <p:cNvSpPr/>
          <p:nvPr/>
        </p:nvSpPr>
        <p:spPr>
          <a:xfrm>
            <a:off x="502920" y="1508760"/>
            <a:ext cx="11183112" cy="2606040"/>
          </a:xfrm>
          <a:prstGeom prst="roundRect">
            <a:avLst>
              <a:gd name="adj" fmla="val 3871"/>
            </a:avLst>
          </a:prstGeom>
          <a:solidFill>
            <a:srgbClr val="DCF3FA"/>
          </a:solidFill>
          <a:ln w="12700">
            <a:solidFill>
              <a:srgbClr val="ACB6BE"/>
            </a:solidFill>
            <a:prstDash val="solid"/>
          </a:ln>
        </p:spPr>
        <p:txBody>
          <a:bodyPr/>
          <a:lstStyle/>
          <a:p>
            <a:endParaRPr lang="en-US"/>
          </a:p>
        </p:txBody>
      </p:sp>
      <p:sp>
        <p:nvSpPr>
          <p:cNvPr id="6" name="Text 4"/>
          <p:cNvSpPr/>
          <p:nvPr/>
        </p:nvSpPr>
        <p:spPr>
          <a:xfrm>
            <a:off x="685800" y="1691640"/>
            <a:ext cx="10789920" cy="2286000"/>
          </a:xfrm>
          <a:prstGeom prst="rect">
            <a:avLst/>
          </a:prstGeom>
          <a:noFill/>
          <a:ln/>
        </p:spPr>
        <p:txBody>
          <a:bodyPr wrap="square" lIns="0" tIns="0" rIns="0" bIns="0" rtlCol="0" anchor="t"/>
          <a:lstStyle/>
          <a:p>
            <a:pPr marL="0" indent="0">
              <a:spcAft>
                <a:spcPts val="1200"/>
              </a:spcAft>
              <a:buNone/>
            </a:pPr>
            <a:r>
              <a:rPr lang="en-US" sz="1500" i="0">
                <a:solidFill>
                  <a:srgbClr val="6C727B"/>
                </a:solidFill>
                <a:latin typeface="Calibri" pitchFamily="34" charset="0"/>
                <a:ea typeface="Calibri" pitchFamily="34" charset="-122"/>
                <a:cs typeface="Calibri" pitchFamily="34" charset="-120"/>
              </a:rPr>
              <a:t>Contact centres have every tool to sell and serve — but nothing watches the conversation itself.</a:t>
            </a:r>
            <a:endParaRPr lang="en-US" sz="1400"/>
          </a:p>
          <a:p>
            <a:pPr marL="0" indent="0">
              <a:spcAft>
                <a:spcPts val="1200"/>
              </a:spcAft>
              <a:buNone/>
            </a:pPr>
            <a:r>
              <a:rPr lang="en-US" sz="1500" i="0">
                <a:solidFill>
                  <a:srgbClr val="6C727B"/>
                </a:solidFill>
                <a:latin typeface="Calibri" pitchFamily="34" charset="0"/>
                <a:ea typeface="Calibri" pitchFamily="34" charset="-122"/>
                <a:cs typeface="Calibri" pitchFamily="34" charset="-120"/>
              </a:rPr>
              <a:t>Compliance is reviewed weeks after the words were said. QA covers only a sampled handful of calls. New agents ramp on live prospects. Missed calls quietly become lost leads. And AI spend arrives as one untraceable invoice.</a:t>
            </a:r>
          </a:p>
          <a:p>
            <a:pPr marL="0" indent="0">
              <a:spcAft>
                <a:spcPts val="1200"/>
              </a:spcAft>
              <a:buNone/>
            </a:pPr>
            <a:r>
              <a:rPr lang="en-US" sz="1500" i="0">
                <a:solidFill>
                  <a:srgbClr val="6C727B"/>
                </a:solidFill>
                <a:latin typeface="Calibri" pitchFamily="34" charset="0"/>
                <a:ea typeface="Calibri" pitchFamily="34" charset="-122"/>
                <a:cs typeface="Calibri" pitchFamily="34" charset="-120"/>
              </a:rPr>
              <a:t>Call Center Intel puts a real-time AI layer on every conversation — enforcing compliance in the moment, coaching while the agent is still talking, scoring every call, and attributing the cost of doing so.</a:t>
            </a:r>
          </a:p>
          <a:p>
            <a:pPr marL="0" indent="0">
              <a:spcAft>
                <a:spcPts val="1200"/>
              </a:spcAft>
              <a:buNone/>
            </a:pPr>
            <a:r>
              <a:rPr lang="en-US" sz="1500" i="0">
                <a:solidFill>
                  <a:srgbClr val="6C727B"/>
                </a:solidFill>
                <a:latin typeface="Calibri" pitchFamily="34" charset="0"/>
                <a:ea typeface="Calibri" pitchFamily="34" charset="-122"/>
                <a:cs typeface="Calibri" pitchFamily="34" charset="-120"/>
              </a:rPr>
              <a:t>Built on an Insurance &amp; Healthcare application, but suited to any contact centre whose agents speak directly to prospects or members.</a:t>
            </a:r>
          </a:p>
        </p:txBody>
      </p:sp>
    </p:spTree>
  </p:cSld>
  <p:clrMapOvr>
    <a:masterClrMapping/>
  </p:clrMapOvr>
</p:sld>
</file>

<file path=ppt/slides/slide2_b.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3977640" cy="384048"/>
          </a:xfrm>
          <a:prstGeom prst="roundRect">
            <a:avLst>
              <a:gd name="adj" fmla="val 50000"/>
            </a:avLst>
          </a:prstGeom>
          <a:solidFill>
            <a:srgbClr val="C0392B"/>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THE PROBLEM  →  WHAT WE BUILT</a:t>
            </a:r>
            <a:endParaRPr lang="en-US" sz="1150" dirty="0"/>
          </a:p>
        </p:txBody>
      </p:sp>
      <p:sp>
        <p:nvSpPr>
          <p:cNvPr id="3" name="Text 1"/>
          <p:cNvSpPr/>
          <p:nvPr/>
        </p:nvSpPr>
        <p:spPr>
          <a:xfrm>
            <a:off x="731520" y="786384"/>
            <a:ext cx="10698480" cy="566928"/>
          </a:xfrm>
          <a:prstGeom prst="rect">
            <a:avLst/>
          </a:prstGeom>
          <a:noFill/>
          <a:ln/>
        </p:spPr>
        <p:txBody>
          <a:bodyPr wrap="square" rtlCol="0" anchor="ctr"/>
          <a:lstStyle/>
          <a:p>
            <a:pPr indent="0" marL="0">
              <a:buNone/>
            </a:pPr>
            <a:r>
              <a:rPr lang="en-US" sz="2700" b="1" dirty="0">
                <a:solidFill>
                  <a:srgbClr val="212933"/>
                </a:solidFill>
                <a:latin typeface="Calibri" pitchFamily="34" charset="0"/>
                <a:ea typeface="Calibri" pitchFamily="34" charset="-122"/>
                <a:cs typeface="Calibri" pitchFamily="34" charset="-120"/>
              </a:rPr>
              <a:t>Five problems, and the capability built against each</a:t>
            </a:r>
            <a:endParaRPr lang="en-US" sz="2700" dirty="0"/>
          </a:p>
        </p:txBody>
      </p:sp>
      <p:sp>
        <p:nvSpPr>
          <p:cNvPr id="4" name="Text 2"/>
          <p:cNvSpPr/>
          <p:nvPr/>
        </p:nvSpPr>
        <p:spPr>
          <a:xfrm>
            <a:off x="777240" y="1335024"/>
            <a:ext cx="10607040" cy="384048"/>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The tools exist to sell and serve — nothing watches the conversation itself. Every problem below is a cost the operation already pays.</a:t>
            </a:r>
            <a:endParaRPr lang="en-US" sz="1300" dirty="0"/>
          </a:p>
        </p:txBody>
      </p:sp>
      <p:sp>
        <p:nvSpPr>
          <p:cNvPr id="5" name="Shape 3"/>
          <p:cNvSpPr/>
          <p:nvPr/>
        </p:nvSpPr>
        <p:spPr>
          <a:xfrm>
            <a:off x="777240" y="1847088"/>
            <a:ext cx="3337560" cy="2331720"/>
          </a:xfrm>
          <a:prstGeom prst="roundRect">
            <a:avLst>
              <a:gd name="adj" fmla="val 4314"/>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6" name="Shape 4"/>
          <p:cNvSpPr/>
          <p:nvPr/>
        </p:nvSpPr>
        <p:spPr>
          <a:xfrm>
            <a:off x="996696" y="2029968"/>
            <a:ext cx="457200" cy="457200"/>
          </a:xfrm>
          <a:prstGeom prst="ellipse">
            <a:avLst/>
          </a:prstGeom>
          <a:solidFill>
            <a:srgbClr val="C0392B"/>
          </a:solidFill>
          <a:ln/>
          <a:effectLst>
            <a:outerShdw sx="100000" sy="100000" kx="0" ky="0" algn="bl" rotWithShape="0" blurRad="127000" dist="38100" dir="5400000">
              <a:srgbClr val="1A2027">
                <a:alpha val="22000"/>
              </a:srgbClr>
            </a:outerShdw>
          </a:effectLst>
        </p:spPr>
        <p:txBody>
          <a:bodyPr/>
          <a:p/>
        </p:txBody>
      </p:sp>
      <p:pic>
        <p:nvPicPr>
          <p:cNvPr id="7" name="Image 0" descr="preencoded.png">    </p:cNvPr>
          <p:cNvPicPr>
            <a:picLocks noChangeAspect="1"/>
          </p:cNvPicPr>
          <p:nvPr/>
        </p:nvPicPr>
        <p:blipFill>
          <a:blip r:embed="rId1"/>
          <a:stretch>
            <a:fillRect/>
          </a:stretch>
        </p:blipFill>
        <p:spPr>
          <a:xfrm>
            <a:off x="1097280" y="2130552"/>
            <a:ext cx="256032" cy="256032"/>
          </a:xfrm>
          <a:prstGeom prst="rect">
            <a:avLst/>
          </a:prstGeom>
        </p:spPr>
      </p:pic>
      <p:sp>
        <p:nvSpPr>
          <p:cNvPr id="8" name="Text 5"/>
          <p:cNvSpPr/>
          <p:nvPr/>
        </p:nvSpPr>
        <p:spPr>
          <a:xfrm>
            <a:off x="1563624" y="2011680"/>
            <a:ext cx="2331720" cy="493776"/>
          </a:xfrm>
          <a:prstGeom prst="rect">
            <a:avLst/>
          </a:prstGeom>
          <a:noFill/>
          <a:ln/>
        </p:spPr>
        <p:txBody>
          <a:bodyPr wrap="square" lIns="0" tIns="0" rIns="0" bIns="0" rtlCol="0" anchor="ctr"/>
          <a:lstStyle/>
          <a:p>
            <a:pPr indent="0" marL="0">
              <a:lnSpc>
                <a:spcPct val="92000"/>
              </a:lnSpc>
              <a:buNone/>
            </a:pPr>
            <a:r>
              <a:rPr lang="en-US" sz="1350" b="1" dirty="0">
                <a:solidFill>
                  <a:srgbClr val="212933"/>
                </a:solidFill>
                <a:latin typeface="Calibri" pitchFamily="34" charset="0"/>
                <a:ea typeface="Calibri" pitchFamily="34" charset="-122"/>
                <a:cs typeface="Calibri" pitchFamily="34" charset="-120"/>
              </a:rPr>
              <a:t>Calls unanswered, hours lost to chasing</a:t>
            </a:r>
            <a:endParaRPr lang="en-US" sz="1350" dirty="0"/>
          </a:p>
        </p:txBody>
      </p:sp>
      <p:sp>
        <p:nvSpPr>
          <p:cNvPr id="9" name="Text 6"/>
          <p:cNvSpPr/>
          <p:nvPr/>
        </p:nvSpPr>
        <p:spPr>
          <a:xfrm>
            <a:off x="1014984" y="2633472"/>
            <a:ext cx="2862072" cy="640080"/>
          </a:xfrm>
          <a:prstGeom prst="rect">
            <a:avLst/>
          </a:prstGeom>
          <a:noFill/>
          <a:ln/>
        </p:spPr>
        <p:txBody>
          <a:bodyPr wrap="square" lIns="0" tIns="0" rIns="0" bIns="0" rtlCol="0" anchor="ctr"/>
          <a:lstStyle/>
          <a:p>
            <a:pPr indent="0" marL="0">
              <a:lnSpc>
                <a:spcPct val="104000"/>
              </a:lnSpc>
              <a:buNone/>
            </a:pPr>
            <a:r>
              <a:rPr lang="en-US" sz="950" dirty="0">
                <a:solidFill>
                  <a:srgbClr val="5C6B7A"/>
                </a:solidFill>
                <a:latin typeface="Calibri" pitchFamily="34" charset="0"/>
                <a:ea typeface="Calibri" pitchFamily="34" charset="-122"/>
                <a:cs typeface="Calibri" pitchFamily="34" charset="-120"/>
              </a:rPr>
              <a:t>Prospects dial when the agent is on another call or off shift. The hours that remain go on callbacks, re-dials and list-working just to find who is still interested.</a:t>
            </a:r>
            <a:endParaRPr lang="en-US" sz="950" dirty="0"/>
          </a:p>
        </p:txBody>
      </p:sp>
      <p:sp>
        <p:nvSpPr>
          <p:cNvPr id="10" name="Shape 7"/>
          <p:cNvSpPr/>
          <p:nvPr/>
        </p:nvSpPr>
        <p:spPr>
          <a:xfrm>
            <a:off x="1014984" y="3328416"/>
            <a:ext cx="2862072" cy="0"/>
          </a:xfrm>
          <a:prstGeom prst="line">
            <a:avLst/>
          </a:prstGeom>
          <a:noFill/>
          <a:ln w="12700">
            <a:solidFill>
              <a:srgbClr val="E8590C"/>
            </a:solidFill>
            <a:prstDash val="solid"/>
          </a:ln>
        </p:spPr>
        <p:txBody>
          <a:bodyPr/>
          <a:p/>
        </p:txBody>
      </p:sp>
      <p:sp>
        <p:nvSpPr>
          <p:cNvPr id="11" name="Text 8"/>
          <p:cNvSpPr/>
          <p:nvPr/>
        </p:nvSpPr>
        <p:spPr>
          <a:xfrm>
            <a:off x="1014984" y="3401568"/>
            <a:ext cx="2862072" cy="630936"/>
          </a:xfrm>
          <a:prstGeom prst="rect">
            <a:avLst/>
          </a:prstGeom>
          <a:noFill/>
          <a:ln/>
        </p:spPr>
        <p:txBody>
          <a:bodyPr wrap="square" lIns="0" tIns="0" rIns="0" bIns="0" rtlCol="0" anchor="ctr"/>
          <a:lstStyle/>
          <a:p>
            <a:pPr indent="0" marL="0">
              <a:lnSpc>
                <a:spcPct val="104000"/>
              </a:lnSpc>
              <a:buNone/>
            </a:pPr>
            <a:r>
              <a:rPr lang="en-US" sz="950" b="1" dirty="0">
                <a:solidFill>
                  <a:srgbClr val="212933"/>
                </a:solidFill>
                <a:latin typeface="Calibri" pitchFamily="34" charset="0"/>
                <a:ea typeface="Calibri" pitchFamily="34" charset="-122"/>
                <a:cs typeface="Calibri" pitchFamily="34" charset="-120"/>
              </a:rPr>
              <a:t>AI covers inbound — hand-over, ring timeout, nobody online — and the outbound chase: callbacks, re-dials, first-pass qualification. Agents get the hours back for people ready to talk.</a:t>
            </a:r>
            <a:endParaRPr lang="en-US" sz="950" dirty="0"/>
          </a:p>
        </p:txBody>
      </p:sp>
      <p:sp>
        <p:nvSpPr>
          <p:cNvPr id="12" name="Shape 9"/>
          <p:cNvSpPr/>
          <p:nvPr/>
        </p:nvSpPr>
        <p:spPr>
          <a:xfrm>
            <a:off x="4425696" y="1847088"/>
            <a:ext cx="3337560" cy="2331720"/>
          </a:xfrm>
          <a:prstGeom prst="roundRect">
            <a:avLst>
              <a:gd name="adj" fmla="val 4314"/>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13" name="Shape 10"/>
          <p:cNvSpPr/>
          <p:nvPr/>
        </p:nvSpPr>
        <p:spPr>
          <a:xfrm>
            <a:off x="4645152" y="2029968"/>
            <a:ext cx="457200" cy="457200"/>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4" name="Image 1" descr="preencoded.png">    </p:cNvPr>
          <p:cNvPicPr>
            <a:picLocks noChangeAspect="1"/>
          </p:cNvPicPr>
          <p:nvPr/>
        </p:nvPicPr>
        <p:blipFill>
          <a:blip r:embed="rId2"/>
          <a:stretch>
            <a:fillRect/>
          </a:stretch>
        </p:blipFill>
        <p:spPr>
          <a:xfrm>
            <a:off x="4745736" y="2130552"/>
            <a:ext cx="256032" cy="256032"/>
          </a:xfrm>
          <a:prstGeom prst="rect">
            <a:avLst/>
          </a:prstGeom>
        </p:spPr>
      </p:pic>
      <p:sp>
        <p:nvSpPr>
          <p:cNvPr id="15" name="Text 11"/>
          <p:cNvSpPr/>
          <p:nvPr/>
        </p:nvSpPr>
        <p:spPr>
          <a:xfrm>
            <a:off x="5212080" y="2011680"/>
            <a:ext cx="2331720" cy="493776"/>
          </a:xfrm>
          <a:prstGeom prst="rect">
            <a:avLst/>
          </a:prstGeom>
          <a:noFill/>
          <a:ln/>
        </p:spPr>
        <p:txBody>
          <a:bodyPr wrap="square" lIns="0" tIns="0" rIns="0" bIns="0" rtlCol="0" anchor="ctr"/>
          <a:lstStyle/>
          <a:p>
            <a:pPr indent="0" marL="0">
              <a:lnSpc>
                <a:spcPct val="92000"/>
              </a:lnSpc>
              <a:buNone/>
            </a:pPr>
            <a:r>
              <a:rPr lang="en-US" sz="1350" b="1" dirty="0">
                <a:solidFill>
                  <a:srgbClr val="212933"/>
                </a:solidFill>
                <a:latin typeface="Calibri" pitchFamily="34" charset="0"/>
                <a:ea typeface="Calibri" pitchFamily="34" charset="-122"/>
                <a:cs typeface="Calibri" pitchFamily="34" charset="-120"/>
              </a:rPr>
              <a:t>Compliance enforced after the fact</a:t>
            </a:r>
            <a:endParaRPr lang="en-US" sz="1350" dirty="0"/>
          </a:p>
        </p:txBody>
      </p:sp>
      <p:sp>
        <p:nvSpPr>
          <p:cNvPr id="16" name="Text 12"/>
          <p:cNvSpPr/>
          <p:nvPr/>
        </p:nvSpPr>
        <p:spPr>
          <a:xfrm>
            <a:off x="4663440" y="2633472"/>
            <a:ext cx="2862072" cy="640080"/>
          </a:xfrm>
          <a:prstGeom prst="rect">
            <a:avLst/>
          </a:prstGeom>
          <a:noFill/>
          <a:ln/>
        </p:spPr>
        <p:txBody>
          <a:bodyPr wrap="square" lIns="0" tIns="0" rIns="0" bIns="0" rtlCol="0" anchor="ctr"/>
          <a:lstStyle/>
          <a:p>
            <a:pPr indent="0" marL="0">
              <a:lnSpc>
                <a:spcPct val="104000"/>
              </a:lnSpc>
              <a:buNone/>
            </a:pPr>
            <a:r>
              <a:rPr lang="en-US" sz="950" dirty="0">
                <a:solidFill>
                  <a:srgbClr val="5C6B7A"/>
                </a:solidFill>
                <a:latin typeface="Calibri" pitchFamily="34" charset="0"/>
                <a:ea typeface="Calibri" pitchFamily="34" charset="-122"/>
                <a:cs typeface="Calibri" pitchFamily="34" charset="-120"/>
              </a:rPr>
              <a:t>By the time anyone reads the transcript, the words have been said and the exposure is on the books. Coaching lags the same way — a week late changes nothing.</a:t>
            </a:r>
            <a:endParaRPr lang="en-US" sz="950" dirty="0"/>
          </a:p>
        </p:txBody>
      </p:sp>
      <p:sp>
        <p:nvSpPr>
          <p:cNvPr id="17" name="Shape 13"/>
          <p:cNvSpPr/>
          <p:nvPr/>
        </p:nvSpPr>
        <p:spPr>
          <a:xfrm>
            <a:off x="4663440" y="3328416"/>
            <a:ext cx="2862072" cy="0"/>
          </a:xfrm>
          <a:prstGeom prst="line">
            <a:avLst/>
          </a:prstGeom>
          <a:noFill/>
          <a:ln w="12700">
            <a:solidFill>
              <a:srgbClr val="E8590C"/>
            </a:solidFill>
            <a:prstDash val="solid"/>
          </a:ln>
        </p:spPr>
        <p:txBody>
          <a:bodyPr/>
          <a:p/>
        </p:txBody>
      </p:sp>
      <p:sp>
        <p:nvSpPr>
          <p:cNvPr id="18" name="Text 14"/>
          <p:cNvSpPr/>
          <p:nvPr/>
        </p:nvSpPr>
        <p:spPr>
          <a:xfrm>
            <a:off x="4663440" y="3401568"/>
            <a:ext cx="2862072" cy="630936"/>
          </a:xfrm>
          <a:prstGeom prst="rect">
            <a:avLst/>
          </a:prstGeom>
          <a:noFill/>
          <a:ln/>
        </p:spPr>
        <p:txBody>
          <a:bodyPr wrap="square" lIns="0" tIns="0" rIns="0" bIns="0" rtlCol="0" anchor="ctr"/>
          <a:lstStyle/>
          <a:p>
            <a:pPr indent="0" marL="0">
              <a:lnSpc>
                <a:spcPct val="104000"/>
              </a:lnSpc>
              <a:buNone/>
            </a:pPr>
            <a:r>
              <a:rPr lang="en-US" sz="950" b="1" dirty="0">
                <a:solidFill>
                  <a:srgbClr val="212933"/>
                </a:solidFill>
                <a:latin typeface="Calibri" pitchFamily="34" charset="0"/>
                <a:ea typeface="Calibri" pitchFamily="34" charset="-122"/>
                <a:cs typeface="Calibri" pitchFamily="34" charset="-120"/>
              </a:rPr>
              <a:t>Live transcription with in-the-moment compliance flags and coaching against business-edited rules, plus auto-filled records and sentiment — one merged AI pass, not three.</a:t>
            </a:r>
            <a:endParaRPr lang="en-US" sz="950" dirty="0"/>
          </a:p>
        </p:txBody>
      </p:sp>
      <p:sp>
        <p:nvSpPr>
          <p:cNvPr id="19" name="Shape 15"/>
          <p:cNvSpPr/>
          <p:nvPr/>
        </p:nvSpPr>
        <p:spPr>
          <a:xfrm>
            <a:off x="8074152" y="1847088"/>
            <a:ext cx="3337560" cy="2331720"/>
          </a:xfrm>
          <a:prstGeom prst="roundRect">
            <a:avLst>
              <a:gd name="adj" fmla="val 4314"/>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0" name="Shape 16"/>
          <p:cNvSpPr/>
          <p:nvPr/>
        </p:nvSpPr>
        <p:spPr>
          <a:xfrm>
            <a:off x="8293608" y="2029968"/>
            <a:ext cx="457200" cy="457200"/>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21" name="Image 2" descr="preencoded.png">    </p:cNvPr>
          <p:cNvPicPr>
            <a:picLocks noChangeAspect="1"/>
          </p:cNvPicPr>
          <p:nvPr/>
        </p:nvPicPr>
        <p:blipFill>
          <a:blip r:embed="rId3"/>
          <a:stretch>
            <a:fillRect/>
          </a:stretch>
        </p:blipFill>
        <p:spPr>
          <a:xfrm>
            <a:off x="8394192" y="2130552"/>
            <a:ext cx="256032" cy="256032"/>
          </a:xfrm>
          <a:prstGeom prst="rect">
            <a:avLst/>
          </a:prstGeom>
        </p:spPr>
      </p:pic>
      <p:sp>
        <p:nvSpPr>
          <p:cNvPr id="22" name="Text 17"/>
          <p:cNvSpPr/>
          <p:nvPr/>
        </p:nvSpPr>
        <p:spPr>
          <a:xfrm>
            <a:off x="8860536" y="2011680"/>
            <a:ext cx="2331720" cy="493776"/>
          </a:xfrm>
          <a:prstGeom prst="rect">
            <a:avLst/>
          </a:prstGeom>
          <a:noFill/>
          <a:ln/>
        </p:spPr>
        <p:txBody>
          <a:bodyPr wrap="square" lIns="0" tIns="0" rIns="0" bIns="0" rtlCol="0" anchor="ctr"/>
          <a:lstStyle/>
          <a:p>
            <a:pPr indent="0" marL="0">
              <a:lnSpc>
                <a:spcPct val="92000"/>
              </a:lnSpc>
              <a:buNone/>
            </a:pPr>
            <a:r>
              <a:rPr lang="en-US" sz="1350" b="1" dirty="0">
                <a:solidFill>
                  <a:srgbClr val="212933"/>
                </a:solidFill>
                <a:latin typeface="Calibri" pitchFamily="34" charset="0"/>
                <a:ea typeface="Calibri" pitchFamily="34" charset="-122"/>
                <a:cs typeface="Calibri" pitchFamily="34" charset="-120"/>
              </a:rPr>
              <a:t>Quality judged from a sample</a:t>
            </a:r>
            <a:endParaRPr lang="en-US" sz="1350" dirty="0"/>
          </a:p>
        </p:txBody>
      </p:sp>
      <p:sp>
        <p:nvSpPr>
          <p:cNvPr id="23" name="Text 18"/>
          <p:cNvSpPr/>
          <p:nvPr/>
        </p:nvSpPr>
        <p:spPr>
          <a:xfrm>
            <a:off x="8311896" y="2633472"/>
            <a:ext cx="2862072" cy="640080"/>
          </a:xfrm>
          <a:prstGeom prst="rect">
            <a:avLst/>
          </a:prstGeom>
          <a:noFill/>
          <a:ln/>
        </p:spPr>
        <p:txBody>
          <a:bodyPr wrap="square" lIns="0" tIns="0" rIns="0" bIns="0" rtlCol="0" anchor="ctr"/>
          <a:lstStyle/>
          <a:p>
            <a:pPr indent="0" marL="0">
              <a:lnSpc>
                <a:spcPct val="104000"/>
              </a:lnSpc>
              <a:buNone/>
            </a:pPr>
            <a:r>
              <a:rPr lang="en-US" sz="950" dirty="0">
                <a:solidFill>
                  <a:srgbClr val="5C6B7A"/>
                </a:solidFill>
                <a:latin typeface="Calibri" pitchFamily="34" charset="0"/>
                <a:ea typeface="Calibri" pitchFamily="34" charset="-122"/>
                <a:cs typeface="Calibri" pitchFamily="34" charset="-120"/>
              </a:rPr>
              <a:t>A supervisor hears a handful of calls per agent, so most issues never surface. The standard lives in each reviewer's head, so scoring drifts and comparison is unreliable.</a:t>
            </a:r>
            <a:endParaRPr lang="en-US" sz="950" dirty="0"/>
          </a:p>
        </p:txBody>
      </p:sp>
      <p:sp>
        <p:nvSpPr>
          <p:cNvPr id="24" name="Shape 19"/>
          <p:cNvSpPr/>
          <p:nvPr/>
        </p:nvSpPr>
        <p:spPr>
          <a:xfrm>
            <a:off x="8311896" y="3328416"/>
            <a:ext cx="2862072" cy="0"/>
          </a:xfrm>
          <a:prstGeom prst="line">
            <a:avLst/>
          </a:prstGeom>
          <a:noFill/>
          <a:ln w="12700">
            <a:solidFill>
              <a:srgbClr val="E8590C"/>
            </a:solidFill>
            <a:prstDash val="solid"/>
          </a:ln>
        </p:spPr>
        <p:txBody>
          <a:bodyPr/>
          <a:p/>
        </p:txBody>
      </p:sp>
      <p:sp>
        <p:nvSpPr>
          <p:cNvPr id="25" name="Text 20"/>
          <p:cNvSpPr/>
          <p:nvPr/>
        </p:nvSpPr>
        <p:spPr>
          <a:xfrm>
            <a:off x="8311896" y="3401568"/>
            <a:ext cx="2862072" cy="630936"/>
          </a:xfrm>
          <a:prstGeom prst="rect">
            <a:avLst/>
          </a:prstGeom>
          <a:noFill/>
          <a:ln/>
        </p:spPr>
        <p:txBody>
          <a:bodyPr wrap="square" lIns="0" tIns="0" rIns="0" bIns="0" rtlCol="0" anchor="ctr"/>
          <a:lstStyle/>
          <a:p>
            <a:pPr indent="0" marL="0">
              <a:lnSpc>
                <a:spcPct val="104000"/>
              </a:lnSpc>
              <a:buNone/>
            </a:pPr>
            <a:r>
              <a:rPr lang="en-US" sz="950" b="1" dirty="0">
                <a:solidFill>
                  <a:srgbClr val="212933"/>
                </a:solidFill>
                <a:latin typeface="Calibri" pitchFamily="34" charset="0"/>
                <a:ea typeface="Calibri" pitchFamily="34" charset="-122"/>
                <a:cs typeface="Calibri" pitchFamily="34" charset="-120"/>
              </a:rPr>
              <a:t>Automated scorecards on every call against scoring criteria supervisors edit themselves, a live supervision view, and full call records with markers pinned inline.</a:t>
            </a:r>
            <a:endParaRPr lang="en-US" sz="950" dirty="0"/>
          </a:p>
        </p:txBody>
      </p:sp>
      <p:sp>
        <p:nvSpPr>
          <p:cNvPr id="26" name="Shape 21"/>
          <p:cNvSpPr/>
          <p:nvPr/>
        </p:nvSpPr>
        <p:spPr>
          <a:xfrm>
            <a:off x="777240" y="4379976"/>
            <a:ext cx="5161788" cy="1783080"/>
          </a:xfrm>
          <a:prstGeom prst="roundRect">
            <a:avLst>
              <a:gd name="adj" fmla="val 5641"/>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7" name="Shape 22"/>
          <p:cNvSpPr/>
          <p:nvPr/>
        </p:nvSpPr>
        <p:spPr>
          <a:xfrm>
            <a:off x="996696" y="4562856"/>
            <a:ext cx="457200" cy="457200"/>
          </a:xfrm>
          <a:prstGeom prst="ellipse">
            <a:avLst/>
          </a:prstGeom>
          <a:solidFill>
            <a:srgbClr val="F2A541"/>
          </a:solidFill>
          <a:ln/>
          <a:effectLst>
            <a:outerShdw sx="100000" sy="100000" kx="0" ky="0" algn="bl" rotWithShape="0" blurRad="127000" dist="38100" dir="5400000">
              <a:srgbClr val="1A2027">
                <a:alpha val="22000"/>
              </a:srgbClr>
            </a:outerShdw>
          </a:effectLst>
        </p:spPr>
        <p:txBody>
          <a:bodyPr/>
          <a:p/>
        </p:txBody>
      </p:sp>
      <p:pic>
        <p:nvPicPr>
          <p:cNvPr id="28" name="Image 3" descr="preencoded.png">    </p:cNvPr>
          <p:cNvPicPr>
            <a:picLocks noChangeAspect="1"/>
          </p:cNvPicPr>
          <p:nvPr/>
        </p:nvPicPr>
        <p:blipFill>
          <a:blip r:embed="rId4"/>
          <a:stretch>
            <a:fillRect/>
          </a:stretch>
        </p:blipFill>
        <p:spPr>
          <a:xfrm>
            <a:off x="1097280" y="4663440"/>
            <a:ext cx="256032" cy="256032"/>
          </a:xfrm>
          <a:prstGeom prst="rect">
            <a:avLst/>
          </a:prstGeom>
        </p:spPr>
      </p:pic>
      <p:sp>
        <p:nvSpPr>
          <p:cNvPr id="29" name="Text 23"/>
          <p:cNvSpPr/>
          <p:nvPr/>
        </p:nvSpPr>
        <p:spPr>
          <a:xfrm>
            <a:off x="1563624" y="4544568"/>
            <a:ext cx="4155948" cy="493776"/>
          </a:xfrm>
          <a:prstGeom prst="rect">
            <a:avLst/>
          </a:prstGeom>
          <a:noFill/>
          <a:ln/>
        </p:spPr>
        <p:txBody>
          <a:bodyPr wrap="square" lIns="0" tIns="0" rIns="0" bIns="0" rtlCol="0" anchor="ctr"/>
          <a:lstStyle/>
          <a:p>
            <a:pPr indent="0" marL="0">
              <a:lnSpc>
                <a:spcPct val="92000"/>
              </a:lnSpc>
              <a:buNone/>
            </a:pPr>
            <a:r>
              <a:rPr lang="en-US" sz="1350" b="1" dirty="0">
                <a:solidFill>
                  <a:srgbClr val="212933"/>
                </a:solidFill>
                <a:latin typeface="Calibri" pitchFamily="34" charset="0"/>
                <a:ea typeface="Calibri" pitchFamily="34" charset="-122"/>
                <a:cs typeface="Calibri" pitchFamily="34" charset="-120"/>
              </a:rPr>
              <a:t>Ramp-up happens on live prospects</a:t>
            </a:r>
            <a:endParaRPr lang="en-US" sz="1350" dirty="0"/>
          </a:p>
        </p:txBody>
      </p:sp>
      <p:sp>
        <p:nvSpPr>
          <p:cNvPr id="30" name="Text 24"/>
          <p:cNvSpPr/>
          <p:nvPr/>
        </p:nvSpPr>
        <p:spPr>
          <a:xfrm>
            <a:off x="1014984" y="5166360"/>
            <a:ext cx="4686300" cy="365760"/>
          </a:xfrm>
          <a:prstGeom prst="rect">
            <a:avLst/>
          </a:prstGeom>
          <a:noFill/>
          <a:ln/>
        </p:spPr>
        <p:txBody>
          <a:bodyPr wrap="square" lIns="0" tIns="0" rIns="0" bIns="0" rtlCol="0" anchor="ctr"/>
          <a:lstStyle/>
          <a:p>
            <a:pPr indent="0" marL="0">
              <a:lnSpc>
                <a:spcPct val="104000"/>
              </a:lnSpc>
              <a:buNone/>
            </a:pPr>
            <a:r>
              <a:rPr lang="en-US" sz="950" dirty="0">
                <a:solidFill>
                  <a:srgbClr val="5C6B7A"/>
                </a:solidFill>
                <a:latin typeface="Calibri" pitchFamily="34" charset="0"/>
                <a:ea typeface="Calibri" pitchFamily="34" charset="-122"/>
                <a:cs typeface="Calibri" pitchFamily="34" charset="-120"/>
              </a:rPr>
              <a:t>A new agent's first genuinely difficult call is with a real prospect, a real recording and a real compliance obligation. Role-play costs supervisor time and measures nothing.</a:t>
            </a:r>
            <a:endParaRPr lang="en-US" sz="950" dirty="0"/>
          </a:p>
        </p:txBody>
      </p:sp>
      <p:sp>
        <p:nvSpPr>
          <p:cNvPr id="31" name="Shape 25"/>
          <p:cNvSpPr/>
          <p:nvPr/>
        </p:nvSpPr>
        <p:spPr>
          <a:xfrm>
            <a:off x="1014984" y="5586984"/>
            <a:ext cx="4686300" cy="0"/>
          </a:xfrm>
          <a:prstGeom prst="line">
            <a:avLst/>
          </a:prstGeom>
          <a:noFill/>
          <a:ln w="12700">
            <a:solidFill>
              <a:srgbClr val="E8590C"/>
            </a:solidFill>
            <a:prstDash val="solid"/>
          </a:ln>
        </p:spPr>
        <p:txBody>
          <a:bodyPr/>
          <a:p/>
        </p:txBody>
      </p:sp>
      <p:sp>
        <p:nvSpPr>
          <p:cNvPr id="32" name="Text 26"/>
          <p:cNvSpPr/>
          <p:nvPr/>
        </p:nvSpPr>
        <p:spPr>
          <a:xfrm>
            <a:off x="1014984" y="5660136"/>
            <a:ext cx="4686300" cy="356616"/>
          </a:xfrm>
          <a:prstGeom prst="rect">
            <a:avLst/>
          </a:prstGeom>
          <a:noFill/>
          <a:ln/>
        </p:spPr>
        <p:txBody>
          <a:bodyPr wrap="square" lIns="0" tIns="0" rIns="0" bIns="0" rtlCol="0" anchor="ctr"/>
          <a:lstStyle/>
          <a:p>
            <a:pPr indent="0" marL="0">
              <a:lnSpc>
                <a:spcPct val="104000"/>
              </a:lnSpc>
              <a:buNone/>
            </a:pPr>
            <a:r>
              <a:rPr lang="en-US" sz="950" b="1" dirty="0">
                <a:solidFill>
                  <a:srgbClr val="212933"/>
                </a:solidFill>
                <a:latin typeface="Calibri" pitchFamily="34" charset="0"/>
                <a:ea typeface="Calibri" pitchFamily="34" charset="-122"/>
                <a:cs typeface="Calibri" pitchFamily="34" charset="-120"/>
              </a:rPr>
              <a:t>Practice calls against admin-editable AI personas, graded by the same scorecards as production — so “ready for the phones” becomes a number, not a judgement call.</a:t>
            </a:r>
            <a:endParaRPr lang="en-US" sz="950" dirty="0"/>
          </a:p>
        </p:txBody>
      </p:sp>
      <p:sp>
        <p:nvSpPr>
          <p:cNvPr id="33" name="Shape 27"/>
          <p:cNvSpPr/>
          <p:nvPr/>
        </p:nvSpPr>
        <p:spPr>
          <a:xfrm>
            <a:off x="6249924" y="4379976"/>
            <a:ext cx="5161788" cy="1783080"/>
          </a:xfrm>
          <a:prstGeom prst="roundRect">
            <a:avLst>
              <a:gd name="adj" fmla="val 5641"/>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34" name="Shape 28"/>
          <p:cNvSpPr/>
          <p:nvPr/>
        </p:nvSpPr>
        <p:spPr>
          <a:xfrm>
            <a:off x="6469380" y="4562856"/>
            <a:ext cx="457200" cy="457200"/>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35" name="Image 4" descr="preencoded.png">    </p:cNvPr>
          <p:cNvPicPr>
            <a:picLocks noChangeAspect="1"/>
          </p:cNvPicPr>
          <p:nvPr/>
        </p:nvPicPr>
        <p:blipFill>
          <a:blip r:embed="rId5"/>
          <a:stretch>
            <a:fillRect/>
          </a:stretch>
        </p:blipFill>
        <p:spPr>
          <a:xfrm>
            <a:off x="6569964" y="4663440"/>
            <a:ext cx="256032" cy="256032"/>
          </a:xfrm>
          <a:prstGeom prst="rect">
            <a:avLst/>
          </a:prstGeom>
        </p:spPr>
      </p:pic>
      <p:sp>
        <p:nvSpPr>
          <p:cNvPr id="36" name="Text 29"/>
          <p:cNvSpPr/>
          <p:nvPr/>
        </p:nvSpPr>
        <p:spPr>
          <a:xfrm>
            <a:off x="7036308" y="4544568"/>
            <a:ext cx="4155948" cy="493776"/>
          </a:xfrm>
          <a:prstGeom prst="rect">
            <a:avLst/>
          </a:prstGeom>
          <a:noFill/>
          <a:ln/>
        </p:spPr>
        <p:txBody>
          <a:bodyPr wrap="square" lIns="0" tIns="0" rIns="0" bIns="0" rtlCol="0" anchor="ctr"/>
          <a:lstStyle/>
          <a:p>
            <a:pPr indent="0" marL="0">
              <a:lnSpc>
                <a:spcPct val="92000"/>
              </a:lnSpc>
              <a:buNone/>
            </a:pPr>
            <a:r>
              <a:rPr lang="en-US" sz="1350" b="1" dirty="0">
                <a:solidFill>
                  <a:srgbClr val="212933"/>
                </a:solidFill>
                <a:latin typeface="Calibri" pitchFamily="34" charset="0"/>
                <a:ea typeface="Calibri" pitchFamily="34" charset="-122"/>
                <a:cs typeface="Calibri" pitchFamily="34" charset="-120"/>
              </a:rPr>
              <a:t>AI spend with no attribution</a:t>
            </a:r>
            <a:endParaRPr lang="en-US" sz="1350" dirty="0"/>
          </a:p>
        </p:txBody>
      </p:sp>
      <p:sp>
        <p:nvSpPr>
          <p:cNvPr id="37" name="Text 30"/>
          <p:cNvSpPr/>
          <p:nvPr/>
        </p:nvSpPr>
        <p:spPr>
          <a:xfrm>
            <a:off x="6487668" y="5166360"/>
            <a:ext cx="4686300" cy="365760"/>
          </a:xfrm>
          <a:prstGeom prst="rect">
            <a:avLst/>
          </a:prstGeom>
          <a:noFill/>
          <a:ln/>
        </p:spPr>
        <p:txBody>
          <a:bodyPr wrap="square" lIns="0" tIns="0" rIns="0" bIns="0" rtlCol="0" anchor="ctr"/>
          <a:lstStyle/>
          <a:p>
            <a:pPr indent="0" marL="0">
              <a:lnSpc>
                <a:spcPct val="104000"/>
              </a:lnSpc>
              <a:buNone/>
            </a:pPr>
            <a:r>
              <a:rPr lang="en-US" sz="950" dirty="0">
                <a:solidFill>
                  <a:srgbClr val="5C6B7A"/>
                </a:solidFill>
                <a:latin typeface="Calibri" pitchFamily="34" charset="0"/>
                <a:ea typeface="Calibri" pitchFamily="34" charset="-122"/>
                <a:cs typeface="Calibri" pitchFamily="34" charset="-120"/>
              </a:rPr>
              <a:t>Spend arrives as one vendor invoice — no per-call figure, no per-agent figure, no split between features. Cost per call and cost at 100 agents can only be estimated.</a:t>
            </a:r>
            <a:endParaRPr lang="en-US" sz="950" dirty="0"/>
          </a:p>
        </p:txBody>
      </p:sp>
      <p:sp>
        <p:nvSpPr>
          <p:cNvPr id="38" name="Shape 31"/>
          <p:cNvSpPr/>
          <p:nvPr/>
        </p:nvSpPr>
        <p:spPr>
          <a:xfrm>
            <a:off x="6487668" y="5586984"/>
            <a:ext cx="4686300" cy="0"/>
          </a:xfrm>
          <a:prstGeom prst="line">
            <a:avLst/>
          </a:prstGeom>
          <a:noFill/>
          <a:ln w="12700">
            <a:solidFill>
              <a:srgbClr val="E8590C"/>
            </a:solidFill>
            <a:prstDash val="solid"/>
          </a:ln>
        </p:spPr>
        <p:txBody>
          <a:bodyPr/>
          <a:p/>
        </p:txBody>
      </p:sp>
      <p:sp>
        <p:nvSpPr>
          <p:cNvPr id="39" name="Text 32"/>
          <p:cNvSpPr/>
          <p:nvPr/>
        </p:nvSpPr>
        <p:spPr>
          <a:xfrm>
            <a:off x="6487668" y="5660136"/>
            <a:ext cx="4686300" cy="356616"/>
          </a:xfrm>
          <a:prstGeom prst="rect">
            <a:avLst/>
          </a:prstGeom>
          <a:noFill/>
          <a:ln/>
        </p:spPr>
        <p:txBody>
          <a:bodyPr wrap="square" lIns="0" tIns="0" rIns="0" bIns="0" rtlCol="0" anchor="ctr"/>
          <a:lstStyle/>
          <a:p>
            <a:pPr indent="0" marL="0">
              <a:lnSpc>
                <a:spcPct val="104000"/>
              </a:lnSpc>
              <a:buNone/>
            </a:pPr>
            <a:r>
              <a:rPr lang="en-US" sz="950" b="1" dirty="0">
                <a:solidFill>
                  <a:srgbClr val="212933"/>
                </a:solidFill>
                <a:latin typeface="Calibri" pitchFamily="34" charset="0"/>
                <a:ea typeface="Calibri" pitchFamily="34" charset="-122"/>
                <a:cs typeface="Calibri" pitchFamily="34" charset="-120"/>
              </a:rPr>
              <a:t>Per-call and per-user cost from real usage logs, split by bucket, projected to a 100-agent workforce, and drillable straight to the transcript behind any figure.</a:t>
            </a:r>
            <a:endParaRPr lang="en-US" sz="950" dirty="0"/>
          </a:p>
        </p:txBody>
      </p:sp>
      <p:sp>
        <p:nvSpPr>
          <p:cNvPr id="40" name="Shape 33"/>
          <p:cNvSpPr/>
          <p:nvPr/>
        </p:nvSpPr>
        <p:spPr>
          <a:xfrm>
            <a:off x="777240" y="6272784"/>
            <a:ext cx="10634472" cy="438912"/>
          </a:xfrm>
          <a:prstGeom prst="roundRect">
            <a:avLst>
              <a:gd name="adj" fmla="val 18750"/>
            </a:avLst>
          </a:prstGeom>
          <a:solidFill>
            <a:srgbClr val="222B36"/>
          </a:solidFill>
          <a:ln/>
        </p:spPr>
        <p:txBody>
          <a:bodyPr/>
          <a:p/>
        </p:txBody>
      </p:sp>
      <p:sp>
        <p:nvSpPr>
          <p:cNvPr id="41" name="Text 34"/>
          <p:cNvSpPr/>
          <p:nvPr/>
        </p:nvSpPr>
        <p:spPr>
          <a:xfrm>
            <a:off x="777240" y="6272784"/>
            <a:ext cx="10634472" cy="438912"/>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Five problems, one platform — the AI gathers, prepares and measures; the licensed human advises and closes.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02  ·  SOLUTION</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spcAft>
                <a:spcPts val="300"/>
              </a:spcAft>
              <a:buNone/>
            </a:pPr>
            <a:r>
              <a:rPr lang="en-US" sz="2800" b="1" i="0">
                <a:solidFill>
                  <a:srgbClr val="005071"/>
                </a:solidFill>
                <a:latin typeface="Calibri Light" pitchFamily="34" charset="0"/>
                <a:ea typeface="Calibri Light" pitchFamily="34" charset="-122"/>
                <a:cs typeface="Calibri Light" pitchFamily="34" charset="-120"/>
              </a:rPr>
              <a:t>The Solution — Four Pillars, One Pipeline</a:t>
            </a:r>
            <a:endParaRPr lang="en-US" sz="2800"/>
          </a:p>
        </p:txBody>
      </p:sp>
      <p:sp>
        <p:nvSpPr>
          <p:cNvPr id="4" name="Text 2"/>
          <p:cNvSpPr/>
          <p:nvPr/>
        </p:nvSpPr>
        <p:spPr>
          <a:xfrm>
            <a:off x="502920" y="1463040"/>
            <a:ext cx="11155680" cy="548640"/>
          </a:xfrm>
          <a:prstGeom prst="rect">
            <a:avLst/>
          </a:prstGeom>
          <a:noFill/>
          <a:ln/>
        </p:spPr>
        <p:txBody>
          <a:bodyPr wrap="square" rtlCol="0" anchor="t"/>
          <a:lstStyle/>
          <a:p>
            <a:pPr marL="0" indent="0">
              <a:spcAft>
                <a:spcPts val="300"/>
              </a:spcAft>
              <a:buNone/>
            </a:pPr>
            <a:r>
              <a:rPr lang="en-US" sz="1300" i="0">
                <a:solidFill>
                  <a:srgbClr val="6C727B"/>
                </a:solidFill>
                <a:latin typeface="Calibri" pitchFamily="34" charset="0"/>
                <a:ea typeface="Calibri" pitchFamily="34" charset="-122"/>
                <a:cs typeface="Calibri" pitchFamily="34" charset="-120"/>
              </a:rPr>
              <a:t>One real-time pipeline over the live conversation. The AI listens, assists and measures; the licensed human advises and closes.</a:t>
            </a:r>
            <a:endParaRPr lang="en-US" sz="1400"/>
          </a:p>
        </p:txBody>
      </p:sp>
      <p:sp>
        <p:nvSpPr>
          <p:cNvPr id="5" name="Shape 3"/>
          <p:cNvSpPr/>
          <p:nvPr/>
        </p:nvSpPr>
        <p:spPr>
          <a:xfrm>
            <a:off x="502920"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6" name="Shape 4"/>
          <p:cNvSpPr/>
          <p:nvPr/>
        </p:nvSpPr>
        <p:spPr>
          <a:xfrm>
            <a:off x="1527048" y="2468880"/>
            <a:ext cx="640080" cy="640080"/>
          </a:xfrm>
          <a:prstGeom prst="ellipse">
            <a:avLst/>
          </a:prstGeom>
          <a:solidFill>
            <a:srgbClr val="FB4E0B"/>
          </a:solidFill>
          <a:ln/>
        </p:spPr>
        <p:txBody>
          <a:bodyPr/>
          <a:lstStyle/>
          <a:p>
            <a:endParaRPr lang="en-US"/>
          </a:p>
        </p:txBody>
      </p:sp>
      <p:sp>
        <p:nvSpPr>
          <p:cNvPr id="7" name="Text 5"/>
          <p:cNvSpPr/>
          <p:nvPr/>
        </p:nvSpPr>
        <p:spPr>
          <a:xfrm>
            <a:off x="1527048"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1</a:t>
            </a:r>
            <a:endParaRPr lang="en-US" sz="2400"/>
          </a:p>
        </p:txBody>
      </p:sp>
      <p:sp>
        <p:nvSpPr>
          <p:cNvPr id="8" name="Text 6"/>
          <p:cNvSpPr/>
          <p:nvPr/>
        </p:nvSpPr>
        <p:spPr>
          <a:xfrm>
            <a:off x="640080"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Agentic Copilot</a:t>
            </a:r>
            <a:endParaRPr lang="en-US" sz="1500"/>
          </a:p>
        </p:txBody>
      </p:sp>
      <p:sp>
        <p:nvSpPr>
          <p:cNvPr id="9" name="Text 7"/>
          <p:cNvSpPr/>
          <p:nvPr/>
        </p:nvSpPr>
        <p:spPr>
          <a:xfrm>
            <a:off x="685800"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Works symbiotically with the application, not as a chatbot pushing text back: 23 governed tools that read live business data, drive the screens, draft emails and record updates for one-click approval, and place calls from natural language.</a:t>
            </a:r>
            <a:endParaRPr lang="en-US" sz="1150"/>
          </a:p>
        </p:txBody>
      </p:sp>
      <p:sp>
        <p:nvSpPr>
          <p:cNvPr id="10" name="Shape 8"/>
          <p:cNvSpPr/>
          <p:nvPr/>
        </p:nvSpPr>
        <p:spPr>
          <a:xfrm>
            <a:off x="3364992"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11" name="Shape 9"/>
          <p:cNvSpPr/>
          <p:nvPr/>
        </p:nvSpPr>
        <p:spPr>
          <a:xfrm>
            <a:off x="4389120" y="2468880"/>
            <a:ext cx="640080" cy="640080"/>
          </a:xfrm>
          <a:prstGeom prst="ellipse">
            <a:avLst/>
          </a:prstGeom>
          <a:solidFill>
            <a:srgbClr val="FB4E0B"/>
          </a:solidFill>
          <a:ln/>
        </p:spPr>
        <p:txBody>
          <a:bodyPr/>
          <a:lstStyle/>
          <a:p>
            <a:endParaRPr lang="en-US"/>
          </a:p>
        </p:txBody>
      </p:sp>
      <p:sp>
        <p:nvSpPr>
          <p:cNvPr id="12" name="Text 10"/>
          <p:cNvSpPr/>
          <p:nvPr/>
        </p:nvSpPr>
        <p:spPr>
          <a:xfrm>
            <a:off x="4389120"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2</a:t>
            </a:r>
            <a:endParaRPr lang="en-US" sz="2400"/>
          </a:p>
        </p:txBody>
      </p:sp>
      <p:sp>
        <p:nvSpPr>
          <p:cNvPr id="13" name="Text 11"/>
          <p:cNvSpPr/>
          <p:nvPr/>
        </p:nvSpPr>
        <p:spPr>
          <a:xfrm>
            <a:off x="3502152"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Conversation Intelligence</a:t>
            </a:r>
            <a:endParaRPr lang="en-US" sz="1500"/>
          </a:p>
        </p:txBody>
      </p:sp>
      <p:sp>
        <p:nvSpPr>
          <p:cNvPr id="14" name="Text 12"/>
          <p:cNvSpPr/>
          <p:nvPr/>
        </p:nvSpPr>
        <p:spPr>
          <a:xfrm>
            <a:off x="3547872"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Live transcription with two-layer compliance — deterministic rules in under a second, plus an AI layer that catches paraphrased violations — alongside emotion-shift detection and proactive coaching on every call.</a:t>
            </a:r>
            <a:endParaRPr lang="en-US" sz="1150"/>
          </a:p>
        </p:txBody>
      </p:sp>
      <p:sp>
        <p:nvSpPr>
          <p:cNvPr id="15" name="Shape 13"/>
          <p:cNvSpPr/>
          <p:nvPr/>
        </p:nvSpPr>
        <p:spPr>
          <a:xfrm>
            <a:off x="6227064"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16" name="Shape 14"/>
          <p:cNvSpPr/>
          <p:nvPr/>
        </p:nvSpPr>
        <p:spPr>
          <a:xfrm>
            <a:off x="7251192" y="2468880"/>
            <a:ext cx="640080" cy="640080"/>
          </a:xfrm>
          <a:prstGeom prst="ellipse">
            <a:avLst/>
          </a:prstGeom>
          <a:solidFill>
            <a:srgbClr val="FB4E0B"/>
          </a:solidFill>
          <a:ln/>
        </p:spPr>
        <p:txBody>
          <a:bodyPr/>
          <a:lstStyle/>
          <a:p>
            <a:endParaRPr lang="en-US"/>
          </a:p>
        </p:txBody>
      </p:sp>
      <p:sp>
        <p:nvSpPr>
          <p:cNvPr id="17" name="Text 15"/>
          <p:cNvSpPr/>
          <p:nvPr/>
        </p:nvSpPr>
        <p:spPr>
          <a:xfrm>
            <a:off x="7251192"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3</a:t>
            </a:r>
            <a:endParaRPr lang="en-US" sz="2400"/>
          </a:p>
        </p:txBody>
      </p:sp>
      <p:sp>
        <p:nvSpPr>
          <p:cNvPr id="18" name="Text 16"/>
          <p:cNvSpPr/>
          <p:nvPr/>
        </p:nvSpPr>
        <p:spPr>
          <a:xfrm>
            <a:off x="6364224"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Supervisor &amp; Governance</a:t>
            </a:r>
            <a:endParaRPr lang="en-US" sz="1500"/>
          </a:p>
        </p:txBody>
      </p:sp>
      <p:sp>
        <p:nvSpPr>
          <p:cNvPr id="19" name="Text 17"/>
          <p:cNvSpPr/>
          <p:nvPr/>
        </p:nvSpPr>
        <p:spPr>
          <a:xfrm>
            <a:off x="6409944"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Live monitoring with every alert pinned to the line that triggered it. Business users edit compliance rules, coaching rules and QA scoring criteria themselves — effective on the very next call, with no deployment.</a:t>
            </a:r>
            <a:endParaRPr lang="en-US" sz="1150"/>
          </a:p>
        </p:txBody>
      </p:sp>
      <p:sp>
        <p:nvSpPr>
          <p:cNvPr id="20" name="Shape 18"/>
          <p:cNvSpPr/>
          <p:nvPr/>
        </p:nvSpPr>
        <p:spPr>
          <a:xfrm>
            <a:off x="9089136" y="2240280"/>
            <a:ext cx="2688336" cy="3108960"/>
          </a:xfrm>
          <a:prstGeom prst="roundRect">
            <a:avLst>
              <a:gd name="adj" fmla="val 2041"/>
            </a:avLst>
          </a:prstGeom>
          <a:solidFill>
            <a:srgbClr val="DCF3FA"/>
          </a:solidFill>
          <a:ln w="12700">
            <a:solidFill>
              <a:srgbClr val="ACB6BE"/>
            </a:solidFill>
            <a:prstDash val="solid"/>
          </a:ln>
        </p:spPr>
        <p:txBody>
          <a:bodyPr/>
          <a:lstStyle/>
          <a:p>
            <a:endParaRPr lang="en-US"/>
          </a:p>
        </p:txBody>
      </p:sp>
      <p:sp>
        <p:nvSpPr>
          <p:cNvPr id="21" name="Shape 19"/>
          <p:cNvSpPr/>
          <p:nvPr/>
        </p:nvSpPr>
        <p:spPr>
          <a:xfrm>
            <a:off x="10113264" y="2468880"/>
            <a:ext cx="640080" cy="640080"/>
          </a:xfrm>
          <a:prstGeom prst="ellipse">
            <a:avLst/>
          </a:prstGeom>
          <a:solidFill>
            <a:srgbClr val="FB4E0B"/>
          </a:solidFill>
          <a:ln/>
        </p:spPr>
        <p:txBody>
          <a:bodyPr/>
          <a:lstStyle/>
          <a:p>
            <a:endParaRPr lang="en-US"/>
          </a:p>
        </p:txBody>
      </p:sp>
      <p:sp>
        <p:nvSpPr>
          <p:cNvPr id="22" name="Text 20"/>
          <p:cNvSpPr/>
          <p:nvPr/>
        </p:nvSpPr>
        <p:spPr>
          <a:xfrm>
            <a:off x="10113264" y="2468880"/>
            <a:ext cx="640080" cy="640080"/>
          </a:xfrm>
          <a:prstGeom prst="rect">
            <a:avLst/>
          </a:prstGeom>
          <a:noFill/>
          <a:ln/>
        </p:spPr>
        <p:txBody>
          <a:bodyPr wrap="square" lIns="0" tIns="0" rIns="0" bIns="0" rtlCol="0" anchor="ctr"/>
          <a:lstStyle/>
          <a:p>
            <a:pPr marL="0" indent="0" algn="ctr">
              <a:buNone/>
            </a:pPr>
            <a:r>
              <a:rPr lang="en-US" sz="2400" b="1">
                <a:solidFill>
                  <a:srgbClr val="FFFFFF"/>
                </a:solidFill>
                <a:latin typeface="Calibri Light" pitchFamily="34" charset="0"/>
                <a:ea typeface="Calibri Light" pitchFamily="34" charset="-122"/>
                <a:cs typeface="Calibri Light" pitchFamily="34" charset="-120"/>
              </a:rPr>
              <a:t>4</a:t>
            </a:r>
            <a:endParaRPr lang="en-US" sz="2400"/>
          </a:p>
        </p:txBody>
      </p:sp>
      <p:sp>
        <p:nvSpPr>
          <p:cNvPr id="23" name="Text 21"/>
          <p:cNvSpPr/>
          <p:nvPr/>
        </p:nvSpPr>
        <p:spPr>
          <a:xfrm>
            <a:off x="9226296" y="3246120"/>
            <a:ext cx="2414016" cy="457200"/>
          </a:xfrm>
          <a:prstGeom prst="rect">
            <a:avLst/>
          </a:prstGeom>
          <a:noFill/>
          <a:ln/>
        </p:spPr>
        <p:txBody>
          <a:bodyPr wrap="square" lIns="0" tIns="0" rIns="0" bIns="0" rtlCol="0" anchor="ctr"/>
          <a:lstStyle/>
          <a:p>
            <a:pPr marL="0" indent="0" algn="ctr">
              <a:spcAft>
                <a:spcPts val="300"/>
              </a:spcAft>
              <a:buNone/>
            </a:pPr>
            <a:r>
              <a:rPr lang="en-US" sz="1500" b="1" i="0">
                <a:solidFill>
                  <a:srgbClr val="005071"/>
                </a:solidFill>
                <a:latin typeface="Calibri Light" pitchFamily="34" charset="0"/>
                <a:ea typeface="Calibri Light" pitchFamily="34" charset="-122"/>
                <a:cs typeface="Calibri Light" pitchFamily="34" charset="-120"/>
              </a:rPr>
              <a:t>Cost Transparency</a:t>
            </a:r>
            <a:endParaRPr lang="en-US" sz="1500"/>
          </a:p>
        </p:txBody>
      </p:sp>
      <p:sp>
        <p:nvSpPr>
          <p:cNvPr id="24" name="Text 22"/>
          <p:cNvSpPr/>
          <p:nvPr/>
        </p:nvSpPr>
        <p:spPr>
          <a:xfrm>
            <a:off x="9272016" y="3749040"/>
            <a:ext cx="2322576" cy="1463040"/>
          </a:xfrm>
          <a:prstGeom prst="rect">
            <a:avLst/>
          </a:prstGeom>
          <a:noFill/>
          <a:ln/>
        </p:spPr>
        <p:txBody>
          <a:bodyPr wrap="square" lIns="0" tIns="0" rIns="0" bIns="0" rtlCol="0" anchor="t"/>
          <a:lstStyle/>
          <a:p>
            <a:pPr marL="0" indent="0" algn="ctr">
              <a:spcAft>
                <a:spcPts val="300"/>
              </a:spcAft>
              <a:buNone/>
            </a:pPr>
            <a:r>
              <a:rPr lang="en-US" sz="1050" i="0">
                <a:solidFill>
                  <a:srgbClr val="6C727B"/>
                </a:solidFill>
                <a:latin typeface="Calibri" pitchFamily="34" charset="0"/>
                <a:ea typeface="Calibri" pitchFamily="34" charset="-122"/>
                <a:cs typeface="Calibri" pitchFamily="34" charset="-120"/>
              </a:rPr>
              <a:t>Per-call and per-agent AI cost from real usage logs, split by feature and drillable to the transcript behind any figure — instead of one opaque vendor invoice at the end of the month.</a:t>
            </a:r>
            <a:endParaRPr lang="en-US" sz="1150"/>
          </a:p>
        </p:txBody>
      </p:sp>
    </p:spTree>
  </p:cSld>
  <p:clrMapOvr>
    <a:masterClrMapping/>
  </p:clrMapOvr>
</p:sld>
</file>

<file path=ppt/slides/slide3_b.xml><?xml version="1.0" encoding="utf-8"?>
<p:sld xmlns:a="http://schemas.openxmlformats.org/drawingml/2006/main" xmlns:r="http://schemas.openxmlformats.org/officeDocument/2006/relationships" xmlns:p="http://schemas.openxmlformats.org/presentationml/2006/main">
  <p:cSld name="Slide 3">
    <p:bg>
      <p:bgPr>
        <a:solidFill>
          <a:srgbClr val="222B36"/>
        </a:solidFill>
      </p:bgPr>
    </p:bg>
    <p:spTree>
      <p:nvGrpSpPr>
        <p:cNvPr id="1" name=""/>
        <p:cNvGrpSpPr/>
        <p:nvPr/>
      </p:nvGrpSpPr>
      <p:grpSpPr>
        <a:xfrm>
          <a:off x="0" y="0"/>
          <a:ext cx="0" cy="0"/>
          <a:chOff x="0" y="0"/>
          <a:chExt cx="0" cy="0"/>
        </a:xfrm>
      </p:grpSpPr>
      <p:sp>
        <p:nvSpPr>
          <p:cNvPr id="2" name="Text 0"/>
          <p:cNvSpPr/>
          <p:nvPr/>
        </p:nvSpPr>
        <p:spPr>
          <a:xfrm>
            <a:off x="777240" y="548640"/>
            <a:ext cx="233172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THE CAPABILITIES</a:t>
            </a:r>
            <a:endParaRPr lang="en-US" sz="1150" dirty="0"/>
          </a:p>
        </p:txBody>
      </p:sp>
      <p:sp>
        <p:nvSpPr>
          <p:cNvPr id="3" name="Text 1"/>
          <p:cNvSpPr/>
          <p:nvPr/>
        </p:nvSpPr>
        <p:spPr>
          <a:xfrm>
            <a:off x="731520" y="960120"/>
            <a:ext cx="10698480" cy="73152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Three pillars, one platform</a:t>
            </a:r>
            <a:endParaRPr lang="en-US" sz="3400" dirty="0"/>
          </a:p>
        </p:txBody>
      </p:sp>
      <p:sp>
        <p:nvSpPr>
          <p:cNvPr id="4" name="Text 2"/>
          <p:cNvSpPr/>
          <p:nvPr/>
        </p:nvSpPr>
        <p:spPr>
          <a:xfrm>
            <a:off x="777240" y="1664208"/>
            <a:ext cx="10515600" cy="457200"/>
          </a:xfrm>
          <a:prstGeom prst="rect">
            <a:avLst/>
          </a:prstGeom>
          <a:noFill/>
          <a:ln/>
        </p:spPr>
        <p:txBody>
          <a:bodyPr wrap="square" rtlCol="0" anchor="ctr"/>
          <a:lstStyle/>
          <a:p>
            <a:pPr indent="0" marL="0">
              <a:buNone/>
            </a:pPr>
            <a:r>
              <a:rPr lang="en-US" sz="1500" dirty="0">
                <a:solidFill>
                  <a:srgbClr val="D7DEE7"/>
                </a:solidFill>
                <a:latin typeface="Calibri" pitchFamily="34" charset="0"/>
                <a:ea typeface="Calibri" pitchFamily="34" charset="-122"/>
                <a:cs typeface="Calibri" pitchFamily="34" charset="-120"/>
              </a:rPr>
              <a:t>All three run on the same real-time conversation pipeline — transcript in, actions and insight out.</a:t>
            </a:r>
            <a:endParaRPr lang="en-US" sz="1500" dirty="0"/>
          </a:p>
        </p:txBody>
      </p:sp>
      <p:sp>
        <p:nvSpPr>
          <p:cNvPr id="5" name="Shape 3"/>
          <p:cNvSpPr/>
          <p:nvPr/>
        </p:nvSpPr>
        <p:spPr>
          <a:xfrm>
            <a:off x="777240" y="2377440"/>
            <a:ext cx="3401568" cy="3063240"/>
          </a:xfrm>
          <a:prstGeom prst="roundRect">
            <a:avLst>
              <a:gd name="adj" fmla="val 3284"/>
            </a:avLst>
          </a:prstGeom>
          <a:solidFill>
            <a:srgbClr val="2C3644"/>
          </a:solidFill>
          <a:ln w="12700">
            <a:solidFill>
              <a:srgbClr val="3C4857"/>
            </a:solidFill>
            <a:prstDash val="solid"/>
          </a:ln>
        </p:spPr>
        <p:txBody>
          <a:bodyPr/>
          <a:p/>
        </p:txBody>
      </p:sp>
      <p:sp>
        <p:nvSpPr>
          <p:cNvPr id="6" name="Shape 4"/>
          <p:cNvSpPr/>
          <p:nvPr/>
        </p:nvSpPr>
        <p:spPr>
          <a:xfrm>
            <a:off x="1088136" y="2688336"/>
            <a:ext cx="822960" cy="822960"/>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7" name="Image 0" descr="preencoded.png">    </p:cNvPr>
          <p:cNvPicPr>
            <a:picLocks noChangeAspect="1"/>
          </p:cNvPicPr>
          <p:nvPr/>
        </p:nvPicPr>
        <p:blipFill>
          <a:blip r:embed="rId1"/>
          <a:stretch>
            <a:fillRect/>
          </a:stretch>
        </p:blipFill>
        <p:spPr>
          <a:xfrm>
            <a:off x="1293876" y="2894076"/>
            <a:ext cx="411480" cy="411480"/>
          </a:xfrm>
          <a:prstGeom prst="rect">
            <a:avLst/>
          </a:prstGeom>
        </p:spPr>
      </p:pic>
      <p:sp>
        <p:nvSpPr>
          <p:cNvPr id="8" name="Text 5"/>
          <p:cNvSpPr/>
          <p:nvPr/>
        </p:nvSpPr>
        <p:spPr>
          <a:xfrm>
            <a:off x="3127248" y="2596896"/>
            <a:ext cx="822960" cy="822960"/>
          </a:xfrm>
          <a:prstGeom prst="rect">
            <a:avLst/>
          </a:prstGeom>
          <a:noFill/>
          <a:ln/>
        </p:spPr>
        <p:txBody>
          <a:bodyPr wrap="square" rtlCol="0" anchor="ctr"/>
          <a:lstStyle/>
          <a:p>
            <a:pPr algn="r" indent="0" marL="0">
              <a:buNone/>
            </a:pPr>
            <a:r>
              <a:rPr lang="en-US" sz="4600" b="1" dirty="0">
                <a:solidFill>
                  <a:srgbClr val="3C4857"/>
                </a:solidFill>
                <a:latin typeface="Calibri" pitchFamily="34" charset="0"/>
                <a:ea typeface="Calibri" pitchFamily="34" charset="-122"/>
                <a:cs typeface="Calibri" pitchFamily="34" charset="-120"/>
              </a:rPr>
              <a:t>1</a:t>
            </a:r>
            <a:endParaRPr lang="en-US" sz="4600" dirty="0"/>
          </a:p>
        </p:txBody>
      </p:sp>
      <p:sp>
        <p:nvSpPr>
          <p:cNvPr id="9" name="Text 6"/>
          <p:cNvSpPr/>
          <p:nvPr/>
        </p:nvSpPr>
        <p:spPr>
          <a:xfrm>
            <a:off x="1088136" y="3602736"/>
            <a:ext cx="2779776" cy="777240"/>
          </a:xfrm>
          <a:prstGeom prst="rect">
            <a:avLst/>
          </a:prstGeom>
          <a:noFill/>
          <a:ln/>
        </p:spPr>
        <p:txBody>
          <a:bodyPr wrap="square" rtlCol="0" anchor="ctr"/>
          <a:lstStyle/>
          <a:p>
            <a:pPr indent="0" marL="0">
              <a:lnSpc>
                <a:spcPct val="95000"/>
              </a:lnSpc>
              <a:buNone/>
            </a:pPr>
            <a:r>
              <a:rPr lang="en-US" sz="1650" b="1" dirty="0">
                <a:solidFill>
                  <a:srgbClr val="FFFFFF"/>
                </a:solidFill>
                <a:latin typeface="Calibri" pitchFamily="34" charset="0"/>
                <a:ea typeface="Calibri" pitchFamily="34" charset="-122"/>
                <a:cs typeface="Calibri" pitchFamily="34" charset="-120"/>
              </a:rPr>
              <a:t>Agentic AI Copilot</a:t>
            </a:r>
            <a:endParaRPr lang="en-US" sz="1650" dirty="0"/>
          </a:p>
        </p:txBody>
      </p:sp>
      <p:sp>
        <p:nvSpPr>
          <p:cNvPr id="10" name="Text 7"/>
          <p:cNvSpPr/>
          <p:nvPr/>
        </p:nvSpPr>
        <p:spPr>
          <a:xfrm>
            <a:off x="1088136" y="4352544"/>
            <a:ext cx="2779776" cy="1005840"/>
          </a:xfrm>
          <a:prstGeom prst="rect">
            <a:avLst/>
          </a:prstGeom>
          <a:noFill/>
          <a:ln/>
        </p:spPr>
        <p:txBody>
          <a:bodyPr wrap="square" rtlCol="0" anchor="ctr"/>
          <a:lstStyle/>
          <a:p>
            <a:pPr indent="0" marL="0">
              <a:lnSpc>
                <a:spcPct val="105000"/>
              </a:lnSpc>
              <a:buNone/>
            </a:pPr>
            <a:r>
              <a:rPr lang="en-US" sz="1150" dirty="0">
                <a:solidFill>
                  <a:srgbClr val="D7DEE7"/>
                </a:solidFill>
                <a:latin typeface="Calibri" pitchFamily="34" charset="0"/>
                <a:ea typeface="Calibri" pitchFamily="34" charset="-122"/>
                <a:cs typeface="Calibri" pitchFamily="34" charset="-120"/>
              </a:rPr>
              <a:t>An embedded assistant with full tool use: answers from live business data, drives the UI, drafts actions, and places calls — approval-gated, or autonomous in Auto-Pilot mode.</a:t>
            </a:r>
            <a:endParaRPr lang="en-US" sz="1150" dirty="0"/>
          </a:p>
        </p:txBody>
      </p:sp>
      <p:sp>
        <p:nvSpPr>
          <p:cNvPr id="11" name="Shape 8"/>
          <p:cNvSpPr/>
          <p:nvPr/>
        </p:nvSpPr>
        <p:spPr>
          <a:xfrm>
            <a:off x="4489704" y="2377440"/>
            <a:ext cx="3401568" cy="3063240"/>
          </a:xfrm>
          <a:prstGeom prst="roundRect">
            <a:avLst>
              <a:gd name="adj" fmla="val 3284"/>
            </a:avLst>
          </a:prstGeom>
          <a:solidFill>
            <a:srgbClr val="2C3644"/>
          </a:solidFill>
          <a:ln w="12700">
            <a:solidFill>
              <a:srgbClr val="3C4857"/>
            </a:solidFill>
            <a:prstDash val="solid"/>
          </a:ln>
        </p:spPr>
        <p:txBody>
          <a:bodyPr/>
          <a:p/>
        </p:txBody>
      </p:sp>
      <p:sp>
        <p:nvSpPr>
          <p:cNvPr id="12" name="Shape 9"/>
          <p:cNvSpPr/>
          <p:nvPr/>
        </p:nvSpPr>
        <p:spPr>
          <a:xfrm>
            <a:off x="4800600" y="2688336"/>
            <a:ext cx="822960" cy="822960"/>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3" name="Image 1" descr="preencoded.png">    </p:cNvPr>
          <p:cNvPicPr>
            <a:picLocks noChangeAspect="1"/>
          </p:cNvPicPr>
          <p:nvPr/>
        </p:nvPicPr>
        <p:blipFill>
          <a:blip r:embed="rId2"/>
          <a:stretch>
            <a:fillRect/>
          </a:stretch>
        </p:blipFill>
        <p:spPr>
          <a:xfrm>
            <a:off x="5006340" y="2894076"/>
            <a:ext cx="411480" cy="411480"/>
          </a:xfrm>
          <a:prstGeom prst="rect">
            <a:avLst/>
          </a:prstGeom>
        </p:spPr>
      </p:pic>
      <p:sp>
        <p:nvSpPr>
          <p:cNvPr id="14" name="Text 10"/>
          <p:cNvSpPr/>
          <p:nvPr/>
        </p:nvSpPr>
        <p:spPr>
          <a:xfrm>
            <a:off x="6839712" y="2596896"/>
            <a:ext cx="822960" cy="822960"/>
          </a:xfrm>
          <a:prstGeom prst="rect">
            <a:avLst/>
          </a:prstGeom>
          <a:noFill/>
          <a:ln/>
        </p:spPr>
        <p:txBody>
          <a:bodyPr wrap="square" rtlCol="0" anchor="ctr"/>
          <a:lstStyle/>
          <a:p>
            <a:pPr algn="r" indent="0" marL="0">
              <a:buNone/>
            </a:pPr>
            <a:r>
              <a:rPr lang="en-US" sz="4600" b="1" dirty="0">
                <a:solidFill>
                  <a:srgbClr val="3C4857"/>
                </a:solidFill>
                <a:latin typeface="Calibri" pitchFamily="34" charset="0"/>
                <a:ea typeface="Calibri" pitchFamily="34" charset="-122"/>
                <a:cs typeface="Calibri" pitchFamily="34" charset="-120"/>
              </a:rPr>
              <a:t>2</a:t>
            </a:r>
            <a:endParaRPr lang="en-US" sz="4600" dirty="0"/>
          </a:p>
        </p:txBody>
      </p:sp>
      <p:sp>
        <p:nvSpPr>
          <p:cNvPr id="15" name="Text 11"/>
          <p:cNvSpPr/>
          <p:nvPr/>
        </p:nvSpPr>
        <p:spPr>
          <a:xfrm>
            <a:off x="4800600" y="3602736"/>
            <a:ext cx="2779776" cy="777240"/>
          </a:xfrm>
          <a:prstGeom prst="rect">
            <a:avLst/>
          </a:prstGeom>
          <a:noFill/>
          <a:ln/>
        </p:spPr>
        <p:txBody>
          <a:bodyPr wrap="square" rtlCol="0" anchor="ctr"/>
          <a:lstStyle/>
          <a:p>
            <a:pPr indent="0" marL="0">
              <a:lnSpc>
                <a:spcPct val="95000"/>
              </a:lnSpc>
              <a:buNone/>
            </a:pPr>
            <a:r>
              <a:rPr lang="en-US" sz="1650" b="1" dirty="0">
                <a:solidFill>
                  <a:srgbClr val="FFFFFF"/>
                </a:solidFill>
                <a:latin typeface="Calibri" pitchFamily="34" charset="0"/>
                <a:ea typeface="Calibri" pitchFamily="34" charset="-122"/>
                <a:cs typeface="Calibri" pitchFamily="34" charset="-120"/>
              </a:rPr>
              <a:t>Real-Time Conversation Intelligence</a:t>
            </a:r>
            <a:endParaRPr lang="en-US" sz="1650" dirty="0"/>
          </a:p>
        </p:txBody>
      </p:sp>
      <p:sp>
        <p:nvSpPr>
          <p:cNvPr id="16" name="Text 12"/>
          <p:cNvSpPr/>
          <p:nvPr/>
        </p:nvSpPr>
        <p:spPr>
          <a:xfrm>
            <a:off x="4800600" y="4352544"/>
            <a:ext cx="2779776" cy="1005840"/>
          </a:xfrm>
          <a:prstGeom prst="rect">
            <a:avLst/>
          </a:prstGeom>
          <a:noFill/>
          <a:ln/>
        </p:spPr>
        <p:txBody>
          <a:bodyPr wrap="square" rtlCol="0" anchor="ctr"/>
          <a:lstStyle/>
          <a:p>
            <a:pPr indent="0" marL="0">
              <a:lnSpc>
                <a:spcPct val="105000"/>
              </a:lnSpc>
              <a:buNone/>
            </a:pPr>
            <a:r>
              <a:rPr lang="en-US" sz="1150" dirty="0">
                <a:solidFill>
                  <a:srgbClr val="D7DEE7"/>
                </a:solidFill>
                <a:latin typeface="Calibri" pitchFamily="34" charset="0"/>
                <a:ea typeface="Calibri" pitchFamily="34" charset="-122"/>
                <a:cs typeface="Calibri" pitchFamily="34" charset="-120"/>
              </a:rPr>
              <a:t>Live transcription, two-layer compliance monitoring, sentiment shift detection, and proactive coaching — cost-engineered to run on every call.</a:t>
            </a:r>
            <a:endParaRPr lang="en-US" sz="1150" dirty="0"/>
          </a:p>
        </p:txBody>
      </p:sp>
      <p:sp>
        <p:nvSpPr>
          <p:cNvPr id="17" name="Shape 13"/>
          <p:cNvSpPr/>
          <p:nvPr/>
        </p:nvSpPr>
        <p:spPr>
          <a:xfrm>
            <a:off x="8202168" y="2377440"/>
            <a:ext cx="3401568" cy="3063240"/>
          </a:xfrm>
          <a:prstGeom prst="roundRect">
            <a:avLst>
              <a:gd name="adj" fmla="val 3284"/>
            </a:avLst>
          </a:prstGeom>
          <a:solidFill>
            <a:srgbClr val="2C3644"/>
          </a:solidFill>
          <a:ln w="12700">
            <a:solidFill>
              <a:srgbClr val="3C4857"/>
            </a:solidFill>
            <a:prstDash val="solid"/>
          </a:ln>
        </p:spPr>
        <p:txBody>
          <a:bodyPr/>
          <a:p/>
        </p:txBody>
      </p:sp>
      <p:sp>
        <p:nvSpPr>
          <p:cNvPr id="18" name="Shape 14"/>
          <p:cNvSpPr/>
          <p:nvPr/>
        </p:nvSpPr>
        <p:spPr>
          <a:xfrm>
            <a:off x="8513064" y="2688336"/>
            <a:ext cx="822960" cy="822960"/>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19" name="Image 2" descr="preencoded.png">    </p:cNvPr>
          <p:cNvPicPr>
            <a:picLocks noChangeAspect="1"/>
          </p:cNvPicPr>
          <p:nvPr/>
        </p:nvPicPr>
        <p:blipFill>
          <a:blip r:embed="rId3"/>
          <a:stretch>
            <a:fillRect/>
          </a:stretch>
        </p:blipFill>
        <p:spPr>
          <a:xfrm>
            <a:off x="8718804" y="2894076"/>
            <a:ext cx="411480" cy="411480"/>
          </a:xfrm>
          <a:prstGeom prst="rect">
            <a:avLst/>
          </a:prstGeom>
        </p:spPr>
      </p:pic>
      <p:sp>
        <p:nvSpPr>
          <p:cNvPr id="20" name="Text 15"/>
          <p:cNvSpPr/>
          <p:nvPr/>
        </p:nvSpPr>
        <p:spPr>
          <a:xfrm>
            <a:off x="10552176" y="2596896"/>
            <a:ext cx="822960" cy="822960"/>
          </a:xfrm>
          <a:prstGeom prst="rect">
            <a:avLst/>
          </a:prstGeom>
          <a:noFill/>
          <a:ln/>
        </p:spPr>
        <p:txBody>
          <a:bodyPr wrap="square" rtlCol="0" anchor="ctr"/>
          <a:lstStyle/>
          <a:p>
            <a:pPr algn="r" indent="0" marL="0">
              <a:buNone/>
            </a:pPr>
            <a:r>
              <a:rPr lang="en-US" sz="4600" b="1" dirty="0">
                <a:solidFill>
                  <a:srgbClr val="3C4857"/>
                </a:solidFill>
                <a:latin typeface="Calibri" pitchFamily="34" charset="0"/>
                <a:ea typeface="Calibri" pitchFamily="34" charset="-122"/>
                <a:cs typeface="Calibri" pitchFamily="34" charset="-120"/>
              </a:rPr>
              <a:t>3</a:t>
            </a:r>
            <a:endParaRPr lang="en-US" sz="4600" dirty="0"/>
          </a:p>
        </p:txBody>
      </p:sp>
      <p:sp>
        <p:nvSpPr>
          <p:cNvPr id="21" name="Text 16"/>
          <p:cNvSpPr/>
          <p:nvPr/>
        </p:nvSpPr>
        <p:spPr>
          <a:xfrm>
            <a:off x="8513064" y="3602736"/>
            <a:ext cx="2779776" cy="777240"/>
          </a:xfrm>
          <a:prstGeom prst="rect">
            <a:avLst/>
          </a:prstGeom>
          <a:noFill/>
          <a:ln/>
        </p:spPr>
        <p:txBody>
          <a:bodyPr wrap="square" rtlCol="0" anchor="ctr"/>
          <a:lstStyle/>
          <a:p>
            <a:pPr indent="0" marL="0">
              <a:lnSpc>
                <a:spcPct val="95000"/>
              </a:lnSpc>
              <a:buNone/>
            </a:pPr>
            <a:r>
              <a:rPr lang="en-US" sz="1650" b="1" dirty="0">
                <a:solidFill>
                  <a:srgbClr val="FFFFFF"/>
                </a:solidFill>
                <a:latin typeface="Calibri" pitchFamily="34" charset="0"/>
                <a:ea typeface="Calibri" pitchFamily="34" charset="-122"/>
                <a:cs typeface="Calibri" pitchFamily="34" charset="-120"/>
              </a:rPr>
              <a:t>Supervisor Command Center &amp; AI Governance</a:t>
            </a:r>
            <a:endParaRPr lang="en-US" sz="1650" dirty="0"/>
          </a:p>
        </p:txBody>
      </p:sp>
      <p:sp>
        <p:nvSpPr>
          <p:cNvPr id="22" name="Text 17"/>
          <p:cNvSpPr/>
          <p:nvPr/>
        </p:nvSpPr>
        <p:spPr>
          <a:xfrm>
            <a:off x="8513064" y="4352544"/>
            <a:ext cx="2779776" cy="1005840"/>
          </a:xfrm>
          <a:prstGeom prst="rect">
            <a:avLst/>
          </a:prstGeom>
          <a:noFill/>
          <a:ln/>
        </p:spPr>
        <p:txBody>
          <a:bodyPr wrap="square" rtlCol="0" anchor="ctr"/>
          <a:lstStyle/>
          <a:p>
            <a:pPr indent="0" marL="0">
              <a:lnSpc>
                <a:spcPct val="105000"/>
              </a:lnSpc>
              <a:buNone/>
            </a:pPr>
            <a:r>
              <a:rPr lang="en-US" sz="1150" dirty="0">
                <a:solidFill>
                  <a:srgbClr val="D7DEE7"/>
                </a:solidFill>
                <a:latin typeface="Calibri" pitchFamily="34" charset="0"/>
                <a:ea typeface="Calibri" pitchFamily="34" charset="-122"/>
                <a:cs typeface="Calibri" pitchFamily="34" charset="-120"/>
              </a:rPr>
              <a:t>Live monitoring with instant mid-call backfill; business users edit the rules, coaching, and QA scoring criteria — no deployment, full audit trail.</a:t>
            </a:r>
            <a:endParaRPr lang="en-US" sz="1150" dirty="0"/>
          </a:p>
        </p:txBody>
      </p:sp>
      <p:sp>
        <p:nvSpPr>
          <p:cNvPr id="23" name="Shape 18"/>
          <p:cNvSpPr/>
          <p:nvPr/>
        </p:nvSpPr>
        <p:spPr>
          <a:xfrm>
            <a:off x="777240" y="5715000"/>
            <a:ext cx="10634472" cy="749808"/>
          </a:xfrm>
          <a:prstGeom prst="roundRect">
            <a:avLst>
              <a:gd name="adj" fmla="val 12195"/>
            </a:avLst>
          </a:prstGeom>
          <a:solidFill>
            <a:srgbClr val="E8590C"/>
          </a:solidFill>
          <a:ln/>
        </p:spPr>
        <p:txBody>
          <a:bodyPr/>
          <a:p/>
        </p:txBody>
      </p:sp>
      <p:pic>
        <p:nvPicPr>
          <p:cNvPr id="24" name="Image 3" descr="preencoded.png">    </p:cNvPr>
          <p:cNvPicPr>
            <a:picLocks noChangeAspect="1"/>
          </p:cNvPicPr>
          <p:nvPr/>
        </p:nvPicPr>
        <p:blipFill>
          <a:blip r:embed="rId4"/>
          <a:stretch>
            <a:fillRect/>
          </a:stretch>
        </p:blipFill>
        <p:spPr>
          <a:xfrm>
            <a:off x="1051560" y="5916168"/>
            <a:ext cx="365760" cy="365760"/>
          </a:xfrm>
          <a:prstGeom prst="rect">
            <a:avLst/>
          </a:prstGeom>
        </p:spPr>
      </p:pic>
      <p:sp>
        <p:nvSpPr>
          <p:cNvPr id="25" name="Text 19"/>
          <p:cNvSpPr/>
          <p:nvPr/>
        </p:nvSpPr>
        <p:spPr>
          <a:xfrm>
            <a:off x="1554480" y="5715000"/>
            <a:ext cx="9692640" cy="7498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Human-in-the-loop by default:  </a:t>
            </a:r>
            <a:pPr indent="0" marL="0">
              <a:buNone/>
            </a:pPr>
            <a:r>
              <a:rPr lang="en-US" sz="1450" dirty="0">
                <a:solidFill>
                  <a:srgbClr val="FFFFFF"/>
                </a:solidFill>
                <a:latin typeface="Calibri" pitchFamily="34" charset="0"/>
                <a:ea typeface="Calibri" pitchFamily="34" charset="-122"/>
                <a:cs typeface="Calibri" pitchFamily="34" charset="-120"/>
              </a:rPr>
              <a:t>AI proposes, humans approve — with an opt-in Auto-Pilot mode where policy allows.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03  ·  ARCHITECTURE</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Technical Architecture</a:t>
            </a:r>
            <a:endParaRPr lang="en-US" sz="2800"/>
          </a:p>
        </p:txBody>
      </p:sp>
      <p:sp>
        <p:nvSpPr>
          <p:cNvPr id="4" name="Shape 2"/>
          <p:cNvSpPr/>
          <p:nvPr/>
        </p:nvSpPr>
        <p:spPr>
          <a:xfrm>
            <a:off x="502920" y="1600200"/>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728216"/>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AI &amp; agent layer</a:t>
            </a:r>
            <a:endParaRPr lang="en-US" sz="1500"/>
          </a:p>
        </p:txBody>
      </p:sp>
      <p:sp>
        <p:nvSpPr>
          <p:cNvPr id="6" name="Text 4"/>
          <p:cNvSpPr/>
          <p:nvPr/>
        </p:nvSpPr>
        <p:spPr>
          <a:xfrm>
            <a:off x="4846320" y="1728216"/>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LangGraph copilot agent with 23 governed tools · QA evaluator · Claude via OpenRouter for reasoning · Deepgram streaming speech-to-text on both call tracks · live compliance, emotion and coaching analysis over the running transcript</a:t>
            </a:r>
            <a:endParaRPr lang="en-US" sz="1250"/>
          </a:p>
        </p:txBody>
      </p:sp>
      <p:sp>
        <p:nvSpPr>
          <p:cNvPr id="7" name="Shape 5"/>
          <p:cNvSpPr/>
          <p:nvPr/>
        </p:nvSpPr>
        <p:spPr>
          <a:xfrm>
            <a:off x="502920" y="2770632"/>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731520" y="2898648"/>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Data &amp; retrieval</a:t>
            </a:r>
            <a:endParaRPr lang="en-US" sz="1500"/>
          </a:p>
        </p:txBody>
      </p:sp>
      <p:sp>
        <p:nvSpPr>
          <p:cNvPr id="9" name="Text 7"/>
          <p:cNvSpPr/>
          <p:nvPr/>
        </p:nvSpPr>
        <p:spPr>
          <a:xfrm>
            <a:off x="4846320" y="2898648"/>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Qdrant vector database (5 collections, nomic-embed-text 768-d via Ollama) · hybrid keyword + vector retrieval · MongoDB for application and reference data · hot-reloaded, versioned rule and QA-criteria sets · audit and cost telemetry per AI interaction</a:t>
            </a:r>
            <a:endParaRPr lang="en-US" sz="1250"/>
          </a:p>
        </p:txBody>
      </p:sp>
      <p:sp>
        <p:nvSpPr>
          <p:cNvPr id="10" name="Shape 8"/>
          <p:cNvSpPr/>
          <p:nvPr/>
        </p:nvSpPr>
        <p:spPr>
          <a:xfrm>
            <a:off x="502920" y="3941064"/>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731520" y="4069080"/>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Voice, edge &amp; platform</a:t>
            </a:r>
            <a:endParaRPr lang="en-US" sz="1500"/>
          </a:p>
        </p:txBody>
      </p:sp>
      <p:sp>
        <p:nvSpPr>
          <p:cNvPr id="12" name="Text 10"/>
          <p:cNvSpPr/>
          <p:nvPr/>
        </p:nvSpPr>
        <p:spPr>
          <a:xfrm>
            <a:off x="4846320" y="4069080"/>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Twilio programmable voice (PSTN inbound &amp; outbound, bidirectional media streams, signed webhooks) · Cloudflare edge with named tunnel · Caddy reverse proxy · Node 20 / Express 5 (TypeScript) API, containerised and cloud-portable</a:t>
            </a:r>
            <a:endParaRPr lang="en-US" sz="1250"/>
          </a:p>
        </p:txBody>
      </p:sp>
      <p:sp>
        <p:nvSpPr>
          <p:cNvPr id="13" name="Shape 11"/>
          <p:cNvSpPr/>
          <p:nvPr/>
        </p:nvSpPr>
        <p:spPr>
          <a:xfrm>
            <a:off x="502920" y="5111496"/>
            <a:ext cx="11183112" cy="1060704"/>
          </a:xfrm>
          <a:prstGeom prst="roundRect">
            <a:avLst>
              <a:gd name="adj" fmla="val 5172"/>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731520" y="5239512"/>
            <a:ext cx="4023360" cy="8229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Application &amp; delivery</a:t>
            </a:r>
            <a:endParaRPr lang="en-US" sz="1500"/>
          </a:p>
        </p:txBody>
      </p:sp>
      <p:sp>
        <p:nvSpPr>
          <p:cNvPr id="15" name="Text 13"/>
          <p:cNvSpPr/>
          <p:nvPr/>
        </p:nvSpPr>
        <p:spPr>
          <a:xfrm>
            <a:off x="4846320" y="5239512"/>
            <a:ext cx="6583680" cy="822960"/>
          </a:xfrm>
          <a:prstGeom prst="rect">
            <a:avLst/>
          </a:prstGeom>
          <a:noFill/>
          <a:ln/>
        </p:spPr>
        <p:txBody>
          <a:bodyPr wrap="square" lIns="0" tIns="0" rIns="0" bIns="0" rtlCol="0" anchor="ctr"/>
          <a:lstStyle/>
          <a:p>
            <a:pPr marL="0" indent="0">
              <a:spcAft>
                <a:spcPts val="300"/>
              </a:spcAft>
              <a:buNone/>
            </a:pPr>
            <a:r>
              <a:rPr lang="en-US" sz="1100" i="0">
                <a:solidFill>
                  <a:srgbClr val="6C727B"/>
                </a:solidFill>
                <a:latin typeface="Calibri" pitchFamily="34" charset="0"/>
                <a:ea typeface="Calibri" pitchFamily="34" charset="-122"/>
                <a:cs typeface="Calibri" pitchFamily="34" charset="-120"/>
              </a:rPr>
              <a:t>React 19 / Vite single-page app with Twilio Voice SDK — agent workspace, call panel and copilot · supervisor command centre with live alert feed and mid-call transcript backfill · no-code admin for compliance, coaching and QA scoring criteria · RBAC</a:t>
            </a:r>
            <a:endParaRPr lang="en-US" sz="1250"/>
          </a:p>
        </p:txBody>
      </p:sp>
      <p:sp>
        <p:nvSpPr>
          <p:cNvPr id="16" name="Text 14"/>
          <p:cNvSpPr/>
          <p:nvPr/>
        </p:nvSpPr>
        <p:spPr>
          <a:xfrm>
            <a:off x="502920" y="6300216"/>
            <a:ext cx="10972800" cy="274320"/>
          </a:xfrm>
          <a:prstGeom prst="rect">
            <a:avLst/>
          </a:prstGeom>
          <a:noFill/>
          <a:ln/>
        </p:spPr>
        <p:txBody>
          <a:bodyPr wrap="square" rtlCol="0" anchor="ctr"/>
          <a:lstStyle/>
          <a:p>
            <a:pPr marL="0" indent="0">
              <a:spcAft>
                <a:spcPts val="300"/>
              </a:spcAft>
              <a:buNone/>
            </a:pPr>
            <a:r>
              <a:rPr lang="en-US" sz="1000" i="0">
                <a:solidFill>
                  <a:srgbClr val="6C727B"/>
                </a:solidFill>
                <a:latin typeface="Calibri" pitchFamily="34" charset="0"/>
                <a:ea typeface="Calibri" pitchFamily="34" charset="-122"/>
                <a:cs typeface="Calibri" pitchFamily="34" charset="-120"/>
              </a:rPr>
              <a:t>A full end-to-end deployment diagram is maintained alongside this deck and available on request.</a:t>
            </a:r>
            <a:endParaRPr lang="en-US" sz="1000"/>
          </a:p>
        </p:txBody>
      </p:sp>
    </p:spTree>
  </p:cSld>
  <p:clrMapOvr>
    <a:masterClrMapping/>
  </p:clrMapOvr>
</p:sld>
</file>

<file path=ppt/slides/slide4_b.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oundRect">
            <a:avLst/>
          </a:prstGeom>
          <a:solidFill>
            <a:srgbClr val="222B36"/>
          </a:solidFill>
          <a:ln/>
        </p:spPr>
        <p:txBody>
          <a:bodyPr/>
          <a:p/>
        </p:txBody>
      </p:sp>
      <p:sp>
        <p:nvSpPr>
          <p:cNvPr id="3" name="Shape 1"/>
          <p:cNvSpPr/>
          <p:nvPr/>
        </p:nvSpPr>
        <p:spPr>
          <a:xfrm>
            <a:off x="1828800" y="-1371600"/>
            <a:ext cx="2468880" cy="2468880"/>
          </a:xfrm>
          <a:prstGeom prst="ellipse">
            <a:avLst/>
          </a:prstGeom>
          <a:solidFill>
            <a:srgbClr val="2C3644"/>
          </a:solidFill>
          <a:ln/>
        </p:spPr>
        <p:txBody>
          <a:bodyPr/>
          <a:p/>
        </p:txBody>
      </p:sp>
      <p:sp>
        <p:nvSpPr>
          <p:cNvPr id="4" name="Text 2"/>
          <p:cNvSpPr/>
          <p:nvPr/>
        </p:nvSpPr>
        <p:spPr>
          <a:xfrm>
            <a:off x="548640" y="685800"/>
            <a:ext cx="178308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PILLAR 1</a:t>
            </a:r>
            <a:endParaRPr lang="en-US" sz="1150" dirty="0"/>
          </a:p>
        </p:txBody>
      </p:sp>
      <p:sp>
        <p:nvSpPr>
          <p:cNvPr id="5" name="Shape 3"/>
          <p:cNvSpPr/>
          <p:nvPr/>
        </p:nvSpPr>
        <p:spPr>
          <a:xfrm>
            <a:off x="548640" y="1371600"/>
            <a:ext cx="1097280" cy="1097280"/>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6" name="Image 0" descr="preencoded.png">    </p:cNvPr>
          <p:cNvPicPr>
            <a:picLocks noChangeAspect="1"/>
          </p:cNvPicPr>
          <p:nvPr/>
        </p:nvPicPr>
        <p:blipFill>
          <a:blip r:embed="rId1"/>
          <a:stretch>
            <a:fillRect/>
          </a:stretch>
        </p:blipFill>
        <p:spPr>
          <a:xfrm>
            <a:off x="822960" y="1645920"/>
            <a:ext cx="548640" cy="548640"/>
          </a:xfrm>
          <a:prstGeom prst="rect">
            <a:avLst/>
          </a:prstGeom>
        </p:spPr>
      </p:pic>
      <p:sp>
        <p:nvSpPr>
          <p:cNvPr id="7" name="Text 4"/>
          <p:cNvSpPr/>
          <p:nvPr/>
        </p:nvSpPr>
        <p:spPr>
          <a:xfrm>
            <a:off x="548640" y="2651760"/>
            <a:ext cx="3246120" cy="1691640"/>
          </a:xfrm>
          <a:prstGeom prst="rect">
            <a:avLst/>
          </a:prstGeom>
          <a:noFill/>
          <a:ln/>
        </p:spPr>
        <p:txBody>
          <a:bodyPr wrap="square" rtlCol="0" anchor="ctr"/>
          <a:lstStyle/>
          <a:p>
            <a:pPr indent="0" marL="0">
              <a:lnSpc>
                <a:spcPct val="95000"/>
              </a:lnSpc>
              <a:buNone/>
            </a:pPr>
            <a:r>
              <a:rPr lang="en-US" sz="2600" b="1" dirty="0">
                <a:solidFill>
                  <a:srgbClr val="FFFFFF"/>
                </a:solidFill>
                <a:latin typeface="Calibri" pitchFamily="34" charset="0"/>
                <a:ea typeface="Calibri" pitchFamily="34" charset="-122"/>
                <a:cs typeface="Calibri" pitchFamily="34" charset="-120"/>
              </a:rPr>
              <a:t>Agentic AI Copilot</a:t>
            </a:r>
            <a:endParaRPr lang="en-US" sz="2600" dirty="0"/>
          </a:p>
        </p:txBody>
      </p:sp>
      <p:sp>
        <p:nvSpPr>
          <p:cNvPr id="8" name="Text 5"/>
          <p:cNvSpPr/>
          <p:nvPr/>
        </p:nvSpPr>
        <p:spPr>
          <a:xfrm>
            <a:off x="548640" y="4480560"/>
            <a:ext cx="3154680" cy="1645920"/>
          </a:xfrm>
          <a:prstGeom prst="rect">
            <a:avLst/>
          </a:prstGeom>
          <a:noFill/>
          <a:ln/>
        </p:spPr>
        <p:txBody>
          <a:bodyPr wrap="square" rtlCol="0" anchor="ctr"/>
          <a:lstStyle/>
          <a:p>
            <a:pPr indent="0" marL="0">
              <a:lnSpc>
                <a:spcPct val="110000"/>
              </a:lnSpc>
              <a:buNone/>
            </a:pPr>
            <a:r>
              <a:rPr lang="en-US" sz="1300" dirty="0">
                <a:solidFill>
                  <a:srgbClr val="D7DEE7"/>
                </a:solidFill>
                <a:latin typeface="Calibri" pitchFamily="34" charset="0"/>
                <a:ea typeface="Calibri" pitchFamily="34" charset="-122"/>
                <a:cs typeface="Calibri" pitchFamily="34" charset="-120"/>
              </a:rPr>
              <a:t>An assistant that works alongside the agent — sees the live call, uses the tools, drives the UI, and asks permission before it acts.</a:t>
            </a:r>
            <a:endParaRPr lang="en-US" sz="1300" dirty="0"/>
          </a:p>
        </p:txBody>
      </p:sp>
      <p:sp>
        <p:nvSpPr>
          <p:cNvPr id="9" name="Text 6"/>
          <p:cNvSpPr/>
          <p:nvPr/>
        </p:nvSpPr>
        <p:spPr>
          <a:xfrm>
            <a:off x="4617720" y="502920"/>
            <a:ext cx="7086600" cy="384048"/>
          </a:xfrm>
          <a:prstGeom prst="rect">
            <a:avLst/>
          </a:prstGeom>
          <a:noFill/>
          <a:ln/>
        </p:spPr>
        <p:txBody>
          <a:bodyPr wrap="square" rtlCol="0" anchor="ctr"/>
          <a:lstStyle/>
          <a:p>
            <a:pPr indent="0" marL="0">
              <a:buNone/>
            </a:pPr>
            <a:r>
              <a:rPr lang="en-US" sz="1550" b="1" spc="100" kern="0" dirty="0">
                <a:solidFill>
                  <a:srgbClr val="E8590C"/>
                </a:solidFill>
                <a:latin typeface="Calibri" pitchFamily="34" charset="0"/>
                <a:ea typeface="Calibri" pitchFamily="34" charset="-122"/>
                <a:cs typeface="Calibri" pitchFamily="34" charset="-120"/>
              </a:rPr>
              <a:t>What it does</a:t>
            </a:r>
            <a:endParaRPr lang="en-US" sz="1550" dirty="0"/>
          </a:p>
        </p:txBody>
      </p:sp>
      <p:pic>
        <p:nvPicPr>
          <p:cNvPr id="10" name="Image 1" descr="preencoded.png">    </p:cNvPr>
          <p:cNvPicPr>
            <a:picLocks noChangeAspect="1"/>
          </p:cNvPicPr>
          <p:nvPr/>
        </p:nvPicPr>
        <p:blipFill>
          <a:blip r:embed="rId2"/>
          <a:stretch>
            <a:fillRect/>
          </a:stretch>
        </p:blipFill>
        <p:spPr>
          <a:xfrm>
            <a:off x="4617720" y="1242670"/>
            <a:ext cx="292608" cy="292608"/>
          </a:xfrm>
          <a:prstGeom prst="rect">
            <a:avLst/>
          </a:prstGeom>
        </p:spPr>
      </p:pic>
      <p:sp>
        <p:nvSpPr>
          <p:cNvPr id="11" name="Text 7"/>
          <p:cNvSpPr/>
          <p:nvPr/>
        </p:nvSpPr>
        <p:spPr>
          <a:xfrm>
            <a:off x="5074920" y="987552"/>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Embedded conversational assistant with full tool use — queries live business data and answers with rich UI cards, aware of the active call</a:t>
            </a:r>
            <a:endParaRPr lang="en-US" sz="1350" dirty="0"/>
          </a:p>
        </p:txBody>
      </p:sp>
      <p:pic>
        <p:nvPicPr>
          <p:cNvPr id="12" name="Image 2" descr="preencoded.png">    </p:cNvPr>
          <p:cNvPicPr>
            <a:picLocks noChangeAspect="1"/>
          </p:cNvPicPr>
          <p:nvPr/>
        </p:nvPicPr>
        <p:blipFill>
          <a:blip r:embed="rId3"/>
          <a:stretch>
            <a:fillRect/>
          </a:stretch>
        </p:blipFill>
        <p:spPr>
          <a:xfrm>
            <a:off x="4617720" y="2045513"/>
            <a:ext cx="292608" cy="292608"/>
          </a:xfrm>
          <a:prstGeom prst="rect">
            <a:avLst/>
          </a:prstGeom>
        </p:spPr>
      </p:pic>
      <p:sp>
        <p:nvSpPr>
          <p:cNvPr id="13" name="Text 8"/>
          <p:cNvSpPr/>
          <p:nvPr/>
        </p:nvSpPr>
        <p:spPr>
          <a:xfrm>
            <a:off x="5074920" y="1790395"/>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Drafts actions — emails, record updates, notes — for one-click human approval, or executes autonomously in Auto-Pilot mode</a:t>
            </a:r>
            <a:endParaRPr lang="en-US" sz="1350" dirty="0"/>
          </a:p>
        </p:txBody>
      </p:sp>
      <p:pic>
        <p:nvPicPr>
          <p:cNvPr id="14" name="Image 3" descr="preencoded.png">    </p:cNvPr>
          <p:cNvPicPr>
            <a:picLocks noChangeAspect="1"/>
          </p:cNvPicPr>
          <p:nvPr/>
        </p:nvPicPr>
        <p:blipFill>
          <a:blip r:embed="rId4"/>
          <a:stretch>
            <a:fillRect/>
          </a:stretch>
        </p:blipFill>
        <p:spPr>
          <a:xfrm>
            <a:off x="4617720" y="2848356"/>
            <a:ext cx="292608" cy="292608"/>
          </a:xfrm>
          <a:prstGeom prst="rect">
            <a:avLst/>
          </a:prstGeom>
        </p:spPr>
      </p:pic>
      <p:sp>
        <p:nvSpPr>
          <p:cNvPr id="15" name="Text 9"/>
          <p:cNvSpPr/>
          <p:nvPr/>
        </p:nvSpPr>
        <p:spPr>
          <a:xfrm>
            <a:off x="5074920" y="2593238"/>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Voice integration: places and controls phone calls from natural language — “call John Smith”</a:t>
            </a:r>
            <a:endParaRPr lang="en-US" sz="1350" dirty="0"/>
          </a:p>
        </p:txBody>
      </p:sp>
      <p:pic>
        <p:nvPicPr>
          <p:cNvPr id="16" name="Image 4" descr="preencoded.png">    </p:cNvPr>
          <p:cNvPicPr>
            <a:picLocks noChangeAspect="1"/>
          </p:cNvPicPr>
          <p:nvPr/>
        </p:nvPicPr>
        <p:blipFill>
          <a:blip r:embed="rId5"/>
          <a:stretch>
            <a:fillRect/>
          </a:stretch>
        </p:blipFill>
        <p:spPr>
          <a:xfrm>
            <a:off x="4617720" y="3651199"/>
            <a:ext cx="292608" cy="292608"/>
          </a:xfrm>
          <a:prstGeom prst="rect">
            <a:avLst/>
          </a:prstGeom>
        </p:spPr>
      </p:pic>
      <p:sp>
        <p:nvSpPr>
          <p:cNvPr id="17" name="Text 10"/>
          <p:cNvSpPr/>
          <p:nvPr/>
        </p:nvSpPr>
        <p:spPr>
          <a:xfrm>
            <a:off x="5074920" y="3396082"/>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Real-time data capture: entities mentioned in conversation auto-fill forms across screens — including staged records that don't exist yet, created in one click</a:t>
            </a:r>
            <a:endParaRPr lang="en-US" sz="1350" dirty="0"/>
          </a:p>
        </p:txBody>
      </p:sp>
      <p:pic>
        <p:nvPicPr>
          <p:cNvPr id="18" name="Image 5" descr="preencoded.png">    </p:cNvPr>
          <p:cNvPicPr>
            <a:picLocks noChangeAspect="1"/>
          </p:cNvPicPr>
          <p:nvPr/>
        </p:nvPicPr>
        <p:blipFill>
          <a:blip r:embed="rId6"/>
          <a:stretch>
            <a:fillRect/>
          </a:stretch>
        </p:blipFill>
        <p:spPr>
          <a:xfrm>
            <a:off x="4617720" y="4454042"/>
            <a:ext cx="292608" cy="292608"/>
          </a:xfrm>
          <a:prstGeom prst="rect">
            <a:avLst/>
          </a:prstGeom>
        </p:spPr>
      </p:pic>
      <p:sp>
        <p:nvSpPr>
          <p:cNvPr id="19" name="Text 11"/>
          <p:cNvSpPr/>
          <p:nvPr/>
        </p:nvSpPr>
        <p:spPr>
          <a:xfrm>
            <a:off x="5074920" y="4198925"/>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Smart caller intelligence: inbound callers identified and their record opened automatically; ambiguous matches get a disambiguation flow</a:t>
            </a:r>
            <a:endParaRPr lang="en-US" sz="1350" dirty="0"/>
          </a:p>
        </p:txBody>
      </p:sp>
      <p:sp>
        <p:nvSpPr>
          <p:cNvPr id="20" name="Shape 12"/>
          <p:cNvSpPr/>
          <p:nvPr/>
        </p:nvSpPr>
        <p:spPr>
          <a:xfrm>
            <a:off x="4617720" y="5138928"/>
            <a:ext cx="7086600" cy="1188720"/>
          </a:xfrm>
          <a:prstGeom prst="roundRect">
            <a:avLst>
              <a:gd name="adj" fmla="val 7692"/>
            </a:avLst>
          </a:prstGeom>
          <a:solidFill>
            <a:srgbClr val="F5F7F9"/>
          </a:solidFill>
          <a:ln w="15875">
            <a:solidFill>
              <a:srgbClr val="E8590C"/>
            </a:solidFill>
            <a:prstDash val="solid"/>
          </a:ln>
          <a:effectLst>
            <a:outerShdw sx="100000" sy="100000" kx="0" ky="0" algn="bl" rotWithShape="0" blurRad="101600" dist="38100" dir="5400000">
              <a:srgbClr val="1A2027">
                <a:alpha val="10000"/>
              </a:srgbClr>
            </a:outerShdw>
          </a:effectLst>
        </p:spPr>
        <p:txBody>
          <a:bodyPr/>
          <a:p/>
        </p:txBody>
      </p:sp>
      <p:sp>
        <p:nvSpPr>
          <p:cNvPr id="21" name="Shape 13"/>
          <p:cNvSpPr/>
          <p:nvPr/>
        </p:nvSpPr>
        <p:spPr>
          <a:xfrm>
            <a:off x="4837176" y="5440680"/>
            <a:ext cx="585216" cy="585216"/>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22" name="Image 6" descr="preencoded.png">    </p:cNvPr>
          <p:cNvPicPr>
            <a:picLocks noChangeAspect="1"/>
          </p:cNvPicPr>
          <p:nvPr/>
        </p:nvPicPr>
        <p:blipFill>
          <a:blip r:embed="rId7"/>
          <a:stretch>
            <a:fillRect/>
          </a:stretch>
        </p:blipFill>
        <p:spPr>
          <a:xfrm>
            <a:off x="4995184" y="5598688"/>
            <a:ext cx="269199" cy="269199"/>
          </a:xfrm>
          <a:prstGeom prst="rect">
            <a:avLst/>
          </a:prstGeom>
        </p:spPr>
      </p:pic>
      <p:sp>
        <p:nvSpPr>
          <p:cNvPr id="23" name="Text 14"/>
          <p:cNvSpPr/>
          <p:nvPr/>
        </p:nvSpPr>
        <p:spPr>
          <a:xfrm>
            <a:off x="5577840" y="5294376"/>
            <a:ext cx="5943600" cy="274320"/>
          </a:xfrm>
          <a:prstGeom prst="rect">
            <a:avLst/>
          </a:prstGeom>
          <a:noFill/>
          <a:ln/>
        </p:spPr>
        <p:txBody>
          <a:bodyPr wrap="square" rtlCol="0" anchor="ctr"/>
          <a:lstStyle/>
          <a:p>
            <a:pPr indent="0" marL="0">
              <a:buNone/>
            </a:pPr>
            <a:r>
              <a:rPr lang="en-US" sz="1100" b="1" spc="200" kern="0" dirty="0">
                <a:solidFill>
                  <a:srgbClr val="E8590C"/>
                </a:solidFill>
                <a:latin typeface="Calibri" pitchFamily="34" charset="0"/>
                <a:ea typeface="Calibri" pitchFamily="34" charset="-122"/>
                <a:cs typeface="Calibri" pitchFamily="34" charset="-120"/>
              </a:rPr>
              <a:t>IN PRACTICE</a:t>
            </a:r>
            <a:endParaRPr lang="en-US" sz="1100" dirty="0"/>
          </a:p>
        </p:txBody>
      </p:sp>
      <p:sp>
        <p:nvSpPr>
          <p:cNvPr id="24" name="Text 15"/>
          <p:cNvSpPr/>
          <p:nvPr/>
        </p:nvSpPr>
        <p:spPr>
          <a:xfrm>
            <a:off x="5577840" y="5550408"/>
            <a:ext cx="5897880" cy="713232"/>
          </a:xfrm>
          <a:prstGeom prst="rect">
            <a:avLst/>
          </a:prstGeom>
          <a:noFill/>
          <a:ln/>
        </p:spPr>
        <p:txBody>
          <a:bodyPr wrap="square" lIns="0" tIns="0" rIns="0" bIns="0" rtlCol="0" anchor="ctr"/>
          <a:lstStyle/>
          <a:p>
            <a:pPr indent="0" marL="0">
              <a:lnSpc>
                <a:spcPct val="102000"/>
              </a:lnSpc>
              <a:buNone/>
            </a:pPr>
            <a:r>
              <a:rPr lang="en-US" sz="1250" i="1" dirty="0">
                <a:solidFill>
                  <a:srgbClr val="212933"/>
                </a:solidFill>
                <a:latin typeface="Calibri" pitchFamily="34" charset="0"/>
                <a:ea typeface="Calibri" pitchFamily="34" charset="-122"/>
                <a:cs typeface="Calibri" pitchFamily="34" charset="-120"/>
              </a:rPr>
              <a:t>An agent says “call John Smith.” The copilot finds the record, dials, and the call panel opens as it connects — then drafts the follow-up email for one-click approval.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04  ·  DEPLOYMENT PLAN</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How &amp; Where It Will Be Deployed</a:t>
            </a:r>
            <a:endParaRPr lang="en-US" sz="2800"/>
          </a:p>
        </p:txBody>
      </p:sp>
      <p:sp>
        <p:nvSpPr>
          <p:cNvPr id="4" name="Shape 2"/>
          <p:cNvSpPr/>
          <p:nvPr/>
        </p:nvSpPr>
        <p:spPr>
          <a:xfrm>
            <a:off x="502920" y="160020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69164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Environment</a:t>
            </a:r>
            <a:endParaRPr lang="en-US" sz="1400"/>
          </a:p>
        </p:txBody>
      </p:sp>
      <p:sp>
        <p:nvSpPr>
          <p:cNvPr id="6" name="Text 4"/>
          <p:cNvSpPr/>
          <p:nvPr/>
        </p:nvSpPr>
        <p:spPr>
          <a:xfrm>
            <a:off x="4297680" y="169164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Containerised and horizontally scalable — cloud-portable by design. Deployable to any major cloud, hosted independently per client, or on client premises where data residency requires it. The data and AI layers can also run natively on platforms the client already owns, such as Databricks or Snowflake, so the solution sits where their data already lives.</a:t>
            </a:r>
            <a:endParaRPr lang="en-US" sz="1250"/>
          </a:p>
        </p:txBody>
      </p:sp>
      <p:sp>
        <p:nvSpPr>
          <p:cNvPr id="7" name="Shape 5"/>
          <p:cNvSpPr/>
          <p:nvPr/>
        </p:nvSpPr>
        <p:spPr>
          <a:xfrm>
            <a:off x="502920" y="256032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731520" y="265176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Integration</a:t>
            </a:r>
            <a:endParaRPr lang="en-US" sz="1400"/>
          </a:p>
        </p:txBody>
      </p:sp>
      <p:sp>
        <p:nvSpPr>
          <p:cNvPr id="9" name="Text 7"/>
          <p:cNvSpPr/>
          <p:nvPr/>
        </p:nvSpPr>
        <p:spPr>
          <a:xfrm>
            <a:off x="4297680" y="265176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Every layer is distinct and swappable — this stack is a reference implementation, not a dependency. React could be Angular; MongoDB could be SQL Server or Postgres; the telephony and speech vendors can change without touching the AI layer. REST + SSE surfaces over a governed tool layer front the client's existing CRM, telephony and master data, so it retro-fits onto what they already run.</a:t>
            </a:r>
            <a:endParaRPr lang="en-US" sz="1250"/>
          </a:p>
        </p:txBody>
      </p:sp>
      <p:sp>
        <p:nvSpPr>
          <p:cNvPr id="10" name="Shape 8"/>
          <p:cNvSpPr/>
          <p:nvPr/>
        </p:nvSpPr>
        <p:spPr>
          <a:xfrm>
            <a:off x="502920" y="352044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731520" y="361188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Security &amp; compliance</a:t>
            </a:r>
            <a:endParaRPr lang="en-US" sz="1400"/>
          </a:p>
        </p:txBody>
      </p:sp>
      <p:sp>
        <p:nvSpPr>
          <p:cNvPr id="12" name="Text 10"/>
          <p:cNvSpPr/>
          <p:nvPr/>
        </p:nvSpPr>
        <p:spPr>
          <a:xfrm>
            <a:off x="4297680" y="361188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No sensitive identifiers requested, by design. Disabled capabilities are withheld from the model rather than discouraged in a prompt. Mandatory automated-call disclosure. Every AI interaction fully audited; PII handling and retention configured per client regulation.</a:t>
            </a:r>
            <a:endParaRPr lang="en-US" sz="1250"/>
          </a:p>
        </p:txBody>
      </p:sp>
      <p:sp>
        <p:nvSpPr>
          <p:cNvPr id="13" name="Shape 11"/>
          <p:cNvSpPr/>
          <p:nvPr/>
        </p:nvSpPr>
        <p:spPr>
          <a:xfrm>
            <a:off x="502920" y="448056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731520" y="457200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Rollout approach</a:t>
            </a:r>
            <a:endParaRPr lang="en-US" sz="1400"/>
          </a:p>
        </p:txBody>
      </p:sp>
      <p:sp>
        <p:nvSpPr>
          <p:cNvPr id="15" name="Text 13"/>
          <p:cNvSpPr/>
          <p:nvPr/>
        </p:nvSpPr>
        <p:spPr>
          <a:xfrm>
            <a:off x="4297680" y="457200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The four pillars are modular — a client takes what the business needs and leaves the rest. Copilot alone, compliance monitoring alone, or the full platform; each runs without the others. The usual path is to pilot one campaign or queue in shadow mode, switch on the pillars that matter most, then scale across queues and geographies — with the client's own business users tuning rules and QA criteria at every stage.</a:t>
            </a:r>
            <a:endParaRPr lang="en-US" sz="1250"/>
          </a:p>
        </p:txBody>
      </p:sp>
      <p:sp>
        <p:nvSpPr>
          <p:cNvPr id="16" name="Shape 14"/>
          <p:cNvSpPr/>
          <p:nvPr/>
        </p:nvSpPr>
        <p:spPr>
          <a:xfrm>
            <a:off x="502920" y="544068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17" name="Text 15"/>
          <p:cNvSpPr/>
          <p:nvPr/>
        </p:nvSpPr>
        <p:spPr>
          <a:xfrm>
            <a:off x="731520" y="5532120"/>
            <a:ext cx="3474720" cy="685800"/>
          </a:xfrm>
          <a:prstGeom prst="rect">
            <a:avLst/>
          </a:prstGeom>
          <a:noFill/>
          <a:ln/>
        </p:spPr>
        <p:txBody>
          <a:bodyPr wrap="square" lIns="0" tIns="0" rIns="0" bIns="0" rtlCol="0" anchor="ctr"/>
          <a:lstStyle/>
          <a:p>
            <a:pPr marL="0" indent="0">
              <a:buNone/>
            </a:pPr>
            <a:r>
              <a:rPr lang="en-US" sz="1400" b="1">
                <a:solidFill>
                  <a:srgbClr val="005071"/>
                </a:solidFill>
                <a:latin typeface="Calibri Light" pitchFamily="34" charset="0"/>
                <a:ea typeface="Calibri Light" pitchFamily="34" charset="-122"/>
                <a:cs typeface="Calibri Light" pitchFamily="34" charset="-120"/>
              </a:rPr>
              <a:t>Ownership &amp; support</a:t>
            </a:r>
            <a:endParaRPr lang="en-US" sz="1400"/>
          </a:p>
        </p:txBody>
      </p:sp>
      <p:sp>
        <p:nvSpPr>
          <p:cNvPr id="18" name="Text 16"/>
          <p:cNvSpPr/>
          <p:nvPr/>
        </p:nvSpPr>
        <p:spPr>
          <a:xfrm>
            <a:off x="4297680" y="5532120"/>
            <a:ext cx="7223760" cy="685800"/>
          </a:xfrm>
          <a:prstGeom prst="rect">
            <a:avLst/>
          </a:prstGeom>
          <a:noFill/>
          <a:ln/>
        </p:spPr>
        <p:txBody>
          <a:bodyPr wrap="square" lIns="0" tIns="0" rIns="0" bIns="0" rtlCol="0" anchor="ctr"/>
          <a:lstStyle/>
          <a:p>
            <a:pPr marL="0" indent="0">
              <a:spcAft>
                <a:spcPts val="300"/>
              </a:spcAft>
              <a:buNone/>
            </a:pPr>
            <a:r>
              <a:rPr lang="en-US" sz="1150" i="0">
                <a:solidFill>
                  <a:srgbClr val="6C727B"/>
                </a:solidFill>
                <a:latin typeface="Calibri" pitchFamily="34" charset="0"/>
                <a:ea typeface="Calibri" pitchFamily="34" charset="-122"/>
                <a:cs typeface="Calibri" pitchFamily="34" charset="-120"/>
              </a:rPr>
              <a:t>EXL Services owns build, deployment, run and support. The client owns the data and the infrastructure it runs on, along with monitoring, latency thresholds and the escalation matrix. Rule and QA-criteria content stays with the client's own business users, who maintain it without a release cycle.</a:t>
            </a:r>
            <a:endParaRPr lang="en-US" sz="1250"/>
          </a:p>
        </p:txBody>
      </p:sp>
    </p:spTree>
  </p:cSld>
  <p:clrMapOvr>
    <a:masterClrMapping/>
  </p:clrMapOvr>
</p:sld>
</file>

<file path=ppt/slides/slide5_b.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oundRect">
            <a:avLst/>
          </a:prstGeom>
          <a:solidFill>
            <a:srgbClr val="222B36"/>
          </a:solidFill>
          <a:ln/>
        </p:spPr>
        <p:txBody>
          <a:bodyPr/>
          <a:p/>
        </p:txBody>
      </p:sp>
      <p:sp>
        <p:nvSpPr>
          <p:cNvPr id="3" name="Shape 1"/>
          <p:cNvSpPr/>
          <p:nvPr/>
        </p:nvSpPr>
        <p:spPr>
          <a:xfrm>
            <a:off x="1828800" y="-1371600"/>
            <a:ext cx="2468880" cy="2468880"/>
          </a:xfrm>
          <a:prstGeom prst="ellipse">
            <a:avLst/>
          </a:prstGeom>
          <a:solidFill>
            <a:srgbClr val="2C3644"/>
          </a:solidFill>
          <a:ln/>
        </p:spPr>
        <p:txBody>
          <a:bodyPr/>
          <a:p/>
        </p:txBody>
      </p:sp>
      <p:sp>
        <p:nvSpPr>
          <p:cNvPr id="4" name="Text 2"/>
          <p:cNvSpPr/>
          <p:nvPr/>
        </p:nvSpPr>
        <p:spPr>
          <a:xfrm>
            <a:off x="548640" y="685800"/>
            <a:ext cx="1783080" cy="384048"/>
          </a:xfrm>
          <a:prstGeom prst="roundRect">
            <a:avLst>
              <a:gd name="adj" fmla="val 50000"/>
            </a:avLst>
          </a:prstGeom>
          <a:solidFill>
            <a:srgbClr val="50708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PILLAR 2</a:t>
            </a:r>
            <a:endParaRPr lang="en-US" sz="1150" dirty="0"/>
          </a:p>
        </p:txBody>
      </p:sp>
      <p:sp>
        <p:nvSpPr>
          <p:cNvPr id="5" name="Shape 3"/>
          <p:cNvSpPr/>
          <p:nvPr/>
        </p:nvSpPr>
        <p:spPr>
          <a:xfrm>
            <a:off x="548640" y="1371600"/>
            <a:ext cx="1097280" cy="1097280"/>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6" name="Image 0" descr="preencoded.png">    </p:cNvPr>
          <p:cNvPicPr>
            <a:picLocks noChangeAspect="1"/>
          </p:cNvPicPr>
          <p:nvPr/>
        </p:nvPicPr>
        <p:blipFill>
          <a:blip r:embed="rId1"/>
          <a:stretch>
            <a:fillRect/>
          </a:stretch>
        </p:blipFill>
        <p:spPr>
          <a:xfrm>
            <a:off x="822960" y="1645920"/>
            <a:ext cx="548640" cy="548640"/>
          </a:xfrm>
          <a:prstGeom prst="rect">
            <a:avLst/>
          </a:prstGeom>
        </p:spPr>
      </p:pic>
      <p:sp>
        <p:nvSpPr>
          <p:cNvPr id="7" name="Text 4"/>
          <p:cNvSpPr/>
          <p:nvPr/>
        </p:nvSpPr>
        <p:spPr>
          <a:xfrm>
            <a:off x="548640" y="2651760"/>
            <a:ext cx="3246120" cy="1691640"/>
          </a:xfrm>
          <a:prstGeom prst="rect">
            <a:avLst/>
          </a:prstGeom>
          <a:noFill/>
          <a:ln/>
        </p:spPr>
        <p:txBody>
          <a:bodyPr wrap="square" rtlCol="0" anchor="ctr"/>
          <a:lstStyle/>
          <a:p>
            <a:pPr indent="0" marL="0">
              <a:lnSpc>
                <a:spcPct val="95000"/>
              </a:lnSpc>
              <a:buNone/>
            </a:pPr>
            <a:r>
              <a:rPr lang="en-US" sz="2600" b="1" dirty="0">
                <a:solidFill>
                  <a:srgbClr val="FFFFFF"/>
                </a:solidFill>
                <a:latin typeface="Calibri" pitchFamily="34" charset="0"/>
                <a:ea typeface="Calibri" pitchFamily="34" charset="-122"/>
                <a:cs typeface="Calibri" pitchFamily="34" charset="-120"/>
              </a:rPr>
              <a:t>Real-Time Conversation Intelligence</a:t>
            </a:r>
            <a:endParaRPr lang="en-US" sz="2600" dirty="0"/>
          </a:p>
        </p:txBody>
      </p:sp>
      <p:sp>
        <p:nvSpPr>
          <p:cNvPr id="8" name="Text 5"/>
          <p:cNvSpPr/>
          <p:nvPr/>
        </p:nvSpPr>
        <p:spPr>
          <a:xfrm>
            <a:off x="548640" y="4480560"/>
            <a:ext cx="3154680" cy="1645920"/>
          </a:xfrm>
          <a:prstGeom prst="rect">
            <a:avLst/>
          </a:prstGeom>
          <a:noFill/>
          <a:ln/>
        </p:spPr>
        <p:txBody>
          <a:bodyPr wrap="square" rtlCol="0" anchor="ctr"/>
          <a:lstStyle/>
          <a:p>
            <a:pPr indent="0" marL="0">
              <a:lnSpc>
                <a:spcPct val="110000"/>
              </a:lnSpc>
              <a:buNone/>
            </a:pPr>
            <a:r>
              <a:rPr lang="en-US" sz="1300" dirty="0">
                <a:solidFill>
                  <a:srgbClr val="D7DEE7"/>
                </a:solidFill>
                <a:latin typeface="Calibri" pitchFamily="34" charset="0"/>
                <a:ea typeface="Calibri" pitchFamily="34" charset="-122"/>
                <a:cs typeface="Calibri" pitchFamily="34" charset="-120"/>
              </a:rPr>
              <a:t>Every second of every conversation, watched by two layers — deterministic rules for speed, AI for nuance.</a:t>
            </a:r>
            <a:endParaRPr lang="en-US" sz="1300" dirty="0"/>
          </a:p>
        </p:txBody>
      </p:sp>
      <p:sp>
        <p:nvSpPr>
          <p:cNvPr id="9" name="Text 6"/>
          <p:cNvSpPr/>
          <p:nvPr/>
        </p:nvSpPr>
        <p:spPr>
          <a:xfrm>
            <a:off x="4617720" y="502920"/>
            <a:ext cx="7086600" cy="384048"/>
          </a:xfrm>
          <a:prstGeom prst="rect">
            <a:avLst/>
          </a:prstGeom>
          <a:noFill/>
          <a:ln/>
        </p:spPr>
        <p:txBody>
          <a:bodyPr wrap="square" rtlCol="0" anchor="ctr"/>
          <a:lstStyle/>
          <a:p>
            <a:pPr indent="0" marL="0">
              <a:buNone/>
            </a:pPr>
            <a:r>
              <a:rPr lang="en-US" sz="1550" b="1" spc="100" kern="0" dirty="0">
                <a:solidFill>
                  <a:srgbClr val="50708C"/>
                </a:solidFill>
                <a:latin typeface="Calibri" pitchFamily="34" charset="0"/>
                <a:ea typeface="Calibri" pitchFamily="34" charset="-122"/>
                <a:cs typeface="Calibri" pitchFamily="34" charset="-120"/>
              </a:rPr>
              <a:t>What it does</a:t>
            </a:r>
            <a:endParaRPr lang="en-US" sz="1550" dirty="0"/>
          </a:p>
        </p:txBody>
      </p:sp>
      <p:pic>
        <p:nvPicPr>
          <p:cNvPr id="10" name="Image 1" descr="preencoded.png">    </p:cNvPr>
          <p:cNvPicPr>
            <a:picLocks noChangeAspect="1"/>
          </p:cNvPicPr>
          <p:nvPr/>
        </p:nvPicPr>
        <p:blipFill>
          <a:blip r:embed="rId2"/>
          <a:stretch>
            <a:fillRect/>
          </a:stretch>
        </p:blipFill>
        <p:spPr>
          <a:xfrm>
            <a:off x="4617720" y="1175766"/>
            <a:ext cx="292608" cy="292608"/>
          </a:xfrm>
          <a:prstGeom prst="rect">
            <a:avLst/>
          </a:prstGeom>
        </p:spPr>
      </p:pic>
      <p:sp>
        <p:nvSpPr>
          <p:cNvPr id="11" name="Text 7"/>
          <p:cNvSpPr/>
          <p:nvPr/>
        </p:nvSpPr>
        <p:spPr>
          <a:xfrm>
            <a:off x="5074920" y="987552"/>
            <a:ext cx="6629400" cy="669036"/>
          </a:xfrm>
          <a:prstGeom prst="rect">
            <a:avLst/>
          </a:prstGeom>
          <a:noFill/>
          <a:ln/>
        </p:spPr>
        <p:txBody>
          <a:bodyPr wrap="square" lIns="0" tIns="0" rIns="0" bIns="0" rtlCol="0" anchor="ctr"/>
          <a:lstStyle/>
          <a:p>
            <a:pPr indent="0" marL="0">
              <a:lnSpc>
                <a:spcPct val="100000"/>
              </a:lnSpc>
              <a:buNone/>
            </a:pPr>
            <a:r>
              <a:rPr lang="en-US" sz="1200" dirty="0">
                <a:solidFill>
                  <a:srgbClr val="212933"/>
                </a:solidFill>
                <a:latin typeface="Calibri" pitchFamily="34" charset="0"/>
                <a:ea typeface="Calibri" pitchFamily="34" charset="-122"/>
                <a:cs typeface="Calibri" pitchFamily="34" charset="-120"/>
              </a:rPr>
              <a:t>Live transcription with speaker separation, streamed into the agent's workspace</a:t>
            </a:r>
            <a:endParaRPr lang="en-US" sz="1200" dirty="0"/>
          </a:p>
        </p:txBody>
      </p:sp>
      <p:pic>
        <p:nvPicPr>
          <p:cNvPr id="12" name="Image 2" descr="preencoded.png">    </p:cNvPr>
          <p:cNvPicPr>
            <a:picLocks noChangeAspect="1"/>
          </p:cNvPicPr>
          <p:nvPr/>
        </p:nvPicPr>
        <p:blipFill>
          <a:blip r:embed="rId3"/>
          <a:stretch>
            <a:fillRect/>
          </a:stretch>
        </p:blipFill>
        <p:spPr>
          <a:xfrm>
            <a:off x="4617720" y="1844802"/>
            <a:ext cx="292608" cy="292608"/>
          </a:xfrm>
          <a:prstGeom prst="rect">
            <a:avLst/>
          </a:prstGeom>
        </p:spPr>
      </p:pic>
      <p:sp>
        <p:nvSpPr>
          <p:cNvPr id="13" name="Text 8"/>
          <p:cNvSpPr/>
          <p:nvPr/>
        </p:nvSpPr>
        <p:spPr>
          <a:xfrm>
            <a:off x="5074920" y="1656588"/>
            <a:ext cx="6629400" cy="669036"/>
          </a:xfrm>
          <a:prstGeom prst="rect">
            <a:avLst/>
          </a:prstGeom>
          <a:noFill/>
          <a:ln/>
        </p:spPr>
        <p:txBody>
          <a:bodyPr wrap="square" lIns="0" tIns="0" rIns="0" bIns="0" rtlCol="0" anchor="ctr"/>
          <a:lstStyle/>
          <a:p>
            <a:pPr indent="0" marL="0">
              <a:lnSpc>
                <a:spcPct val="100000"/>
              </a:lnSpc>
              <a:buNone/>
            </a:pPr>
            <a:r>
              <a:rPr lang="en-US" sz="1200" dirty="0">
                <a:solidFill>
                  <a:srgbClr val="212933"/>
                </a:solidFill>
                <a:latin typeface="Calibri" pitchFamily="34" charset="0"/>
                <a:ea typeface="Calibri" pitchFamily="34" charset="-122"/>
                <a:cs typeface="Calibri" pitchFamily="34" charset="-120"/>
              </a:rPr>
              <a:t>Two-layer compliance: instant deterministic rules (admin-configurable phrases &amp; patterns) — violating sentence highlighted inline with a corrective suggestion in under a second</a:t>
            </a:r>
            <a:endParaRPr lang="en-US" sz="1200" dirty="0"/>
          </a:p>
        </p:txBody>
      </p:sp>
      <p:pic>
        <p:nvPicPr>
          <p:cNvPr id="14" name="Image 3" descr="preencoded.png">    </p:cNvPr>
          <p:cNvPicPr>
            <a:picLocks noChangeAspect="1"/>
          </p:cNvPicPr>
          <p:nvPr/>
        </p:nvPicPr>
        <p:blipFill>
          <a:blip r:embed="rId4"/>
          <a:stretch>
            <a:fillRect/>
          </a:stretch>
        </p:blipFill>
        <p:spPr>
          <a:xfrm>
            <a:off x="4617720" y="2513838"/>
            <a:ext cx="292608" cy="292608"/>
          </a:xfrm>
          <a:prstGeom prst="rect">
            <a:avLst/>
          </a:prstGeom>
        </p:spPr>
      </p:pic>
      <p:sp>
        <p:nvSpPr>
          <p:cNvPr id="15" name="Text 9"/>
          <p:cNvSpPr/>
          <p:nvPr/>
        </p:nvSpPr>
        <p:spPr>
          <a:xfrm>
            <a:off x="5074920" y="2325624"/>
            <a:ext cx="6629400" cy="669036"/>
          </a:xfrm>
          <a:prstGeom prst="rect">
            <a:avLst/>
          </a:prstGeom>
          <a:noFill/>
          <a:ln/>
        </p:spPr>
        <p:txBody>
          <a:bodyPr wrap="square" lIns="0" tIns="0" rIns="0" bIns="0" rtlCol="0" anchor="ctr"/>
          <a:lstStyle/>
          <a:p>
            <a:pPr indent="0" marL="0">
              <a:lnSpc>
                <a:spcPct val="100000"/>
              </a:lnSpc>
              <a:buNone/>
            </a:pPr>
            <a:r>
              <a:rPr lang="en-US" sz="1200" dirty="0">
                <a:solidFill>
                  <a:srgbClr val="212933"/>
                </a:solidFill>
                <a:latin typeface="Calibri" pitchFamily="34" charset="0"/>
                <a:ea typeface="Calibri" pitchFamily="34" charset="-122"/>
                <a:cs typeface="Calibri" pitchFamily="34" charset="-120"/>
              </a:rPr>
              <a:t>AI review layer catches paraphrased violations keyword rules can't — “you'd be crazy not to take this”</a:t>
            </a:r>
            <a:endParaRPr lang="en-US" sz="1200" dirty="0"/>
          </a:p>
        </p:txBody>
      </p:sp>
      <p:pic>
        <p:nvPicPr>
          <p:cNvPr id="16" name="Image 4" descr="preencoded.png">    </p:cNvPr>
          <p:cNvPicPr>
            <a:picLocks noChangeAspect="1"/>
          </p:cNvPicPr>
          <p:nvPr/>
        </p:nvPicPr>
        <p:blipFill>
          <a:blip r:embed="rId5"/>
          <a:stretch>
            <a:fillRect/>
          </a:stretch>
        </p:blipFill>
        <p:spPr>
          <a:xfrm>
            <a:off x="4617720" y="3182874"/>
            <a:ext cx="292608" cy="292608"/>
          </a:xfrm>
          <a:prstGeom prst="rect">
            <a:avLst/>
          </a:prstGeom>
        </p:spPr>
      </p:pic>
      <p:sp>
        <p:nvSpPr>
          <p:cNvPr id="17" name="Text 10"/>
          <p:cNvSpPr/>
          <p:nvPr/>
        </p:nvSpPr>
        <p:spPr>
          <a:xfrm>
            <a:off x="5074920" y="2994660"/>
            <a:ext cx="6629400" cy="669036"/>
          </a:xfrm>
          <a:prstGeom prst="rect">
            <a:avLst/>
          </a:prstGeom>
          <a:noFill/>
          <a:ln/>
        </p:spPr>
        <p:txBody>
          <a:bodyPr wrap="square" lIns="0" tIns="0" rIns="0" bIns="0" rtlCol="0" anchor="ctr"/>
          <a:lstStyle/>
          <a:p>
            <a:pPr indent="0" marL="0">
              <a:lnSpc>
                <a:spcPct val="100000"/>
              </a:lnSpc>
              <a:buNone/>
            </a:pPr>
            <a:r>
              <a:rPr lang="en-US" sz="1200" dirty="0">
                <a:solidFill>
                  <a:srgbClr val="212933"/>
                </a:solidFill>
                <a:latin typeface="Calibri" pitchFamily="34" charset="0"/>
                <a:ea typeface="Calibri" pitchFamily="34" charset="-122"/>
                <a:cs typeface="Calibri" pitchFamily="34" charset="-120"/>
              </a:rPr>
              <a:t>Live customer sentiment with shift detection (neutral → confused → positive), surfaced to agent and supervisor</a:t>
            </a:r>
            <a:endParaRPr lang="en-US" sz="1200" dirty="0"/>
          </a:p>
        </p:txBody>
      </p:sp>
      <p:pic>
        <p:nvPicPr>
          <p:cNvPr id="18" name="Image 5" descr="preencoded.png">    </p:cNvPr>
          <p:cNvPicPr>
            <a:picLocks noChangeAspect="1"/>
          </p:cNvPicPr>
          <p:nvPr/>
        </p:nvPicPr>
        <p:blipFill>
          <a:blip r:embed="rId6"/>
          <a:stretch>
            <a:fillRect/>
          </a:stretch>
        </p:blipFill>
        <p:spPr>
          <a:xfrm>
            <a:off x="4617720" y="3851910"/>
            <a:ext cx="292608" cy="292608"/>
          </a:xfrm>
          <a:prstGeom prst="rect">
            <a:avLst/>
          </a:prstGeom>
        </p:spPr>
      </p:pic>
      <p:sp>
        <p:nvSpPr>
          <p:cNvPr id="19" name="Text 11"/>
          <p:cNvSpPr/>
          <p:nvPr/>
        </p:nvSpPr>
        <p:spPr>
          <a:xfrm>
            <a:off x="5074920" y="3663696"/>
            <a:ext cx="6629400" cy="669036"/>
          </a:xfrm>
          <a:prstGeom prst="rect">
            <a:avLst/>
          </a:prstGeom>
          <a:noFill/>
          <a:ln/>
        </p:spPr>
        <p:txBody>
          <a:bodyPr wrap="square" lIns="0" tIns="0" rIns="0" bIns="0" rtlCol="0" anchor="ctr"/>
          <a:lstStyle/>
          <a:p>
            <a:pPr indent="0" marL="0">
              <a:lnSpc>
                <a:spcPct val="100000"/>
              </a:lnSpc>
              <a:buNone/>
            </a:pPr>
            <a:r>
              <a:rPr lang="en-US" sz="1200" dirty="0">
                <a:solidFill>
                  <a:srgbClr val="212933"/>
                </a:solidFill>
                <a:latin typeface="Calibri" pitchFamily="34" charset="0"/>
                <a:ea typeface="Calibri" pitchFamily="34" charset="-122"/>
                <a:cs typeface="Calibri" pitchFamily="34" charset="-120"/>
              </a:rPr>
              <a:t>Proactive coaching engine: configurable behavioral rules — talk-ratio imbalance, long monologues, missed discovery questions — nudge before the mistake</a:t>
            </a:r>
            <a:endParaRPr lang="en-US" sz="1200" dirty="0"/>
          </a:p>
        </p:txBody>
      </p:sp>
      <p:pic>
        <p:nvPicPr>
          <p:cNvPr id="20" name="Image 6" descr="preencoded.png">    </p:cNvPr>
          <p:cNvPicPr>
            <a:picLocks noChangeAspect="1"/>
          </p:cNvPicPr>
          <p:nvPr/>
        </p:nvPicPr>
        <p:blipFill>
          <a:blip r:embed="rId7"/>
          <a:stretch>
            <a:fillRect/>
          </a:stretch>
        </p:blipFill>
        <p:spPr>
          <a:xfrm>
            <a:off x="4617720" y="4520946"/>
            <a:ext cx="292608" cy="292608"/>
          </a:xfrm>
          <a:prstGeom prst="rect">
            <a:avLst/>
          </a:prstGeom>
        </p:spPr>
      </p:pic>
      <p:sp>
        <p:nvSpPr>
          <p:cNvPr id="21" name="Text 12"/>
          <p:cNvSpPr/>
          <p:nvPr/>
        </p:nvSpPr>
        <p:spPr>
          <a:xfrm>
            <a:off x="5074920" y="4332732"/>
            <a:ext cx="6629400" cy="669036"/>
          </a:xfrm>
          <a:prstGeom prst="rect">
            <a:avLst/>
          </a:prstGeom>
          <a:noFill/>
          <a:ln/>
        </p:spPr>
        <p:txBody>
          <a:bodyPr wrap="square" lIns="0" tIns="0" rIns="0" bIns="0" rtlCol="0" anchor="ctr"/>
          <a:lstStyle/>
          <a:p>
            <a:pPr indent="0" marL="0">
              <a:lnSpc>
                <a:spcPct val="100000"/>
              </a:lnSpc>
              <a:buNone/>
            </a:pPr>
            <a:r>
              <a:rPr lang="en-US" sz="1200" dirty="0">
                <a:solidFill>
                  <a:srgbClr val="212933"/>
                </a:solidFill>
                <a:latin typeface="Calibri" pitchFamily="34" charset="0"/>
                <a:ea typeface="Calibri" pitchFamily="34" charset="-122"/>
                <a:cs typeface="Calibri" pitchFamily="34" charset="-120"/>
              </a:rPr>
              <a:t>Cost-engineered &amp; resilient: one merged structured LLM call per 15-second window covers sentiment + coaching + compliance; if the LLM drops, rules continue, the UI shows “AI degraded,” and a self-healing probe restores service</a:t>
            </a:r>
            <a:endParaRPr lang="en-US" sz="1200" dirty="0"/>
          </a:p>
        </p:txBody>
      </p:sp>
      <p:sp>
        <p:nvSpPr>
          <p:cNvPr id="22" name="Shape 13"/>
          <p:cNvSpPr/>
          <p:nvPr/>
        </p:nvSpPr>
        <p:spPr>
          <a:xfrm>
            <a:off x="4617720" y="5138928"/>
            <a:ext cx="7086600" cy="1188720"/>
          </a:xfrm>
          <a:prstGeom prst="roundRect">
            <a:avLst>
              <a:gd name="adj" fmla="val 7692"/>
            </a:avLst>
          </a:prstGeom>
          <a:solidFill>
            <a:srgbClr val="F5F7F9"/>
          </a:solidFill>
          <a:ln w="15875">
            <a:solidFill>
              <a:srgbClr val="50708C"/>
            </a:solidFill>
            <a:prstDash val="solid"/>
          </a:ln>
          <a:effectLst>
            <a:outerShdw sx="100000" sy="100000" kx="0" ky="0" algn="bl" rotWithShape="0" blurRad="101600" dist="38100" dir="5400000">
              <a:srgbClr val="1A2027">
                <a:alpha val="10000"/>
              </a:srgbClr>
            </a:outerShdw>
          </a:effectLst>
        </p:spPr>
        <p:txBody>
          <a:bodyPr/>
          <a:p/>
        </p:txBody>
      </p:sp>
      <p:sp>
        <p:nvSpPr>
          <p:cNvPr id="23" name="Shape 14"/>
          <p:cNvSpPr/>
          <p:nvPr/>
        </p:nvSpPr>
        <p:spPr>
          <a:xfrm>
            <a:off x="4837176" y="5440680"/>
            <a:ext cx="585216" cy="585216"/>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24" name="Image 7" descr="preencoded.png">    </p:cNvPr>
          <p:cNvPicPr>
            <a:picLocks noChangeAspect="1"/>
          </p:cNvPicPr>
          <p:nvPr/>
        </p:nvPicPr>
        <p:blipFill>
          <a:blip r:embed="rId8"/>
          <a:stretch>
            <a:fillRect/>
          </a:stretch>
        </p:blipFill>
        <p:spPr>
          <a:xfrm>
            <a:off x="4995184" y="5598688"/>
            <a:ext cx="269199" cy="269199"/>
          </a:xfrm>
          <a:prstGeom prst="rect">
            <a:avLst/>
          </a:prstGeom>
        </p:spPr>
      </p:pic>
      <p:sp>
        <p:nvSpPr>
          <p:cNvPr id="25" name="Text 15"/>
          <p:cNvSpPr/>
          <p:nvPr/>
        </p:nvSpPr>
        <p:spPr>
          <a:xfrm>
            <a:off x="5577840" y="5294376"/>
            <a:ext cx="5943600" cy="274320"/>
          </a:xfrm>
          <a:prstGeom prst="rect">
            <a:avLst/>
          </a:prstGeom>
          <a:noFill/>
          <a:ln/>
        </p:spPr>
        <p:txBody>
          <a:bodyPr wrap="square" rtlCol="0" anchor="ctr"/>
          <a:lstStyle/>
          <a:p>
            <a:pPr indent="0" marL="0">
              <a:buNone/>
            </a:pPr>
            <a:r>
              <a:rPr lang="en-US" sz="1100" b="1" spc="200" kern="0" dirty="0">
                <a:solidFill>
                  <a:srgbClr val="50708C"/>
                </a:solidFill>
                <a:latin typeface="Calibri" pitchFamily="34" charset="0"/>
                <a:ea typeface="Calibri" pitchFamily="34" charset="-122"/>
                <a:cs typeface="Calibri" pitchFamily="34" charset="-120"/>
              </a:rPr>
              <a:t>IN PRACTICE</a:t>
            </a:r>
            <a:endParaRPr lang="en-US" sz="1100" dirty="0"/>
          </a:p>
        </p:txBody>
      </p:sp>
      <p:sp>
        <p:nvSpPr>
          <p:cNvPr id="26" name="Text 16"/>
          <p:cNvSpPr/>
          <p:nvPr/>
        </p:nvSpPr>
        <p:spPr>
          <a:xfrm>
            <a:off x="5577840" y="5550408"/>
            <a:ext cx="5897880" cy="713232"/>
          </a:xfrm>
          <a:prstGeom prst="rect">
            <a:avLst/>
          </a:prstGeom>
          <a:noFill/>
          <a:ln/>
        </p:spPr>
        <p:txBody>
          <a:bodyPr wrap="square" lIns="0" tIns="0" rIns="0" bIns="0" rtlCol="0" anchor="ctr"/>
          <a:lstStyle/>
          <a:p>
            <a:pPr indent="0" marL="0">
              <a:lnSpc>
                <a:spcPct val="102000"/>
              </a:lnSpc>
              <a:buNone/>
            </a:pPr>
            <a:r>
              <a:rPr lang="en-US" sz="1250" i="1" dirty="0">
                <a:solidFill>
                  <a:srgbClr val="212933"/>
                </a:solidFill>
                <a:latin typeface="Calibri" pitchFamily="34" charset="0"/>
                <a:ea typeface="Calibri" pitchFamily="34" charset="-122"/>
                <a:cs typeface="Calibri" pitchFamily="34" charset="-120"/>
              </a:rPr>
              <a:t>An agent paraphrases a guarantee — keyword rules stay silent, but the AI layer flags it and offers a compliant rephrase. If the model drops out, rule-based monitoring never blinks.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05  ·  IDENTIFIED CLIENT</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Where We Will Deploy &amp; Sell</a:t>
            </a:r>
            <a:endParaRPr lang="en-US" sz="2800"/>
          </a:p>
        </p:txBody>
      </p:sp>
      <p:sp>
        <p:nvSpPr>
          <p:cNvPr id="4" name="Shape 2"/>
          <p:cNvSpPr/>
          <p:nvPr/>
        </p:nvSpPr>
        <p:spPr>
          <a:xfrm>
            <a:off x="502920" y="1554480"/>
            <a:ext cx="11183112" cy="868680"/>
          </a:xfrm>
          <a:prstGeom prst="roundRect">
            <a:avLst>
              <a:gd name="adj" fmla="val 6316"/>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731520" y="1664208"/>
            <a:ext cx="10789920" cy="640080"/>
          </a:xfrm>
          <a:prstGeom prst="rect">
            <a:avLst/>
          </a:prstGeom>
          <a:noFill/>
          <a:ln/>
        </p:spPr>
        <p:txBody>
          <a:bodyPr wrap="square" lIns="0" tIns="0" rIns="0" bIns="0" rtlCol="0" anchor="ctr"/>
          <a:lstStyle/>
          <a:p>
            <a:pPr marL="0" indent="0">
              <a:spcAft>
                <a:spcPts val="300"/>
              </a:spcAft>
              <a:buNone/>
            </a:pPr>
            <a:r>
              <a:rPr lang="en-US" sz="1300" b="1" i="0">
                <a:solidFill>
                  <a:srgbClr val="005071"/>
                </a:solidFill>
                <a:latin typeface="Calibri" pitchFamily="34" charset="0"/>
                <a:ea typeface="Calibri" pitchFamily="34" charset="-122"/>
                <a:cs typeface="Calibri" pitchFamily="34" charset="-120"/>
              </a:rPr>
              <a:t>Deployment reach — </a:t>
            </a:r>
            <a:r>
              <a:rPr lang="en-US" sz="1300" b="1" i="0">
                <a:solidFill>
                  <a:srgbClr val="005071"/>
                </a:solidFill>
                <a:latin typeface="Calibri" pitchFamily="34" charset="0"/>
                <a:ea typeface="Calibri" pitchFamily="34" charset="-122"/>
                <a:cs typeface="Calibri" pitchFamily="34" charset="-120"/>
              </a:rPr>
              <a:t>EXL already supports the tele-sales departments of clients across regulated industries; the solution can be deployed into any number of them, and into new pursuits, with no client-specific rebuild</a:t>
            </a:r>
            <a:endParaRPr lang="en-US" sz="1400"/>
          </a:p>
        </p:txBody>
      </p:sp>
      <p:sp>
        <p:nvSpPr>
          <p:cNvPr id="6" name="Shape 4"/>
          <p:cNvSpPr/>
          <p:nvPr/>
        </p:nvSpPr>
        <p:spPr>
          <a:xfrm>
            <a:off x="502920"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7" name="Text 5"/>
          <p:cNvSpPr/>
          <p:nvPr/>
        </p:nvSpPr>
        <p:spPr>
          <a:xfrm>
            <a:off x="640080"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Where EXL already operates</a:t>
            </a:r>
            <a:endParaRPr lang="en-US" sz="1500"/>
          </a:p>
        </p:txBody>
      </p:sp>
      <p:sp>
        <p:nvSpPr>
          <p:cNvPr id="8" name="Text 6"/>
          <p:cNvSpPr/>
          <p:nvPr/>
        </p:nvSpPr>
        <p:spPr>
          <a:xfrm>
            <a:off x="685800"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b="1">
                <a:solidFill>
                  <a:srgbClr val="6C727B"/>
                </a:solidFill>
                <a:latin typeface="Calibri" pitchFamily="34" charset="0"/>
                <a:ea typeface="Calibri" pitchFamily="34" charset="-122"/>
                <a:cs typeface="Calibri" pitchFamily="34" charset="-120"/>
              </a:rPr>
              <a:t>Tele-sales departments of existing clients</a:t>
            </a:r>
            <a:r>
              <a:rPr lang="en-US" sz="1150" i="0">
                <a:solidFill>
                  <a:srgbClr val="6C727B"/>
                </a:solidFill>
                <a:latin typeface="Calibri" pitchFamily="34" charset="0"/>
                <a:ea typeface="Calibri" pitchFamily="34" charset="-122"/>
                <a:cs typeface="Calibri" pitchFamily="34" charset="-120"/>
              </a:rPr>
              <a:t> — the fastest path, because the operation, the data and the compliance obligations are already understood</a:t>
            </a:r>
            <a:endParaRPr lang="en-US" sz="1250"/>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Health-plan tele-sales and service desks</a:t>
            </a:r>
            <a:r>
              <a:rPr lang="en-US" sz="1150" i="0">
                <a:solidFill>
                  <a:srgbClr val="6C727B"/>
                </a:solidFill>
                <a:latin typeface="Calibri" pitchFamily="34" charset="0"/>
                <a:ea typeface="Calibri" pitchFamily="34" charset="-122"/>
                <a:cs typeface="Calibri" pitchFamily="34" charset="-120"/>
              </a:rPr>
              <a:t> — the domain the prototype already models end to end</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Account teams</a:t>
            </a:r>
            <a:r>
              <a:rPr lang="en-US" sz="1150" i="0">
                <a:solidFill>
                  <a:srgbClr val="6C727B"/>
                </a:solidFill>
                <a:latin typeface="Calibri" pitchFamily="34" charset="0"/>
                <a:ea typeface="Calibri" pitchFamily="34" charset="-122"/>
                <a:cs typeface="Calibri" pitchFamily="34" charset="-120"/>
              </a:rPr>
              <a:t> — to identify and confirm the first target department</a:t>
            </a:r>
          </a:p>
        </p:txBody>
      </p:sp>
      <p:sp>
        <p:nvSpPr>
          <p:cNvPr id="9" name="Shape 7"/>
          <p:cNvSpPr/>
          <p:nvPr/>
        </p:nvSpPr>
        <p:spPr>
          <a:xfrm>
            <a:off x="4261104"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10" name="Text 8"/>
          <p:cNvSpPr/>
          <p:nvPr/>
        </p:nvSpPr>
        <p:spPr>
          <a:xfrm>
            <a:off x="4398264"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New logos / pipeline</a:t>
            </a:r>
            <a:endParaRPr lang="en-US" sz="1500"/>
          </a:p>
        </p:txBody>
      </p:sp>
      <p:sp>
        <p:nvSpPr>
          <p:cNvPr id="11" name="Text 9"/>
          <p:cNvSpPr/>
          <p:nvPr/>
        </p:nvSpPr>
        <p:spPr>
          <a:xfrm>
            <a:off x="4443984"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b="1">
                <a:solidFill>
                  <a:srgbClr val="6C727B"/>
                </a:solidFill>
                <a:latin typeface="Calibri" pitchFamily="34" charset="0"/>
                <a:ea typeface="Calibri" pitchFamily="34" charset="-122"/>
                <a:cs typeface="Calibri" pitchFamily="34" charset="-120"/>
              </a:rPr>
              <a:t>US health plans</a:t>
            </a:r>
            <a:r>
              <a:rPr lang="en-US" sz="1150" i="0">
                <a:solidFill>
                  <a:srgbClr val="6C727B"/>
                </a:solidFill>
                <a:latin typeface="Calibri" pitchFamily="34" charset="0"/>
                <a:ea typeface="Calibri" pitchFamily="34" charset="-122"/>
                <a:cs typeface="Calibri" pitchFamily="34" charset="-120"/>
              </a:rPr>
              <a:t> — Medicare Advantage &amp; ACA tele-sales desks</a:t>
            </a:r>
            <a:endParaRPr lang="en-US" sz="1250"/>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Banking &amp; insurance</a:t>
            </a:r>
            <a:r>
              <a:rPr lang="en-US" sz="1150" i="0">
                <a:solidFill>
                  <a:srgbClr val="6C727B"/>
                </a:solidFill>
                <a:latin typeface="Calibri" pitchFamily="34" charset="0"/>
                <a:ea typeface="Calibri" pitchFamily="34" charset="-122"/>
                <a:cs typeface="Calibri" pitchFamily="34" charset="-120"/>
              </a:rPr>
              <a:t> — tele-sales desks operating under conduct rules</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Collections &amp; outreach BPOs</a:t>
            </a:r>
            <a:r>
              <a:rPr lang="en-US" sz="1150" i="0">
                <a:solidFill>
                  <a:srgbClr val="6C727B"/>
                </a:solidFill>
                <a:latin typeface="Calibri" pitchFamily="34" charset="0"/>
                <a:ea typeface="Calibri" pitchFamily="34" charset="-122"/>
                <a:cs typeface="Calibri" pitchFamily="34" charset="-120"/>
              </a:rPr>
              <a:t> — contact-practice and disclosure obligations</a:t>
            </a:r>
          </a:p>
          <a:p>
            <a:pPr marL="0" indent="0">
              <a:spcAft>
                <a:spcPts val="300"/>
              </a:spcAft>
              <a:buNone/>
            </a:pPr>
            <a:r>
              <a:rPr lang="en-US" sz="1150" i="0" b="1">
                <a:solidFill>
                  <a:srgbClr val="6C727B"/>
                </a:solidFill>
                <a:latin typeface="Calibri" pitchFamily="34" charset="0"/>
                <a:ea typeface="Calibri" pitchFamily="34" charset="-122"/>
                <a:cs typeface="Calibri" pitchFamily="34" charset="-120"/>
              </a:rPr>
              <a:t>Retail &amp; telecom</a:t>
            </a:r>
            <a:r>
              <a:rPr lang="en-US" sz="1150" i="0">
                <a:solidFill>
                  <a:srgbClr val="6C727B"/>
                </a:solidFill>
                <a:latin typeface="Calibri" pitchFamily="34" charset="0"/>
                <a:ea typeface="Calibri" pitchFamily="34" charset="-122"/>
                <a:cs typeface="Calibri" pitchFamily="34" charset="-120"/>
              </a:rPr>
              <a:t> — offer and claims compliance, churn-save coaching</a:t>
            </a:r>
          </a:p>
        </p:txBody>
      </p:sp>
      <p:sp>
        <p:nvSpPr>
          <p:cNvPr id="12" name="Shape 10"/>
          <p:cNvSpPr/>
          <p:nvPr/>
        </p:nvSpPr>
        <p:spPr>
          <a:xfrm>
            <a:off x="8019288" y="2606040"/>
            <a:ext cx="3657600" cy="3063240"/>
          </a:xfrm>
          <a:prstGeom prst="roundRect">
            <a:avLst>
              <a:gd name="adj" fmla="val 1791"/>
            </a:avLst>
          </a:prstGeom>
          <a:solidFill>
            <a:srgbClr val="DCF3FA"/>
          </a:solidFill>
          <a:ln w="12700">
            <a:solidFill>
              <a:srgbClr val="ACB6BE"/>
            </a:solidFill>
            <a:prstDash val="solid"/>
          </a:ln>
        </p:spPr>
        <p:txBody>
          <a:bodyPr/>
          <a:lstStyle/>
          <a:p>
            <a:endParaRPr lang="en-US"/>
          </a:p>
        </p:txBody>
      </p:sp>
      <p:sp>
        <p:nvSpPr>
          <p:cNvPr id="13" name="Text 11"/>
          <p:cNvSpPr/>
          <p:nvPr/>
        </p:nvSpPr>
        <p:spPr>
          <a:xfrm>
            <a:off x="8156448" y="2743200"/>
            <a:ext cx="3383280" cy="365760"/>
          </a:xfrm>
          <a:prstGeom prst="rect">
            <a:avLst/>
          </a:prstGeom>
          <a:noFill/>
          <a:ln/>
        </p:spPr>
        <p:txBody>
          <a:bodyPr wrap="square" lIns="0" tIns="0" rIns="0" bIns="0" rtlCol="0" anchor="ctr"/>
          <a:lstStyle/>
          <a:p>
            <a:pPr marL="0" indent="0">
              <a:spcAft>
                <a:spcPts val="300"/>
              </a:spcAft>
              <a:buNone/>
            </a:pPr>
            <a:r>
              <a:rPr lang="en-US" sz="1500" b="1" i="0">
                <a:solidFill>
                  <a:srgbClr val="005071"/>
                </a:solidFill>
                <a:latin typeface="Calibri Light" pitchFamily="34" charset="0"/>
                <a:ea typeface="Calibri Light" pitchFamily="34" charset="-122"/>
                <a:cs typeface="Calibri Light" pitchFamily="34" charset="-120"/>
              </a:rPr>
              <a:t>Partnerships</a:t>
            </a:r>
            <a:endParaRPr lang="en-US" sz="1500"/>
          </a:p>
        </p:txBody>
      </p:sp>
      <p:sp>
        <p:nvSpPr>
          <p:cNvPr id="14" name="Text 12"/>
          <p:cNvSpPr/>
          <p:nvPr/>
        </p:nvSpPr>
        <p:spPr>
          <a:xfrm>
            <a:off x="8202168" y="3200400"/>
            <a:ext cx="3291840" cy="2286000"/>
          </a:xfrm>
          <a:prstGeom prst="rect">
            <a:avLst/>
          </a:prstGeom>
          <a:noFill/>
          <a:ln/>
        </p:spPr>
        <p:txBody>
          <a:bodyPr wrap="square" lIns="0" tIns="0" rIns="0" bIns="0" rtlCol="0" anchor="t"/>
          <a:lstStyle/>
          <a:p>
            <a:pPr marL="0" indent="0">
              <a:spcAft>
                <a:spcPts val="300"/>
              </a:spcAft>
              <a:buSzPct val="100000"/>
              <a:buNone/>
            </a:pPr>
            <a:r>
              <a:rPr lang="en-US" sz="1150" i="0">
                <a:solidFill>
                  <a:srgbClr val="6C727B"/>
                </a:solidFill>
                <a:latin typeface="Calibri" pitchFamily="34" charset="0"/>
                <a:ea typeface="Calibri" pitchFamily="34" charset="-122"/>
                <a:cs typeface="Calibri" pitchFamily="34" charset="-120"/>
              </a:rPr>
              <a:t/>
            </a:r>
            <a:endParaRPr lang="en-US" sz="1250"/>
          </a:p>
        </p:txBody>
      </p:sp>
    </p:spTree>
  </p:cSld>
  <p:clrMapOvr>
    <a:masterClrMapping/>
  </p:clrMapOvr>
</p:sld>
</file>

<file path=ppt/slides/slide6_b.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oundRect">
            <a:avLst/>
          </a:prstGeom>
          <a:solidFill>
            <a:srgbClr val="222B36"/>
          </a:solidFill>
          <a:ln/>
        </p:spPr>
        <p:txBody>
          <a:bodyPr/>
          <a:p/>
        </p:txBody>
      </p:sp>
      <p:sp>
        <p:nvSpPr>
          <p:cNvPr id="3" name="Shape 1"/>
          <p:cNvSpPr/>
          <p:nvPr/>
        </p:nvSpPr>
        <p:spPr>
          <a:xfrm>
            <a:off x="1828800" y="-1371600"/>
            <a:ext cx="2468880" cy="2468880"/>
          </a:xfrm>
          <a:prstGeom prst="ellipse">
            <a:avLst/>
          </a:prstGeom>
          <a:solidFill>
            <a:srgbClr val="2C3644"/>
          </a:solidFill>
          <a:ln/>
        </p:spPr>
        <p:txBody>
          <a:bodyPr/>
          <a:p/>
        </p:txBody>
      </p:sp>
      <p:sp>
        <p:nvSpPr>
          <p:cNvPr id="4" name="Text 2"/>
          <p:cNvSpPr/>
          <p:nvPr/>
        </p:nvSpPr>
        <p:spPr>
          <a:xfrm>
            <a:off x="548640" y="685800"/>
            <a:ext cx="1783080" cy="384048"/>
          </a:xfrm>
          <a:prstGeom prst="roundRect">
            <a:avLst>
              <a:gd name="adj" fmla="val 50000"/>
            </a:avLst>
          </a:prstGeom>
          <a:solidFill>
            <a:srgbClr val="2FA36B"/>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PILLAR 3</a:t>
            </a:r>
            <a:endParaRPr lang="en-US" sz="1150" dirty="0"/>
          </a:p>
        </p:txBody>
      </p:sp>
      <p:sp>
        <p:nvSpPr>
          <p:cNvPr id="5" name="Shape 3"/>
          <p:cNvSpPr/>
          <p:nvPr/>
        </p:nvSpPr>
        <p:spPr>
          <a:xfrm>
            <a:off x="548640" y="1371600"/>
            <a:ext cx="1097280" cy="1097280"/>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6" name="Image 0" descr="preencoded.png">    </p:cNvPr>
          <p:cNvPicPr>
            <a:picLocks noChangeAspect="1"/>
          </p:cNvPicPr>
          <p:nvPr/>
        </p:nvPicPr>
        <p:blipFill>
          <a:blip r:embed="rId1"/>
          <a:stretch>
            <a:fillRect/>
          </a:stretch>
        </p:blipFill>
        <p:spPr>
          <a:xfrm>
            <a:off x="822960" y="1645920"/>
            <a:ext cx="548640" cy="548640"/>
          </a:xfrm>
          <a:prstGeom prst="rect">
            <a:avLst/>
          </a:prstGeom>
        </p:spPr>
      </p:pic>
      <p:sp>
        <p:nvSpPr>
          <p:cNvPr id="7" name="Text 4"/>
          <p:cNvSpPr/>
          <p:nvPr/>
        </p:nvSpPr>
        <p:spPr>
          <a:xfrm>
            <a:off x="548640" y="2651760"/>
            <a:ext cx="3246120" cy="1691640"/>
          </a:xfrm>
          <a:prstGeom prst="rect">
            <a:avLst/>
          </a:prstGeom>
          <a:noFill/>
          <a:ln/>
        </p:spPr>
        <p:txBody>
          <a:bodyPr wrap="square" rtlCol="0" anchor="ctr"/>
          <a:lstStyle/>
          <a:p>
            <a:pPr indent="0" marL="0">
              <a:lnSpc>
                <a:spcPct val="95000"/>
              </a:lnSpc>
              <a:buNone/>
            </a:pPr>
            <a:r>
              <a:rPr lang="en-US" sz="2600" b="1" dirty="0">
                <a:solidFill>
                  <a:srgbClr val="FFFFFF"/>
                </a:solidFill>
                <a:latin typeface="Calibri" pitchFamily="34" charset="0"/>
                <a:ea typeface="Calibri" pitchFamily="34" charset="-122"/>
                <a:cs typeface="Calibri" pitchFamily="34" charset="-120"/>
              </a:rPr>
              <a:t>Supervisor Command Center &amp; AI Governance</a:t>
            </a:r>
            <a:endParaRPr lang="en-US" sz="2600" dirty="0"/>
          </a:p>
        </p:txBody>
      </p:sp>
      <p:sp>
        <p:nvSpPr>
          <p:cNvPr id="8" name="Text 5"/>
          <p:cNvSpPr/>
          <p:nvPr/>
        </p:nvSpPr>
        <p:spPr>
          <a:xfrm>
            <a:off x="548640" y="4480560"/>
            <a:ext cx="3154680" cy="1645920"/>
          </a:xfrm>
          <a:prstGeom prst="rect">
            <a:avLst/>
          </a:prstGeom>
          <a:noFill/>
          <a:ln/>
        </p:spPr>
        <p:txBody>
          <a:bodyPr wrap="square" rtlCol="0" anchor="ctr"/>
          <a:lstStyle/>
          <a:p>
            <a:pPr indent="0" marL="0">
              <a:lnSpc>
                <a:spcPct val="110000"/>
              </a:lnSpc>
              <a:buNone/>
            </a:pPr>
            <a:r>
              <a:rPr lang="en-US" sz="1300" dirty="0">
                <a:solidFill>
                  <a:srgbClr val="D7DEE7"/>
                </a:solidFill>
                <a:latin typeface="Calibri" pitchFamily="34" charset="0"/>
                <a:ea typeface="Calibri" pitchFamily="34" charset="-122"/>
                <a:cs typeface="Calibri" pitchFamily="34" charset="-120"/>
              </a:rPr>
              <a:t>The whole operation on one screen — and the AI itself governed by business users, not engineers.</a:t>
            </a:r>
            <a:endParaRPr lang="en-US" sz="1300" dirty="0"/>
          </a:p>
        </p:txBody>
      </p:sp>
      <p:sp>
        <p:nvSpPr>
          <p:cNvPr id="9" name="Text 6"/>
          <p:cNvSpPr/>
          <p:nvPr/>
        </p:nvSpPr>
        <p:spPr>
          <a:xfrm>
            <a:off x="4617720" y="502920"/>
            <a:ext cx="7086600" cy="384048"/>
          </a:xfrm>
          <a:prstGeom prst="rect">
            <a:avLst/>
          </a:prstGeom>
          <a:noFill/>
          <a:ln/>
        </p:spPr>
        <p:txBody>
          <a:bodyPr wrap="square" rtlCol="0" anchor="ctr"/>
          <a:lstStyle/>
          <a:p>
            <a:pPr indent="0" marL="0">
              <a:buNone/>
            </a:pPr>
            <a:r>
              <a:rPr lang="en-US" sz="1550" b="1" spc="100" kern="0" dirty="0">
                <a:solidFill>
                  <a:srgbClr val="2FA36B"/>
                </a:solidFill>
                <a:latin typeface="Calibri" pitchFamily="34" charset="0"/>
                <a:ea typeface="Calibri" pitchFamily="34" charset="-122"/>
                <a:cs typeface="Calibri" pitchFamily="34" charset="-120"/>
              </a:rPr>
              <a:t>What it does</a:t>
            </a:r>
            <a:endParaRPr lang="en-US" sz="1550" dirty="0"/>
          </a:p>
        </p:txBody>
      </p:sp>
      <p:pic>
        <p:nvPicPr>
          <p:cNvPr id="10" name="Image 1" descr="preencoded.png">    </p:cNvPr>
          <p:cNvPicPr>
            <a:picLocks noChangeAspect="1"/>
          </p:cNvPicPr>
          <p:nvPr/>
        </p:nvPicPr>
        <p:blipFill>
          <a:blip r:embed="rId2"/>
          <a:stretch>
            <a:fillRect/>
          </a:stretch>
        </p:blipFill>
        <p:spPr>
          <a:xfrm>
            <a:off x="4617720" y="1242670"/>
            <a:ext cx="292608" cy="292608"/>
          </a:xfrm>
          <a:prstGeom prst="rect">
            <a:avLst/>
          </a:prstGeom>
        </p:spPr>
      </p:pic>
      <p:sp>
        <p:nvSpPr>
          <p:cNvPr id="11" name="Text 7"/>
          <p:cNvSpPr/>
          <p:nvPr/>
        </p:nvSpPr>
        <p:spPr>
          <a:xfrm>
            <a:off x="5074920" y="987552"/>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Live monitoring: click any active call and watch the transcript stream in real time — joining mid-call instantly backfills the full conversation</a:t>
            </a:r>
            <a:endParaRPr lang="en-US" sz="1350" dirty="0"/>
          </a:p>
        </p:txBody>
      </p:sp>
      <p:pic>
        <p:nvPicPr>
          <p:cNvPr id="12" name="Image 2" descr="preencoded.png">    </p:cNvPr>
          <p:cNvPicPr>
            <a:picLocks noChangeAspect="1"/>
          </p:cNvPicPr>
          <p:nvPr/>
        </p:nvPicPr>
        <p:blipFill>
          <a:blip r:embed="rId3"/>
          <a:stretch>
            <a:fillRect/>
          </a:stretch>
        </p:blipFill>
        <p:spPr>
          <a:xfrm>
            <a:off x="4617720" y="2045513"/>
            <a:ext cx="292608" cy="292608"/>
          </a:xfrm>
          <a:prstGeom prst="rect">
            <a:avLst/>
          </a:prstGeom>
        </p:spPr>
      </p:pic>
      <p:sp>
        <p:nvSpPr>
          <p:cNvPr id="13" name="Text 8"/>
          <p:cNvSpPr/>
          <p:nvPr/>
        </p:nvSpPr>
        <p:spPr>
          <a:xfrm>
            <a:off x="5074920" y="1790395"/>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Compliance, coaching, and sentiment events pinned to the exact lines that triggered them</a:t>
            </a:r>
            <a:endParaRPr lang="en-US" sz="1350" dirty="0"/>
          </a:p>
        </p:txBody>
      </p:sp>
      <p:pic>
        <p:nvPicPr>
          <p:cNvPr id="14" name="Image 3" descr="preencoded.png">    </p:cNvPr>
          <p:cNvPicPr>
            <a:picLocks noChangeAspect="1"/>
          </p:cNvPicPr>
          <p:nvPr/>
        </p:nvPicPr>
        <p:blipFill>
          <a:blip r:embed="rId4"/>
          <a:stretch>
            <a:fillRect/>
          </a:stretch>
        </p:blipFill>
        <p:spPr>
          <a:xfrm>
            <a:off x="4617720" y="2848356"/>
            <a:ext cx="292608" cy="292608"/>
          </a:xfrm>
          <a:prstGeom prst="rect">
            <a:avLst/>
          </a:prstGeom>
        </p:spPr>
      </p:pic>
      <p:sp>
        <p:nvSpPr>
          <p:cNvPr id="15" name="Text 9"/>
          <p:cNvSpPr/>
          <p:nvPr/>
        </p:nvSpPr>
        <p:spPr>
          <a:xfrm>
            <a:off x="5074920" y="2593238"/>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No-code AI governance: business users edit compliance rules, coaching rules, and the QA scoring criteria (dimensions, weights, disclosure checklists) — effective on the next call, no deployment</a:t>
            </a:r>
            <a:endParaRPr lang="en-US" sz="1350" dirty="0"/>
          </a:p>
        </p:txBody>
      </p:sp>
      <p:pic>
        <p:nvPicPr>
          <p:cNvPr id="16" name="Image 4" descr="preencoded.png">    </p:cNvPr>
          <p:cNvPicPr>
            <a:picLocks noChangeAspect="1"/>
          </p:cNvPicPr>
          <p:nvPr/>
        </p:nvPicPr>
        <p:blipFill>
          <a:blip r:embed="rId5"/>
          <a:stretch>
            <a:fillRect/>
          </a:stretch>
        </p:blipFill>
        <p:spPr>
          <a:xfrm>
            <a:off x="4617720" y="3651199"/>
            <a:ext cx="292608" cy="292608"/>
          </a:xfrm>
          <a:prstGeom prst="rect">
            <a:avLst/>
          </a:prstGeom>
        </p:spPr>
      </p:pic>
      <p:sp>
        <p:nvSpPr>
          <p:cNvPr id="17" name="Text 10"/>
          <p:cNvSpPr/>
          <p:nvPr/>
        </p:nvSpPr>
        <p:spPr>
          <a:xfrm>
            <a:off x="5074920" y="3396082"/>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On-demand AI quality scoring against the custom criteria — evidence-quoted scorecards, strengths, coaching points</a:t>
            </a:r>
            <a:endParaRPr lang="en-US" sz="1350" dirty="0"/>
          </a:p>
        </p:txBody>
      </p:sp>
      <p:pic>
        <p:nvPicPr>
          <p:cNvPr id="18" name="Image 5" descr="preencoded.png">    </p:cNvPr>
          <p:cNvPicPr>
            <a:picLocks noChangeAspect="1"/>
          </p:cNvPicPr>
          <p:nvPr/>
        </p:nvPicPr>
        <p:blipFill>
          <a:blip r:embed="rId6"/>
          <a:stretch>
            <a:fillRect/>
          </a:stretch>
        </p:blipFill>
        <p:spPr>
          <a:xfrm>
            <a:off x="4617720" y="4454042"/>
            <a:ext cx="292608" cy="292608"/>
          </a:xfrm>
          <a:prstGeom prst="rect">
            <a:avLst/>
          </a:prstGeom>
        </p:spPr>
      </p:pic>
      <p:sp>
        <p:nvSpPr>
          <p:cNvPr id="19" name="Text 11"/>
          <p:cNvSpPr/>
          <p:nvPr/>
        </p:nvSpPr>
        <p:spPr>
          <a:xfrm>
            <a:off x="5074920" y="4198925"/>
            <a:ext cx="6629400" cy="802843"/>
          </a:xfrm>
          <a:prstGeom prst="rect">
            <a:avLst/>
          </a:prstGeom>
          <a:noFill/>
          <a:ln/>
        </p:spPr>
        <p:txBody>
          <a:bodyPr wrap="square" lIns="0" tIns="0" rIns="0" bIns="0" rtlCol="0" anchor="ctr"/>
          <a:lstStyle/>
          <a:p>
            <a:pPr indent="0" marL="0">
              <a:lnSpc>
                <a:spcPct val="100000"/>
              </a:lnSpc>
              <a:buNone/>
            </a:pPr>
            <a:r>
              <a:rPr lang="en-US" sz="1350" dirty="0">
                <a:solidFill>
                  <a:srgbClr val="212933"/>
                </a:solidFill>
                <a:latin typeface="Calibri" pitchFamily="34" charset="0"/>
                <a:ea typeface="Calibri" pitchFamily="34" charset="-122"/>
                <a:cs typeface="Calibri" pitchFamily="34" charset="-120"/>
              </a:rPr>
              <a:t>Full auditability: every AI interaction logged with model, tokens, latency, and output</a:t>
            </a:r>
            <a:endParaRPr lang="en-US" sz="1350" dirty="0"/>
          </a:p>
        </p:txBody>
      </p:sp>
      <p:sp>
        <p:nvSpPr>
          <p:cNvPr id="20" name="Shape 12"/>
          <p:cNvSpPr/>
          <p:nvPr/>
        </p:nvSpPr>
        <p:spPr>
          <a:xfrm>
            <a:off x="4617720" y="5138928"/>
            <a:ext cx="7086600" cy="1188720"/>
          </a:xfrm>
          <a:prstGeom prst="roundRect">
            <a:avLst>
              <a:gd name="adj" fmla="val 7692"/>
            </a:avLst>
          </a:prstGeom>
          <a:solidFill>
            <a:srgbClr val="F5F7F9"/>
          </a:solidFill>
          <a:ln w="15875">
            <a:solidFill>
              <a:srgbClr val="2FA36B"/>
            </a:solidFill>
            <a:prstDash val="solid"/>
          </a:ln>
          <a:effectLst>
            <a:outerShdw sx="100000" sy="100000" kx="0" ky="0" algn="bl" rotWithShape="0" blurRad="101600" dist="38100" dir="5400000">
              <a:srgbClr val="1A2027">
                <a:alpha val="10000"/>
              </a:srgbClr>
            </a:outerShdw>
          </a:effectLst>
        </p:spPr>
        <p:txBody>
          <a:bodyPr/>
          <a:p/>
        </p:txBody>
      </p:sp>
      <p:sp>
        <p:nvSpPr>
          <p:cNvPr id="21" name="Shape 13"/>
          <p:cNvSpPr/>
          <p:nvPr/>
        </p:nvSpPr>
        <p:spPr>
          <a:xfrm>
            <a:off x="4837176" y="5440680"/>
            <a:ext cx="585216" cy="585216"/>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22" name="Image 6" descr="preencoded.png">    </p:cNvPr>
          <p:cNvPicPr>
            <a:picLocks noChangeAspect="1"/>
          </p:cNvPicPr>
          <p:nvPr/>
        </p:nvPicPr>
        <p:blipFill>
          <a:blip r:embed="rId7"/>
          <a:stretch>
            <a:fillRect/>
          </a:stretch>
        </p:blipFill>
        <p:spPr>
          <a:xfrm>
            <a:off x="4995184" y="5598688"/>
            <a:ext cx="269199" cy="269199"/>
          </a:xfrm>
          <a:prstGeom prst="rect">
            <a:avLst/>
          </a:prstGeom>
        </p:spPr>
      </p:pic>
      <p:sp>
        <p:nvSpPr>
          <p:cNvPr id="23" name="Text 14"/>
          <p:cNvSpPr/>
          <p:nvPr/>
        </p:nvSpPr>
        <p:spPr>
          <a:xfrm>
            <a:off x="5577840" y="5294376"/>
            <a:ext cx="5943600" cy="274320"/>
          </a:xfrm>
          <a:prstGeom prst="rect">
            <a:avLst/>
          </a:prstGeom>
          <a:noFill/>
          <a:ln/>
        </p:spPr>
        <p:txBody>
          <a:bodyPr wrap="square" rtlCol="0" anchor="ctr"/>
          <a:lstStyle/>
          <a:p>
            <a:pPr indent="0" marL="0">
              <a:buNone/>
            </a:pPr>
            <a:r>
              <a:rPr lang="en-US" sz="1100" b="1" spc="200" kern="0" dirty="0">
                <a:solidFill>
                  <a:srgbClr val="2FA36B"/>
                </a:solidFill>
                <a:latin typeface="Calibri" pitchFamily="34" charset="0"/>
                <a:ea typeface="Calibri" pitchFamily="34" charset="-122"/>
                <a:cs typeface="Calibri" pitchFamily="34" charset="-120"/>
              </a:rPr>
              <a:t>IN PRACTICE</a:t>
            </a:r>
            <a:endParaRPr lang="en-US" sz="1100" dirty="0"/>
          </a:p>
        </p:txBody>
      </p:sp>
      <p:sp>
        <p:nvSpPr>
          <p:cNvPr id="24" name="Text 15"/>
          <p:cNvSpPr/>
          <p:nvPr/>
        </p:nvSpPr>
        <p:spPr>
          <a:xfrm>
            <a:off x="5577840" y="5550408"/>
            <a:ext cx="5897880" cy="713232"/>
          </a:xfrm>
          <a:prstGeom prst="rect">
            <a:avLst/>
          </a:prstGeom>
          <a:noFill/>
          <a:ln/>
        </p:spPr>
        <p:txBody>
          <a:bodyPr wrap="square" lIns="0" tIns="0" rIns="0" bIns="0" rtlCol="0" anchor="ctr"/>
          <a:lstStyle/>
          <a:p>
            <a:pPr indent="0" marL="0">
              <a:lnSpc>
                <a:spcPct val="102000"/>
              </a:lnSpc>
              <a:buNone/>
            </a:pPr>
            <a:r>
              <a:rPr lang="en-US" sz="1250" i="1" dirty="0">
                <a:solidFill>
                  <a:srgbClr val="212933"/>
                </a:solidFill>
                <a:latin typeface="Calibri" pitchFamily="34" charset="0"/>
                <a:ea typeface="Calibri" pitchFamily="34" charset="-122"/>
                <a:cs typeface="Calibri" pitchFamily="34" charset="-120"/>
              </a:rPr>
              <a:t>A supervisor joins a call mid-conversation — the full transcript backfills instantly, every alert pinned to its line. Edit a rule, and the very next call obeys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74320"/>
          </a:xfrm>
          <a:prstGeom prst="rect">
            <a:avLst/>
          </a:prstGeom>
          <a:noFill/>
          <a:ln/>
        </p:spPr>
        <p:txBody>
          <a:bodyPr wrap="square" rtlCol="0" anchor="ctr"/>
          <a:lstStyle/>
          <a:p>
            <a:pPr marL="0" indent="0">
              <a:buNone/>
            </a:pPr>
            <a:r>
              <a:rPr lang="en-US" sz="1200" b="1" kern="0" spc="200" dirty="0">
                <a:solidFill>
                  <a:srgbClr val="FB4E0B"/>
                </a:solidFill>
                <a:latin typeface="Calibri" pitchFamily="34" charset="0"/>
                <a:ea typeface="Calibri" pitchFamily="34" charset="-122"/>
                <a:cs typeface="Calibri" pitchFamily="34" charset="-120"/>
              </a:rPr>
              <a:t>06  ·  GO-TO-MARKET</a:t>
            </a:r>
            <a:endParaRPr lang="en-US" sz="1200" dirty="0"/>
          </a:p>
        </p:txBody>
      </p:sp>
      <p:sp>
        <p:nvSpPr>
          <p:cNvPr id="3" name="Text 1"/>
          <p:cNvSpPr/>
          <p:nvPr/>
        </p:nvSpPr>
        <p:spPr>
          <a:xfrm>
            <a:off x="502920" y="658368"/>
            <a:ext cx="11155680" cy="640080"/>
          </a:xfrm>
          <a:prstGeom prst="rect">
            <a:avLst/>
          </a:prstGeom>
          <a:noFill/>
          <a:ln/>
        </p:spPr>
        <p:txBody>
          <a:bodyPr wrap="square" rtlCol="0" anchor="ctr"/>
          <a:lstStyle/>
          <a:p>
            <a:pPr marL="0" indent="0">
              <a:buNone/>
            </a:pPr>
            <a:r>
              <a:rPr lang="en-US" sz="2800" b="1">
                <a:solidFill>
                  <a:srgbClr val="005071"/>
                </a:solidFill>
                <a:latin typeface="Calibri Light" pitchFamily="34" charset="0"/>
                <a:ea typeface="Calibri Light" pitchFamily="34" charset="-122"/>
                <a:cs typeface="Calibri Light" pitchFamily="34" charset="-120"/>
              </a:rPr>
              <a:t>GTM Strategy</a:t>
            </a:r>
            <a:endParaRPr lang="en-US" sz="2800"/>
          </a:p>
        </p:txBody>
      </p:sp>
      <p:sp>
        <p:nvSpPr>
          <p:cNvPr id="4" name="Shape 2"/>
          <p:cNvSpPr/>
          <p:nvPr/>
        </p:nvSpPr>
        <p:spPr>
          <a:xfrm>
            <a:off x="502920" y="164592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5" name="Text 3"/>
          <p:cNvSpPr/>
          <p:nvPr/>
        </p:nvSpPr>
        <p:spPr>
          <a:xfrm>
            <a:off x="685800" y="178308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Positioning</a:t>
            </a:r>
            <a:endParaRPr lang="en-US" sz="1600"/>
          </a:p>
        </p:txBody>
      </p:sp>
      <p:sp>
        <p:nvSpPr>
          <p:cNvPr id="6" name="Text 4"/>
          <p:cNvSpPr/>
          <p:nvPr/>
        </p:nvSpPr>
        <p:spPr>
          <a:xfrm>
            <a:off x="685800" y="224028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The AI layer for regulated conversations — not a new contact centre, an add-on over the one the client already runs. EXL consults on, builds and runs systems for some of the largest enterprises in the world; this is a complete end-to-end implementation, not a concept deck, so it can be demonstrated as-is from the first meeting of a pursuit.</a:t>
            </a:r>
            <a:endParaRPr lang="en-US" sz="1300"/>
          </a:p>
        </p:txBody>
      </p:sp>
      <p:sp>
        <p:nvSpPr>
          <p:cNvPr id="7" name="Shape 5"/>
          <p:cNvSpPr/>
          <p:nvPr/>
        </p:nvSpPr>
        <p:spPr>
          <a:xfrm>
            <a:off x="6199632" y="164592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8" name="Text 6"/>
          <p:cNvSpPr/>
          <p:nvPr/>
        </p:nvSpPr>
        <p:spPr>
          <a:xfrm>
            <a:off x="6382512" y="178308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Sales &amp; channel</a:t>
            </a:r>
            <a:endParaRPr lang="en-US" sz="1600"/>
          </a:p>
        </p:txBody>
      </p:sp>
      <p:sp>
        <p:nvSpPr>
          <p:cNvPr id="9" name="Text 7"/>
          <p:cNvSpPr/>
          <p:nvPr/>
        </p:nvSpPr>
        <p:spPr>
          <a:xfrm>
            <a:off x="6382512" y="224028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Expansion first: open new lines of business with organisations whose core operation is the contact centre, use this as living proof of what AI can do for them, then implement across the rest of their operation. Lead through existing account teams and attach to renewals; the live demo is the primary sales asset.</a:t>
            </a:r>
            <a:endParaRPr lang="en-US" sz="1300"/>
          </a:p>
        </p:txBody>
      </p:sp>
      <p:sp>
        <p:nvSpPr>
          <p:cNvPr id="10" name="Shape 8"/>
          <p:cNvSpPr/>
          <p:nvPr/>
        </p:nvSpPr>
        <p:spPr>
          <a:xfrm>
            <a:off x="502920" y="397764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11" name="Text 9"/>
          <p:cNvSpPr/>
          <p:nvPr/>
        </p:nvSpPr>
        <p:spPr>
          <a:xfrm>
            <a:off x="685800" y="411480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Pricing</a:t>
            </a:r>
            <a:endParaRPr lang="en-US" sz="1600"/>
          </a:p>
        </p:txBody>
      </p:sp>
      <p:sp>
        <p:nvSpPr>
          <p:cNvPr id="12" name="Text 10"/>
          <p:cNvSpPr/>
          <p:nvPr/>
        </p:nvSpPr>
        <p:spPr>
          <a:xfrm>
            <a:off x="685800" y="457200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Per-agent-seat subscription for copilot + conversation intelligence · per-minute pricing for automated inbound handling · outcome-linked tier for QA and compliance coverage · bundled into managed-operations pricing on BPaaS deals. Per-call cost telemetry keeps margin predictable.</a:t>
            </a:r>
            <a:endParaRPr lang="en-US" sz="1300"/>
          </a:p>
        </p:txBody>
      </p:sp>
      <p:sp>
        <p:nvSpPr>
          <p:cNvPr id="13" name="Shape 11"/>
          <p:cNvSpPr/>
          <p:nvPr/>
        </p:nvSpPr>
        <p:spPr>
          <a:xfrm>
            <a:off x="6199632" y="3977640"/>
            <a:ext cx="5486400" cy="2148840"/>
          </a:xfrm>
          <a:prstGeom prst="roundRect">
            <a:avLst>
              <a:gd name="adj" fmla="val 2553"/>
            </a:avLst>
          </a:prstGeom>
          <a:solidFill>
            <a:srgbClr val="DCF3FA"/>
          </a:solidFill>
          <a:ln w="12700">
            <a:solidFill>
              <a:srgbClr val="ACB6BE"/>
            </a:solidFill>
            <a:prstDash val="solid"/>
          </a:ln>
        </p:spPr>
        <p:txBody>
          <a:bodyPr/>
          <a:lstStyle/>
          <a:p>
            <a:endParaRPr lang="en-US"/>
          </a:p>
        </p:txBody>
      </p:sp>
      <p:sp>
        <p:nvSpPr>
          <p:cNvPr id="14" name="Text 12"/>
          <p:cNvSpPr/>
          <p:nvPr/>
        </p:nvSpPr>
        <p:spPr>
          <a:xfrm>
            <a:off x="6382512" y="4114800"/>
            <a:ext cx="5120640" cy="365760"/>
          </a:xfrm>
          <a:prstGeom prst="rect">
            <a:avLst/>
          </a:prstGeom>
          <a:noFill/>
          <a:ln/>
        </p:spPr>
        <p:txBody>
          <a:bodyPr wrap="square" lIns="0" tIns="0" rIns="0" bIns="0" rtlCol="0" anchor="ctr"/>
          <a:lstStyle/>
          <a:p>
            <a:pPr marL="0" indent="0">
              <a:buNone/>
            </a:pPr>
            <a:r>
              <a:rPr lang="en-US" sz="1600" b="1">
                <a:solidFill>
                  <a:srgbClr val="005071"/>
                </a:solidFill>
                <a:latin typeface="Calibri Light" pitchFamily="34" charset="0"/>
                <a:ea typeface="Calibri Light" pitchFamily="34" charset="-122"/>
                <a:cs typeface="Calibri Light" pitchFamily="34" charset="-120"/>
              </a:rPr>
              <a:t>Launch &amp; marketing</a:t>
            </a:r>
            <a:endParaRPr lang="en-US" sz="1600"/>
          </a:p>
        </p:txBody>
      </p:sp>
      <p:sp>
        <p:nvSpPr>
          <p:cNvPr id="15" name="Text 13"/>
          <p:cNvSpPr/>
          <p:nvPr/>
        </p:nvSpPr>
        <p:spPr>
          <a:xfrm>
            <a:off x="6382512" y="4572000"/>
            <a:ext cx="5120640" cy="1371600"/>
          </a:xfrm>
          <a:prstGeom prst="rect">
            <a:avLst/>
          </a:prstGeom>
          <a:noFill/>
          <a:ln/>
        </p:spPr>
        <p:txBody>
          <a:bodyPr wrap="square" lIns="0" tIns="0" rIns="0" bIns="0" rtlCol="0" anchor="t"/>
          <a:lstStyle/>
          <a:p>
            <a:pPr marL="0" indent="0">
              <a:spcAft>
                <a:spcPts val="300"/>
              </a:spcAft>
              <a:buNone/>
            </a:pPr>
            <a:r>
              <a:rPr lang="en-US" sz="1200" i="0">
                <a:solidFill>
                  <a:srgbClr val="6C727B"/>
                </a:solidFill>
                <a:latin typeface="Calibri" pitchFamily="34" charset="0"/>
                <a:ea typeface="Calibri" pitchFamily="34" charset="-122"/>
                <a:cs typeface="Calibri" pitchFamily="34" charset="-120"/>
              </a:rPr>
              <a:t>Internal launch at the prototype showcase → reference case study from the first pilot → webinars on real-time compliance for regulated sales → thought leadership on human-in-the-loop AI → demo presence at payer and contact-centre industry events.</a:t>
            </a:r>
            <a:endParaRPr lang="en-US" sz="1300"/>
          </a:p>
        </p:txBody>
      </p:sp>
    </p:spTree>
  </p:cSld>
  <p:clrMapOvr>
    <a:masterClrMapping/>
  </p:clrMapOvr>
</p:sld>
</file>

<file path=ppt/slides/slide7_b.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612648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NEW CAPABILITY · AUTOMATED INBOUND CALL HANDLING</a:t>
            </a:r>
            <a:endParaRPr lang="en-US" sz="1150" dirty="0"/>
          </a:p>
        </p:txBody>
      </p:sp>
      <p:sp>
        <p:nvSpPr>
          <p:cNvPr id="3" name="Text 1"/>
          <p:cNvSpPr/>
          <p:nvPr/>
        </p:nvSpPr>
        <p:spPr>
          <a:xfrm>
            <a:off x="731520" y="914400"/>
            <a:ext cx="10698480" cy="658368"/>
          </a:xfrm>
          <a:prstGeom prst="rect">
            <a:avLst/>
          </a:prstGeom>
          <a:noFill/>
          <a:ln/>
        </p:spPr>
        <p:txBody>
          <a:bodyPr wrap="square" rtlCol="0" anchor="ctr"/>
          <a:lstStyle/>
          <a:p>
            <a:pPr indent="0" marL="0">
              <a:buNone/>
            </a:pPr>
            <a:r>
              <a:rPr lang="en-US" sz="3200" b="1" dirty="0">
                <a:solidFill>
                  <a:srgbClr val="212933"/>
                </a:solidFill>
                <a:latin typeface="Calibri" pitchFamily="34" charset="0"/>
                <a:ea typeface="Calibri" pitchFamily="34" charset="-122"/>
                <a:cs typeface="Calibri" pitchFamily="34" charset="-120"/>
              </a:rPr>
              <a:t>What happens on the call</a:t>
            </a:r>
            <a:endParaRPr lang="en-US" sz="3200" dirty="0"/>
          </a:p>
        </p:txBody>
      </p:sp>
      <p:sp>
        <p:nvSpPr>
          <p:cNvPr id="4" name="Text 2"/>
          <p:cNvSpPr/>
          <p:nvPr/>
        </p:nvSpPr>
        <p:spPr>
          <a:xfrm>
            <a:off x="777240" y="1572768"/>
            <a:ext cx="10607040" cy="457200"/>
          </a:xfrm>
          <a:prstGeom prst="rect">
            <a:avLst/>
          </a:prstGeom>
          <a:noFill/>
          <a:ln/>
        </p:spPr>
        <p:txBody>
          <a:bodyPr wrap="square" lIns="0" tIns="0" rIns="0" bIns="0" rtlCol="0" anchor="ctr"/>
          <a:lstStyle/>
          <a:p>
            <a:pPr indent="0" marL="0">
              <a:lnSpc>
                <a:spcPct val="102000"/>
              </a:lnSpc>
              <a:buNone/>
            </a:pPr>
            <a:r>
              <a:rPr lang="en-US" sz="1300" dirty="0">
                <a:solidFill>
                  <a:srgbClr val="5C6B7A"/>
                </a:solidFill>
                <a:latin typeface="Calibri" pitchFamily="34" charset="0"/>
                <a:ea typeface="Calibri" pitchFamily="34" charset="-122"/>
                <a:cs typeface="Calibri" pitchFamily="34" charset="-120"/>
              </a:rPr>
              <a:t>The AI answers when the agent hands it over mid-ring, when the ring times out, or when nobody is online at all. One conversation, seven steps — all of it visible to a supervising human in real time.</a:t>
            </a:r>
            <a:endParaRPr lang="en-US" sz="1300" dirty="0"/>
          </a:p>
        </p:txBody>
      </p:sp>
      <p:sp>
        <p:nvSpPr>
          <p:cNvPr id="5" name="Shape 3"/>
          <p:cNvSpPr/>
          <p:nvPr/>
        </p:nvSpPr>
        <p:spPr>
          <a:xfrm>
            <a:off x="777240" y="2121408"/>
            <a:ext cx="1409482" cy="2606040"/>
          </a:xfrm>
          <a:prstGeom prst="roundRect">
            <a:avLst>
              <a:gd name="adj" fmla="val 7136"/>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6" name="Text 4"/>
          <p:cNvSpPr/>
          <p:nvPr/>
        </p:nvSpPr>
        <p:spPr>
          <a:xfrm>
            <a:off x="850392" y="2194560"/>
            <a:ext cx="365760" cy="320040"/>
          </a:xfrm>
          <a:prstGeom prst="rect">
            <a:avLst/>
          </a:prstGeom>
          <a:noFill/>
          <a:ln/>
        </p:spPr>
        <p:txBody>
          <a:bodyPr wrap="square" rtlCol="0" anchor="ctr"/>
          <a:lstStyle/>
          <a:p>
            <a:pPr indent="0" marL="0">
              <a:buNone/>
            </a:pPr>
            <a:r>
              <a:rPr lang="en-US" sz="1400" b="1" dirty="0">
                <a:solidFill>
                  <a:srgbClr val="E0E5EA"/>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1180229" y="2560320"/>
            <a:ext cx="603504" cy="603504"/>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331105" y="2711196"/>
            <a:ext cx="301752" cy="301752"/>
          </a:xfrm>
          <a:prstGeom prst="rect">
            <a:avLst/>
          </a:prstGeom>
        </p:spPr>
      </p:pic>
      <p:sp>
        <p:nvSpPr>
          <p:cNvPr id="9" name="Text 6"/>
          <p:cNvSpPr/>
          <p:nvPr/>
        </p:nvSpPr>
        <p:spPr>
          <a:xfrm>
            <a:off x="813816" y="3291840"/>
            <a:ext cx="1336330" cy="347472"/>
          </a:xfrm>
          <a:prstGeom prst="rect">
            <a:avLst/>
          </a:prstGeom>
          <a:noFill/>
          <a:ln/>
        </p:spPr>
        <p:txBody>
          <a:bodyPr wrap="square" rtlCol="0" anchor="ctr"/>
          <a:lstStyle/>
          <a:p>
            <a:pPr algn="ctr" indent="0" marL="0">
              <a:buNone/>
            </a:pPr>
            <a:r>
              <a:rPr lang="en-US" sz="1250" b="1" dirty="0">
                <a:solidFill>
                  <a:srgbClr val="212933"/>
                </a:solidFill>
                <a:latin typeface="Calibri" pitchFamily="34" charset="0"/>
                <a:ea typeface="Calibri" pitchFamily="34" charset="-122"/>
                <a:cs typeface="Calibri" pitchFamily="34" charset="-120"/>
              </a:rPr>
              <a:t>Discloses</a:t>
            </a:r>
            <a:endParaRPr lang="en-US" sz="1250" dirty="0"/>
          </a:p>
        </p:txBody>
      </p:sp>
      <p:sp>
        <p:nvSpPr>
          <p:cNvPr id="10" name="Text 7"/>
          <p:cNvSpPr/>
          <p:nvPr/>
        </p:nvSpPr>
        <p:spPr>
          <a:xfrm>
            <a:off x="859536" y="3657600"/>
            <a:ext cx="1244890" cy="960120"/>
          </a:xfrm>
          <a:prstGeom prst="rect">
            <a:avLst/>
          </a:prstGeom>
          <a:noFill/>
          <a:ln/>
        </p:spPr>
        <p:txBody>
          <a:bodyPr wrap="square" rtlCol="0" anchor="ctr"/>
          <a:lstStyle/>
          <a:p>
            <a:pPr algn="ctr" indent="0" marL="0">
              <a:lnSpc>
                <a:spcPct val="100000"/>
              </a:lnSpc>
              <a:buNone/>
            </a:pPr>
            <a:r>
              <a:rPr lang="en-US" sz="900" dirty="0">
                <a:solidFill>
                  <a:srgbClr val="5C6B7A"/>
                </a:solidFill>
                <a:latin typeface="Calibri" pitchFamily="34" charset="0"/>
                <a:ea typeface="Calibri" pitchFamily="34" charset="-122"/>
                <a:cs typeface="Calibri" pitchFamily="34" charset="-120"/>
              </a:rPr>
              <a:t>opens by stating it's automated</a:t>
            </a:r>
            <a:endParaRPr lang="en-US" sz="900" dirty="0"/>
          </a:p>
        </p:txBody>
      </p:sp>
      <p:sp>
        <p:nvSpPr>
          <p:cNvPr id="11" name="Text 8"/>
          <p:cNvSpPr/>
          <p:nvPr/>
        </p:nvSpPr>
        <p:spPr>
          <a:xfrm>
            <a:off x="2159290" y="2926080"/>
            <a:ext cx="182880" cy="822960"/>
          </a:xfrm>
          <a:prstGeom prst="rect">
            <a:avLst/>
          </a:prstGeom>
          <a:noFill/>
          <a:ln/>
        </p:spPr>
        <p:txBody>
          <a:bodyPr wrap="square" lIns="0" tIns="0" rIns="0" bIns="0" rtlCol="0" anchor="ctr"/>
          <a:lstStyle/>
          <a:p>
            <a:pPr algn="ctr" indent="0" marL="0">
              <a:buNone/>
            </a:pPr>
            <a:r>
              <a:rPr lang="en-US" sz="1600" b="1" dirty="0">
                <a:solidFill>
                  <a:srgbClr val="3C4857"/>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2314738" y="2121408"/>
            <a:ext cx="1409482" cy="2606040"/>
          </a:xfrm>
          <a:prstGeom prst="roundRect">
            <a:avLst>
              <a:gd name="adj" fmla="val 7136"/>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13" name="Text 10"/>
          <p:cNvSpPr/>
          <p:nvPr/>
        </p:nvSpPr>
        <p:spPr>
          <a:xfrm>
            <a:off x="2387890" y="2194560"/>
            <a:ext cx="365760" cy="320040"/>
          </a:xfrm>
          <a:prstGeom prst="rect">
            <a:avLst/>
          </a:prstGeom>
          <a:noFill/>
          <a:ln/>
        </p:spPr>
        <p:txBody>
          <a:bodyPr wrap="square" rtlCol="0" anchor="ctr"/>
          <a:lstStyle/>
          <a:p>
            <a:pPr indent="0" marL="0">
              <a:buNone/>
            </a:pPr>
            <a:r>
              <a:rPr lang="en-US" sz="1400" b="1" dirty="0">
                <a:solidFill>
                  <a:srgbClr val="E0E5EA"/>
                </a:solidFill>
                <a:latin typeface="Calibri" pitchFamily="34" charset="0"/>
                <a:ea typeface="Calibri" pitchFamily="34" charset="-122"/>
                <a:cs typeface="Calibri" pitchFamily="34" charset="-120"/>
              </a:rPr>
              <a:t>2</a:t>
            </a:r>
            <a:endParaRPr lang="en-US" sz="1400" dirty="0"/>
          </a:p>
        </p:txBody>
      </p:sp>
      <p:sp>
        <p:nvSpPr>
          <p:cNvPr id="14" name="Shape 11"/>
          <p:cNvSpPr/>
          <p:nvPr/>
        </p:nvSpPr>
        <p:spPr>
          <a:xfrm>
            <a:off x="2717727" y="2560320"/>
            <a:ext cx="603504" cy="603504"/>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5" name="Image 1" descr="preencoded.png">    </p:cNvPr>
          <p:cNvPicPr>
            <a:picLocks noChangeAspect="1"/>
          </p:cNvPicPr>
          <p:nvPr/>
        </p:nvPicPr>
        <p:blipFill>
          <a:blip r:embed="rId2"/>
          <a:stretch>
            <a:fillRect/>
          </a:stretch>
        </p:blipFill>
        <p:spPr>
          <a:xfrm>
            <a:off x="2868603" y="2711196"/>
            <a:ext cx="301752" cy="301752"/>
          </a:xfrm>
          <a:prstGeom prst="rect">
            <a:avLst/>
          </a:prstGeom>
        </p:spPr>
      </p:pic>
      <p:sp>
        <p:nvSpPr>
          <p:cNvPr id="16" name="Text 12"/>
          <p:cNvSpPr/>
          <p:nvPr/>
        </p:nvSpPr>
        <p:spPr>
          <a:xfrm>
            <a:off x="2351314" y="3291840"/>
            <a:ext cx="1336330" cy="347472"/>
          </a:xfrm>
          <a:prstGeom prst="rect">
            <a:avLst/>
          </a:prstGeom>
          <a:noFill/>
          <a:ln/>
        </p:spPr>
        <p:txBody>
          <a:bodyPr wrap="square" rtlCol="0" anchor="ctr"/>
          <a:lstStyle/>
          <a:p>
            <a:pPr algn="ctr" indent="0" marL="0">
              <a:buNone/>
            </a:pPr>
            <a:r>
              <a:rPr lang="en-US" sz="1250" b="1" dirty="0">
                <a:solidFill>
                  <a:srgbClr val="212933"/>
                </a:solidFill>
                <a:latin typeface="Calibri" pitchFamily="34" charset="0"/>
                <a:ea typeface="Calibri" pitchFamily="34" charset="-122"/>
                <a:cs typeface="Calibri" pitchFamily="34" charset="-120"/>
              </a:rPr>
              <a:t>Recognises</a:t>
            </a:r>
            <a:endParaRPr lang="en-US" sz="1250" dirty="0"/>
          </a:p>
        </p:txBody>
      </p:sp>
      <p:sp>
        <p:nvSpPr>
          <p:cNvPr id="17" name="Text 13"/>
          <p:cNvSpPr/>
          <p:nvPr/>
        </p:nvSpPr>
        <p:spPr>
          <a:xfrm>
            <a:off x="2397034" y="3657600"/>
            <a:ext cx="1244890" cy="960120"/>
          </a:xfrm>
          <a:prstGeom prst="rect">
            <a:avLst/>
          </a:prstGeom>
          <a:noFill/>
          <a:ln/>
        </p:spPr>
        <p:txBody>
          <a:bodyPr wrap="square" rtlCol="0" anchor="ctr"/>
          <a:lstStyle/>
          <a:p>
            <a:pPr algn="ctr" indent="0" marL="0">
              <a:lnSpc>
                <a:spcPct val="100000"/>
              </a:lnSpc>
              <a:buNone/>
            </a:pPr>
            <a:r>
              <a:rPr lang="en-US" sz="900" dirty="0">
                <a:solidFill>
                  <a:srgbClr val="5C6B7A"/>
                </a:solidFill>
                <a:latin typeface="Calibri" pitchFamily="34" charset="0"/>
                <a:ea typeface="Calibri" pitchFamily="34" charset="-122"/>
                <a:cs typeface="Calibri" pitchFamily="34" charset="-120"/>
              </a:rPr>
              <a:t>returning callers by number — confirms, doesn't re-interrogate</a:t>
            </a:r>
            <a:endParaRPr lang="en-US" sz="900" dirty="0"/>
          </a:p>
        </p:txBody>
      </p:sp>
      <p:sp>
        <p:nvSpPr>
          <p:cNvPr id="18" name="Text 14"/>
          <p:cNvSpPr/>
          <p:nvPr/>
        </p:nvSpPr>
        <p:spPr>
          <a:xfrm>
            <a:off x="3696789" y="2926080"/>
            <a:ext cx="182880" cy="822960"/>
          </a:xfrm>
          <a:prstGeom prst="rect">
            <a:avLst/>
          </a:prstGeom>
          <a:noFill/>
          <a:ln/>
        </p:spPr>
        <p:txBody>
          <a:bodyPr wrap="square" lIns="0" tIns="0" rIns="0" bIns="0" rtlCol="0" anchor="ctr"/>
          <a:lstStyle/>
          <a:p>
            <a:pPr algn="ctr" indent="0" marL="0">
              <a:buNone/>
            </a:pPr>
            <a:r>
              <a:rPr lang="en-US" sz="1600" b="1" dirty="0">
                <a:solidFill>
                  <a:srgbClr val="3C4857"/>
                </a:solidFill>
                <a:latin typeface="Calibri" pitchFamily="34" charset="0"/>
                <a:ea typeface="Calibri" pitchFamily="34" charset="-122"/>
                <a:cs typeface="Calibri" pitchFamily="34" charset="-120"/>
              </a:rPr>
              <a:t>›</a:t>
            </a:r>
            <a:endParaRPr lang="en-US" sz="1600" dirty="0"/>
          </a:p>
        </p:txBody>
      </p:sp>
      <p:sp>
        <p:nvSpPr>
          <p:cNvPr id="19" name="Shape 15"/>
          <p:cNvSpPr/>
          <p:nvPr/>
        </p:nvSpPr>
        <p:spPr>
          <a:xfrm>
            <a:off x="3852237" y="2121408"/>
            <a:ext cx="1409482" cy="2606040"/>
          </a:xfrm>
          <a:prstGeom prst="roundRect">
            <a:avLst>
              <a:gd name="adj" fmla="val 7136"/>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0" name="Text 16"/>
          <p:cNvSpPr/>
          <p:nvPr/>
        </p:nvSpPr>
        <p:spPr>
          <a:xfrm>
            <a:off x="3925389" y="2194560"/>
            <a:ext cx="365760" cy="320040"/>
          </a:xfrm>
          <a:prstGeom prst="rect">
            <a:avLst/>
          </a:prstGeom>
          <a:noFill/>
          <a:ln/>
        </p:spPr>
        <p:txBody>
          <a:bodyPr wrap="square" rtlCol="0" anchor="ctr"/>
          <a:lstStyle/>
          <a:p>
            <a:pPr indent="0" marL="0">
              <a:buNone/>
            </a:pPr>
            <a:r>
              <a:rPr lang="en-US" sz="1400" b="1" dirty="0">
                <a:solidFill>
                  <a:srgbClr val="E0E5EA"/>
                </a:solidFill>
                <a:latin typeface="Calibri" pitchFamily="34" charset="0"/>
                <a:ea typeface="Calibri" pitchFamily="34" charset="-122"/>
                <a:cs typeface="Calibri" pitchFamily="34" charset="-120"/>
              </a:rPr>
              <a:t>3</a:t>
            </a:r>
            <a:endParaRPr lang="en-US" sz="1400" dirty="0"/>
          </a:p>
        </p:txBody>
      </p:sp>
      <p:sp>
        <p:nvSpPr>
          <p:cNvPr id="21" name="Shape 17"/>
          <p:cNvSpPr/>
          <p:nvPr/>
        </p:nvSpPr>
        <p:spPr>
          <a:xfrm>
            <a:off x="4255226" y="2560320"/>
            <a:ext cx="603504" cy="603504"/>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22" name="Image 2" descr="preencoded.png">    </p:cNvPr>
          <p:cNvPicPr>
            <a:picLocks noChangeAspect="1"/>
          </p:cNvPicPr>
          <p:nvPr/>
        </p:nvPicPr>
        <p:blipFill>
          <a:blip r:embed="rId3"/>
          <a:stretch>
            <a:fillRect/>
          </a:stretch>
        </p:blipFill>
        <p:spPr>
          <a:xfrm>
            <a:off x="4406102" y="2711196"/>
            <a:ext cx="301752" cy="301752"/>
          </a:xfrm>
          <a:prstGeom prst="rect">
            <a:avLst/>
          </a:prstGeom>
        </p:spPr>
      </p:pic>
      <p:sp>
        <p:nvSpPr>
          <p:cNvPr id="23" name="Text 18"/>
          <p:cNvSpPr/>
          <p:nvPr/>
        </p:nvSpPr>
        <p:spPr>
          <a:xfrm>
            <a:off x="3888813" y="3291840"/>
            <a:ext cx="1336330" cy="347472"/>
          </a:xfrm>
          <a:prstGeom prst="rect">
            <a:avLst/>
          </a:prstGeom>
          <a:noFill/>
          <a:ln/>
        </p:spPr>
        <p:txBody>
          <a:bodyPr wrap="square" rtlCol="0" anchor="ctr"/>
          <a:lstStyle/>
          <a:p>
            <a:pPr algn="ctr" indent="0" marL="0">
              <a:buNone/>
            </a:pPr>
            <a:r>
              <a:rPr lang="en-US" sz="1250" b="1" dirty="0">
                <a:solidFill>
                  <a:srgbClr val="212933"/>
                </a:solidFill>
                <a:latin typeface="Calibri" pitchFamily="34" charset="0"/>
                <a:ea typeface="Calibri" pitchFamily="34" charset="-122"/>
                <a:cs typeface="Calibri" pitchFamily="34" charset="-120"/>
              </a:rPr>
              <a:t>Converses</a:t>
            </a:r>
            <a:endParaRPr lang="en-US" sz="1250" dirty="0"/>
          </a:p>
        </p:txBody>
      </p:sp>
      <p:sp>
        <p:nvSpPr>
          <p:cNvPr id="24" name="Text 19"/>
          <p:cNvSpPr/>
          <p:nvPr/>
        </p:nvSpPr>
        <p:spPr>
          <a:xfrm>
            <a:off x="3934533" y="3657600"/>
            <a:ext cx="1244890" cy="960120"/>
          </a:xfrm>
          <a:prstGeom prst="rect">
            <a:avLst/>
          </a:prstGeom>
          <a:noFill/>
          <a:ln/>
        </p:spPr>
        <p:txBody>
          <a:bodyPr wrap="square" rtlCol="0" anchor="ctr"/>
          <a:lstStyle/>
          <a:p>
            <a:pPr algn="ctr" indent="0" marL="0">
              <a:lnSpc>
                <a:spcPct val="100000"/>
              </a:lnSpc>
              <a:buNone/>
            </a:pPr>
            <a:r>
              <a:rPr lang="en-US" sz="900" dirty="0">
                <a:solidFill>
                  <a:srgbClr val="5C6B7A"/>
                </a:solidFill>
                <a:latin typeface="Calibri" pitchFamily="34" charset="0"/>
                <a:ea typeface="Calibri" pitchFamily="34" charset="-122"/>
                <a:cs typeface="Calibri" pitchFamily="34" charset="-120"/>
              </a:rPr>
              <a:t>conducts the intake naturally, not as a form read aloud</a:t>
            </a:r>
            <a:endParaRPr lang="en-US" sz="900" dirty="0"/>
          </a:p>
        </p:txBody>
      </p:sp>
      <p:sp>
        <p:nvSpPr>
          <p:cNvPr id="25" name="Text 20"/>
          <p:cNvSpPr/>
          <p:nvPr/>
        </p:nvSpPr>
        <p:spPr>
          <a:xfrm>
            <a:off x="5234287" y="2926080"/>
            <a:ext cx="182880" cy="822960"/>
          </a:xfrm>
          <a:prstGeom prst="rect">
            <a:avLst/>
          </a:prstGeom>
          <a:noFill/>
          <a:ln/>
        </p:spPr>
        <p:txBody>
          <a:bodyPr wrap="square" lIns="0" tIns="0" rIns="0" bIns="0" rtlCol="0" anchor="ctr"/>
          <a:lstStyle/>
          <a:p>
            <a:pPr algn="ctr" indent="0" marL="0">
              <a:buNone/>
            </a:pPr>
            <a:r>
              <a:rPr lang="en-US" sz="1600" b="1" dirty="0">
                <a:solidFill>
                  <a:srgbClr val="3C4857"/>
                </a:solidFill>
                <a:latin typeface="Calibri" pitchFamily="34" charset="0"/>
                <a:ea typeface="Calibri" pitchFamily="34" charset="-122"/>
                <a:cs typeface="Calibri" pitchFamily="34" charset="-120"/>
              </a:rPr>
              <a:t>›</a:t>
            </a:r>
            <a:endParaRPr lang="en-US" sz="1600" dirty="0"/>
          </a:p>
        </p:txBody>
      </p:sp>
      <p:sp>
        <p:nvSpPr>
          <p:cNvPr id="26" name="Shape 21"/>
          <p:cNvSpPr/>
          <p:nvPr/>
        </p:nvSpPr>
        <p:spPr>
          <a:xfrm>
            <a:off x="5389735" y="2121408"/>
            <a:ext cx="1409482" cy="2606040"/>
          </a:xfrm>
          <a:prstGeom prst="roundRect">
            <a:avLst>
              <a:gd name="adj" fmla="val 7136"/>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7" name="Text 22"/>
          <p:cNvSpPr/>
          <p:nvPr/>
        </p:nvSpPr>
        <p:spPr>
          <a:xfrm>
            <a:off x="5462887" y="2194560"/>
            <a:ext cx="365760" cy="320040"/>
          </a:xfrm>
          <a:prstGeom prst="rect">
            <a:avLst/>
          </a:prstGeom>
          <a:noFill/>
          <a:ln/>
        </p:spPr>
        <p:txBody>
          <a:bodyPr wrap="square" rtlCol="0" anchor="ctr"/>
          <a:lstStyle/>
          <a:p>
            <a:pPr indent="0" marL="0">
              <a:buNone/>
            </a:pPr>
            <a:r>
              <a:rPr lang="en-US" sz="1400" b="1" dirty="0">
                <a:solidFill>
                  <a:srgbClr val="E0E5EA"/>
                </a:solidFill>
                <a:latin typeface="Calibri" pitchFamily="34" charset="0"/>
                <a:ea typeface="Calibri" pitchFamily="34" charset="-122"/>
                <a:cs typeface="Calibri" pitchFamily="34" charset="-120"/>
              </a:rPr>
              <a:t>4</a:t>
            </a:r>
            <a:endParaRPr lang="en-US" sz="1400" dirty="0"/>
          </a:p>
        </p:txBody>
      </p:sp>
      <p:sp>
        <p:nvSpPr>
          <p:cNvPr id="28" name="Shape 23"/>
          <p:cNvSpPr/>
          <p:nvPr/>
        </p:nvSpPr>
        <p:spPr>
          <a:xfrm>
            <a:off x="5792724" y="2560320"/>
            <a:ext cx="603504" cy="603504"/>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29" name="Image 3" descr="preencoded.png">    </p:cNvPr>
          <p:cNvPicPr>
            <a:picLocks noChangeAspect="1"/>
          </p:cNvPicPr>
          <p:nvPr/>
        </p:nvPicPr>
        <p:blipFill>
          <a:blip r:embed="rId4"/>
          <a:stretch>
            <a:fillRect/>
          </a:stretch>
        </p:blipFill>
        <p:spPr>
          <a:xfrm>
            <a:off x="5943600" y="2711196"/>
            <a:ext cx="301752" cy="301752"/>
          </a:xfrm>
          <a:prstGeom prst="rect">
            <a:avLst/>
          </a:prstGeom>
        </p:spPr>
      </p:pic>
      <p:sp>
        <p:nvSpPr>
          <p:cNvPr id="30" name="Text 24"/>
          <p:cNvSpPr/>
          <p:nvPr/>
        </p:nvSpPr>
        <p:spPr>
          <a:xfrm>
            <a:off x="5426311" y="3291840"/>
            <a:ext cx="1336330" cy="347472"/>
          </a:xfrm>
          <a:prstGeom prst="rect">
            <a:avLst/>
          </a:prstGeom>
          <a:noFill/>
          <a:ln/>
        </p:spPr>
        <p:txBody>
          <a:bodyPr wrap="square" rtlCol="0" anchor="ctr"/>
          <a:lstStyle/>
          <a:p>
            <a:pPr algn="ctr" indent="0" marL="0">
              <a:buNone/>
            </a:pPr>
            <a:r>
              <a:rPr lang="en-US" sz="1250" b="1" dirty="0">
                <a:solidFill>
                  <a:srgbClr val="212933"/>
                </a:solidFill>
                <a:latin typeface="Calibri" pitchFamily="34" charset="0"/>
                <a:ea typeface="Calibri" pitchFamily="34" charset="-122"/>
                <a:cs typeface="Calibri" pitchFamily="34" charset="-120"/>
              </a:rPr>
              <a:t>Looks up</a:t>
            </a:r>
            <a:endParaRPr lang="en-US" sz="1250" dirty="0"/>
          </a:p>
        </p:txBody>
      </p:sp>
      <p:sp>
        <p:nvSpPr>
          <p:cNvPr id="31" name="Text 25"/>
          <p:cNvSpPr/>
          <p:nvPr/>
        </p:nvSpPr>
        <p:spPr>
          <a:xfrm>
            <a:off x="5472031" y="3657600"/>
            <a:ext cx="1244890" cy="960120"/>
          </a:xfrm>
          <a:prstGeom prst="rect">
            <a:avLst/>
          </a:prstGeom>
          <a:noFill/>
          <a:ln/>
        </p:spPr>
        <p:txBody>
          <a:bodyPr wrap="square" rtlCol="0" anchor="ctr"/>
          <a:lstStyle/>
          <a:p>
            <a:pPr algn="ctr" indent="0" marL="0">
              <a:lnSpc>
                <a:spcPct val="100000"/>
              </a:lnSpc>
              <a:buNone/>
            </a:pPr>
            <a:r>
              <a:rPr lang="en-US" sz="900" dirty="0">
                <a:solidFill>
                  <a:srgbClr val="5C6B7A"/>
                </a:solidFill>
                <a:latin typeface="Calibri" pitchFamily="34" charset="0"/>
                <a:ea typeface="Calibri" pitchFamily="34" charset="-122"/>
                <a:cs typeface="Calibri" pitchFamily="34" charset="-120"/>
              </a:rPr>
              <a:t>live availability, locations &amp; eligibility from real systems</a:t>
            </a:r>
            <a:endParaRPr lang="en-US" sz="900" dirty="0"/>
          </a:p>
        </p:txBody>
      </p:sp>
      <p:sp>
        <p:nvSpPr>
          <p:cNvPr id="32" name="Text 26"/>
          <p:cNvSpPr/>
          <p:nvPr/>
        </p:nvSpPr>
        <p:spPr>
          <a:xfrm>
            <a:off x="6771785" y="2926080"/>
            <a:ext cx="182880" cy="822960"/>
          </a:xfrm>
          <a:prstGeom prst="rect">
            <a:avLst/>
          </a:prstGeom>
          <a:noFill/>
          <a:ln/>
        </p:spPr>
        <p:txBody>
          <a:bodyPr wrap="square" lIns="0" tIns="0" rIns="0" bIns="0" rtlCol="0" anchor="ctr"/>
          <a:lstStyle/>
          <a:p>
            <a:pPr algn="ctr" indent="0" marL="0">
              <a:buNone/>
            </a:pPr>
            <a:r>
              <a:rPr lang="en-US" sz="1600" b="1" dirty="0">
                <a:solidFill>
                  <a:srgbClr val="3C4857"/>
                </a:solidFill>
                <a:latin typeface="Calibri" pitchFamily="34" charset="0"/>
                <a:ea typeface="Calibri" pitchFamily="34" charset="-122"/>
                <a:cs typeface="Calibri" pitchFamily="34" charset="-120"/>
              </a:rPr>
              <a:t>›</a:t>
            </a:r>
            <a:endParaRPr lang="en-US" sz="1600" dirty="0"/>
          </a:p>
        </p:txBody>
      </p:sp>
      <p:sp>
        <p:nvSpPr>
          <p:cNvPr id="33" name="Shape 27"/>
          <p:cNvSpPr/>
          <p:nvPr/>
        </p:nvSpPr>
        <p:spPr>
          <a:xfrm>
            <a:off x="6927233" y="2121408"/>
            <a:ext cx="1409482" cy="2606040"/>
          </a:xfrm>
          <a:prstGeom prst="roundRect">
            <a:avLst>
              <a:gd name="adj" fmla="val 7136"/>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34" name="Text 28"/>
          <p:cNvSpPr/>
          <p:nvPr/>
        </p:nvSpPr>
        <p:spPr>
          <a:xfrm>
            <a:off x="7000385" y="2194560"/>
            <a:ext cx="365760" cy="320040"/>
          </a:xfrm>
          <a:prstGeom prst="rect">
            <a:avLst/>
          </a:prstGeom>
          <a:noFill/>
          <a:ln/>
        </p:spPr>
        <p:txBody>
          <a:bodyPr wrap="square" rtlCol="0" anchor="ctr"/>
          <a:lstStyle/>
          <a:p>
            <a:pPr indent="0" marL="0">
              <a:buNone/>
            </a:pPr>
            <a:r>
              <a:rPr lang="en-US" sz="1400" b="1" dirty="0">
                <a:solidFill>
                  <a:srgbClr val="E0E5EA"/>
                </a:solidFill>
                <a:latin typeface="Calibri" pitchFamily="34" charset="0"/>
                <a:ea typeface="Calibri" pitchFamily="34" charset="-122"/>
                <a:cs typeface="Calibri" pitchFamily="34" charset="-120"/>
              </a:rPr>
              <a:t>5</a:t>
            </a:r>
            <a:endParaRPr lang="en-US" sz="1400" dirty="0"/>
          </a:p>
        </p:txBody>
      </p:sp>
      <p:sp>
        <p:nvSpPr>
          <p:cNvPr id="35" name="Shape 29"/>
          <p:cNvSpPr/>
          <p:nvPr/>
        </p:nvSpPr>
        <p:spPr>
          <a:xfrm>
            <a:off x="7330222" y="2560320"/>
            <a:ext cx="603504" cy="603504"/>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36" name="Image 4" descr="preencoded.png">    </p:cNvPr>
          <p:cNvPicPr>
            <a:picLocks noChangeAspect="1"/>
          </p:cNvPicPr>
          <p:nvPr/>
        </p:nvPicPr>
        <p:blipFill>
          <a:blip r:embed="rId5"/>
          <a:stretch>
            <a:fillRect/>
          </a:stretch>
        </p:blipFill>
        <p:spPr>
          <a:xfrm>
            <a:off x="7481098" y="2711196"/>
            <a:ext cx="301752" cy="301752"/>
          </a:xfrm>
          <a:prstGeom prst="rect">
            <a:avLst/>
          </a:prstGeom>
        </p:spPr>
      </p:pic>
      <p:sp>
        <p:nvSpPr>
          <p:cNvPr id="37" name="Text 30"/>
          <p:cNvSpPr/>
          <p:nvPr/>
        </p:nvSpPr>
        <p:spPr>
          <a:xfrm>
            <a:off x="6963809" y="3291840"/>
            <a:ext cx="1336330" cy="347472"/>
          </a:xfrm>
          <a:prstGeom prst="rect">
            <a:avLst/>
          </a:prstGeom>
          <a:noFill/>
          <a:ln/>
        </p:spPr>
        <p:txBody>
          <a:bodyPr wrap="square" rtlCol="0" anchor="ctr"/>
          <a:lstStyle/>
          <a:p>
            <a:pPr algn="ctr" indent="0" marL="0">
              <a:buNone/>
            </a:pPr>
            <a:r>
              <a:rPr lang="en-US" sz="1250" b="1" dirty="0">
                <a:solidFill>
                  <a:srgbClr val="212933"/>
                </a:solidFill>
                <a:latin typeface="Calibri" pitchFamily="34" charset="0"/>
                <a:ea typeface="Calibri" pitchFamily="34" charset="-122"/>
                <a:cs typeface="Calibri" pitchFamily="34" charset="-120"/>
              </a:rPr>
              <a:t>Creates</a:t>
            </a:r>
            <a:endParaRPr lang="en-US" sz="1250" dirty="0"/>
          </a:p>
        </p:txBody>
      </p:sp>
      <p:sp>
        <p:nvSpPr>
          <p:cNvPr id="38" name="Text 31"/>
          <p:cNvSpPr/>
          <p:nvPr/>
        </p:nvSpPr>
        <p:spPr>
          <a:xfrm>
            <a:off x="7009529" y="3657600"/>
            <a:ext cx="1244890" cy="960120"/>
          </a:xfrm>
          <a:prstGeom prst="rect">
            <a:avLst/>
          </a:prstGeom>
          <a:noFill/>
          <a:ln/>
        </p:spPr>
        <p:txBody>
          <a:bodyPr wrap="square" rtlCol="0" anchor="ctr"/>
          <a:lstStyle/>
          <a:p>
            <a:pPr algn="ctr" indent="0" marL="0">
              <a:lnSpc>
                <a:spcPct val="100000"/>
              </a:lnSpc>
              <a:buNone/>
            </a:pPr>
            <a:r>
              <a:rPr lang="en-US" sz="900" dirty="0">
                <a:solidFill>
                  <a:srgbClr val="5C6B7A"/>
                </a:solidFill>
                <a:latin typeface="Calibri" pitchFamily="34" charset="0"/>
                <a:ea typeface="Calibri" pitchFamily="34" charset="-122"/>
                <a:cs typeface="Calibri" pitchFamily="34" charset="-120"/>
              </a:rPr>
              <a:t>the customer record — saved mid-call, not after</a:t>
            </a:r>
            <a:endParaRPr lang="en-US" sz="900" dirty="0"/>
          </a:p>
        </p:txBody>
      </p:sp>
      <p:sp>
        <p:nvSpPr>
          <p:cNvPr id="39" name="Text 32"/>
          <p:cNvSpPr/>
          <p:nvPr/>
        </p:nvSpPr>
        <p:spPr>
          <a:xfrm>
            <a:off x="8309283" y="2926080"/>
            <a:ext cx="182880" cy="822960"/>
          </a:xfrm>
          <a:prstGeom prst="rect">
            <a:avLst/>
          </a:prstGeom>
          <a:noFill/>
          <a:ln/>
        </p:spPr>
        <p:txBody>
          <a:bodyPr wrap="square" lIns="0" tIns="0" rIns="0" bIns="0" rtlCol="0" anchor="ctr"/>
          <a:lstStyle/>
          <a:p>
            <a:pPr algn="ctr" indent="0" marL="0">
              <a:buNone/>
            </a:pPr>
            <a:r>
              <a:rPr lang="en-US" sz="1600" b="1" dirty="0">
                <a:solidFill>
                  <a:srgbClr val="3C4857"/>
                </a:solidFill>
                <a:latin typeface="Calibri" pitchFamily="34" charset="0"/>
                <a:ea typeface="Calibri" pitchFamily="34" charset="-122"/>
                <a:cs typeface="Calibri" pitchFamily="34" charset="-120"/>
              </a:rPr>
              <a:t>›</a:t>
            </a:r>
            <a:endParaRPr lang="en-US" sz="1600" dirty="0"/>
          </a:p>
        </p:txBody>
      </p:sp>
      <p:sp>
        <p:nvSpPr>
          <p:cNvPr id="40" name="Shape 33"/>
          <p:cNvSpPr/>
          <p:nvPr/>
        </p:nvSpPr>
        <p:spPr>
          <a:xfrm>
            <a:off x="8464731" y="2121408"/>
            <a:ext cx="1409482" cy="2606040"/>
          </a:xfrm>
          <a:prstGeom prst="roundRect">
            <a:avLst>
              <a:gd name="adj" fmla="val 7136"/>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41" name="Text 34"/>
          <p:cNvSpPr/>
          <p:nvPr/>
        </p:nvSpPr>
        <p:spPr>
          <a:xfrm>
            <a:off x="8537883" y="2194560"/>
            <a:ext cx="365760" cy="320040"/>
          </a:xfrm>
          <a:prstGeom prst="rect">
            <a:avLst/>
          </a:prstGeom>
          <a:noFill/>
          <a:ln/>
        </p:spPr>
        <p:txBody>
          <a:bodyPr wrap="square" rtlCol="0" anchor="ctr"/>
          <a:lstStyle/>
          <a:p>
            <a:pPr indent="0" marL="0">
              <a:buNone/>
            </a:pPr>
            <a:r>
              <a:rPr lang="en-US" sz="1400" b="1" dirty="0">
                <a:solidFill>
                  <a:srgbClr val="E0E5EA"/>
                </a:solidFill>
                <a:latin typeface="Calibri" pitchFamily="34" charset="0"/>
                <a:ea typeface="Calibri" pitchFamily="34" charset="-122"/>
                <a:cs typeface="Calibri" pitchFamily="34" charset="-120"/>
              </a:rPr>
              <a:t>6</a:t>
            </a:r>
            <a:endParaRPr lang="en-US" sz="1400" dirty="0"/>
          </a:p>
        </p:txBody>
      </p:sp>
      <p:sp>
        <p:nvSpPr>
          <p:cNvPr id="42" name="Shape 35"/>
          <p:cNvSpPr/>
          <p:nvPr/>
        </p:nvSpPr>
        <p:spPr>
          <a:xfrm>
            <a:off x="8867721" y="2560320"/>
            <a:ext cx="603504" cy="603504"/>
          </a:xfrm>
          <a:prstGeom prst="ellipse">
            <a:avLst/>
          </a:prstGeom>
          <a:solidFill>
            <a:srgbClr val="F2A541"/>
          </a:solidFill>
          <a:ln/>
          <a:effectLst>
            <a:outerShdw sx="100000" sy="100000" kx="0" ky="0" algn="bl" rotWithShape="0" blurRad="127000" dist="38100" dir="5400000">
              <a:srgbClr val="1A2027">
                <a:alpha val="22000"/>
              </a:srgbClr>
            </a:outerShdw>
          </a:effectLst>
        </p:spPr>
        <p:txBody>
          <a:bodyPr/>
          <a:p/>
        </p:txBody>
      </p:sp>
      <p:pic>
        <p:nvPicPr>
          <p:cNvPr id="43" name="Image 5" descr="preencoded.png">    </p:cNvPr>
          <p:cNvPicPr>
            <a:picLocks noChangeAspect="1"/>
          </p:cNvPicPr>
          <p:nvPr/>
        </p:nvPicPr>
        <p:blipFill>
          <a:blip r:embed="rId6"/>
          <a:stretch>
            <a:fillRect/>
          </a:stretch>
        </p:blipFill>
        <p:spPr>
          <a:xfrm>
            <a:off x="9018597" y="2711196"/>
            <a:ext cx="301752" cy="301752"/>
          </a:xfrm>
          <a:prstGeom prst="rect">
            <a:avLst/>
          </a:prstGeom>
        </p:spPr>
      </p:pic>
      <p:sp>
        <p:nvSpPr>
          <p:cNvPr id="44" name="Text 36"/>
          <p:cNvSpPr/>
          <p:nvPr/>
        </p:nvSpPr>
        <p:spPr>
          <a:xfrm>
            <a:off x="8501307" y="3291840"/>
            <a:ext cx="1336330" cy="347472"/>
          </a:xfrm>
          <a:prstGeom prst="rect">
            <a:avLst/>
          </a:prstGeom>
          <a:noFill/>
          <a:ln/>
        </p:spPr>
        <p:txBody>
          <a:bodyPr wrap="square" rtlCol="0" anchor="ctr"/>
          <a:lstStyle/>
          <a:p>
            <a:pPr algn="ctr" indent="0" marL="0">
              <a:buNone/>
            </a:pPr>
            <a:r>
              <a:rPr lang="en-US" sz="1250" b="1" dirty="0">
                <a:solidFill>
                  <a:srgbClr val="212933"/>
                </a:solidFill>
                <a:latin typeface="Calibri" pitchFamily="34" charset="0"/>
                <a:ea typeface="Calibri" pitchFamily="34" charset="-122"/>
                <a:cs typeface="Calibri" pitchFamily="34" charset="-120"/>
              </a:rPr>
              <a:t>Schedules</a:t>
            </a:r>
            <a:endParaRPr lang="en-US" sz="1250" dirty="0"/>
          </a:p>
        </p:txBody>
      </p:sp>
      <p:sp>
        <p:nvSpPr>
          <p:cNvPr id="45" name="Text 37"/>
          <p:cNvSpPr/>
          <p:nvPr/>
        </p:nvSpPr>
        <p:spPr>
          <a:xfrm>
            <a:off x="8547027" y="3657600"/>
            <a:ext cx="1244890" cy="960120"/>
          </a:xfrm>
          <a:prstGeom prst="rect">
            <a:avLst/>
          </a:prstGeom>
          <a:noFill/>
          <a:ln/>
        </p:spPr>
        <p:txBody>
          <a:bodyPr wrap="square" rtlCol="0" anchor="ctr"/>
          <a:lstStyle/>
          <a:p>
            <a:pPr algn="ctr" indent="0" marL="0">
              <a:lnSpc>
                <a:spcPct val="100000"/>
              </a:lnSpc>
              <a:buNone/>
            </a:pPr>
            <a:r>
              <a:rPr lang="en-US" sz="900" dirty="0">
                <a:solidFill>
                  <a:srgbClr val="5C6B7A"/>
                </a:solidFill>
                <a:latin typeface="Calibri" pitchFamily="34" charset="0"/>
                <a:ea typeface="Calibri" pitchFamily="34" charset="-122"/>
                <a:cs typeface="Calibri" pitchFamily="34" charset="-120"/>
              </a:rPr>
              <a:t>books the callback while the caller is still on the line</a:t>
            </a:r>
            <a:endParaRPr lang="en-US" sz="900" dirty="0"/>
          </a:p>
        </p:txBody>
      </p:sp>
      <p:sp>
        <p:nvSpPr>
          <p:cNvPr id="46" name="Text 38"/>
          <p:cNvSpPr/>
          <p:nvPr/>
        </p:nvSpPr>
        <p:spPr>
          <a:xfrm>
            <a:off x="9846782" y="2926080"/>
            <a:ext cx="182880" cy="822960"/>
          </a:xfrm>
          <a:prstGeom prst="rect">
            <a:avLst/>
          </a:prstGeom>
          <a:noFill/>
          <a:ln/>
        </p:spPr>
        <p:txBody>
          <a:bodyPr wrap="square" lIns="0" tIns="0" rIns="0" bIns="0" rtlCol="0" anchor="ctr"/>
          <a:lstStyle/>
          <a:p>
            <a:pPr algn="ctr" indent="0" marL="0">
              <a:buNone/>
            </a:pPr>
            <a:r>
              <a:rPr lang="en-US" sz="1600" b="1" dirty="0">
                <a:solidFill>
                  <a:srgbClr val="3C4857"/>
                </a:solidFill>
                <a:latin typeface="Calibri" pitchFamily="34" charset="0"/>
                <a:ea typeface="Calibri" pitchFamily="34" charset="-122"/>
                <a:cs typeface="Calibri" pitchFamily="34" charset="-120"/>
              </a:rPr>
              <a:t>›</a:t>
            </a:r>
            <a:endParaRPr lang="en-US" sz="1600" dirty="0"/>
          </a:p>
        </p:txBody>
      </p:sp>
      <p:sp>
        <p:nvSpPr>
          <p:cNvPr id="47" name="Shape 39"/>
          <p:cNvSpPr/>
          <p:nvPr/>
        </p:nvSpPr>
        <p:spPr>
          <a:xfrm>
            <a:off x="10002230" y="2121408"/>
            <a:ext cx="1409482" cy="2606040"/>
          </a:xfrm>
          <a:prstGeom prst="roundRect">
            <a:avLst>
              <a:gd name="adj" fmla="val 7136"/>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48" name="Text 40"/>
          <p:cNvSpPr/>
          <p:nvPr/>
        </p:nvSpPr>
        <p:spPr>
          <a:xfrm>
            <a:off x="10075382" y="2194560"/>
            <a:ext cx="365760" cy="320040"/>
          </a:xfrm>
          <a:prstGeom prst="rect">
            <a:avLst/>
          </a:prstGeom>
          <a:noFill/>
          <a:ln/>
        </p:spPr>
        <p:txBody>
          <a:bodyPr wrap="square" rtlCol="0" anchor="ctr"/>
          <a:lstStyle/>
          <a:p>
            <a:pPr indent="0" marL="0">
              <a:buNone/>
            </a:pPr>
            <a:r>
              <a:rPr lang="en-US" sz="1400" b="1" dirty="0">
                <a:solidFill>
                  <a:srgbClr val="E0E5EA"/>
                </a:solidFill>
                <a:latin typeface="Calibri" pitchFamily="34" charset="0"/>
                <a:ea typeface="Calibri" pitchFamily="34" charset="-122"/>
                <a:cs typeface="Calibri" pitchFamily="34" charset="-120"/>
              </a:rPr>
              <a:t>7</a:t>
            </a:r>
            <a:endParaRPr lang="en-US" sz="1400" dirty="0"/>
          </a:p>
        </p:txBody>
      </p:sp>
      <p:sp>
        <p:nvSpPr>
          <p:cNvPr id="49" name="Shape 41"/>
          <p:cNvSpPr/>
          <p:nvPr/>
        </p:nvSpPr>
        <p:spPr>
          <a:xfrm>
            <a:off x="10405219" y="2560320"/>
            <a:ext cx="603504" cy="603504"/>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50" name="Image 6" descr="preencoded.png">    </p:cNvPr>
          <p:cNvPicPr>
            <a:picLocks noChangeAspect="1"/>
          </p:cNvPicPr>
          <p:nvPr/>
        </p:nvPicPr>
        <p:blipFill>
          <a:blip r:embed="rId7"/>
          <a:stretch>
            <a:fillRect/>
          </a:stretch>
        </p:blipFill>
        <p:spPr>
          <a:xfrm>
            <a:off x="10556095" y="2711196"/>
            <a:ext cx="301752" cy="301752"/>
          </a:xfrm>
          <a:prstGeom prst="rect">
            <a:avLst/>
          </a:prstGeom>
        </p:spPr>
      </p:pic>
      <p:sp>
        <p:nvSpPr>
          <p:cNvPr id="51" name="Text 42"/>
          <p:cNvSpPr/>
          <p:nvPr/>
        </p:nvSpPr>
        <p:spPr>
          <a:xfrm>
            <a:off x="10038806" y="3291840"/>
            <a:ext cx="1336330" cy="347472"/>
          </a:xfrm>
          <a:prstGeom prst="rect">
            <a:avLst/>
          </a:prstGeom>
          <a:noFill/>
          <a:ln/>
        </p:spPr>
        <p:txBody>
          <a:bodyPr wrap="square" rtlCol="0" anchor="ctr"/>
          <a:lstStyle/>
          <a:p>
            <a:pPr algn="ctr" indent="0" marL="0">
              <a:buNone/>
            </a:pPr>
            <a:r>
              <a:rPr lang="en-US" sz="1250" b="1" dirty="0">
                <a:solidFill>
                  <a:srgbClr val="212933"/>
                </a:solidFill>
                <a:latin typeface="Calibri" pitchFamily="34" charset="0"/>
                <a:ea typeface="Calibri" pitchFamily="34" charset="-122"/>
                <a:cs typeface="Calibri" pitchFamily="34" charset="-120"/>
              </a:rPr>
              <a:t>Hands off</a:t>
            </a:r>
            <a:endParaRPr lang="en-US" sz="1250" dirty="0"/>
          </a:p>
        </p:txBody>
      </p:sp>
      <p:sp>
        <p:nvSpPr>
          <p:cNvPr id="52" name="Text 43"/>
          <p:cNvSpPr/>
          <p:nvPr/>
        </p:nvSpPr>
        <p:spPr>
          <a:xfrm>
            <a:off x="10084526" y="3657600"/>
            <a:ext cx="1244890" cy="960120"/>
          </a:xfrm>
          <a:prstGeom prst="rect">
            <a:avLst/>
          </a:prstGeom>
          <a:noFill/>
          <a:ln/>
        </p:spPr>
        <p:txBody>
          <a:bodyPr wrap="square" rtlCol="0" anchor="ctr"/>
          <a:lstStyle/>
          <a:p>
            <a:pPr algn="ctr" indent="0" marL="0">
              <a:lnSpc>
                <a:spcPct val="100000"/>
              </a:lnSpc>
              <a:buNone/>
            </a:pPr>
            <a:r>
              <a:rPr lang="en-US" sz="900" dirty="0">
                <a:solidFill>
                  <a:srgbClr val="5C6B7A"/>
                </a:solidFill>
                <a:latin typeface="Calibri" pitchFamily="34" charset="0"/>
                <a:ea typeface="Calibri" pitchFamily="34" charset="-122"/>
                <a:cs typeface="Calibri" pitchFamily="34" charset="-120"/>
              </a:rPr>
              <a:t>cleanly to a human — at any moment</a:t>
            </a:r>
            <a:endParaRPr lang="en-US" sz="900" dirty="0"/>
          </a:p>
        </p:txBody>
      </p:sp>
      <p:sp>
        <p:nvSpPr>
          <p:cNvPr id="53" name="Shape 44"/>
          <p:cNvSpPr/>
          <p:nvPr/>
        </p:nvSpPr>
        <p:spPr>
          <a:xfrm>
            <a:off x="777240" y="4956048"/>
            <a:ext cx="5166360" cy="1481328"/>
          </a:xfrm>
          <a:prstGeom prst="roundRect">
            <a:avLst>
              <a:gd name="adj" fmla="val 6173"/>
            </a:avLst>
          </a:prstGeom>
          <a:solidFill>
            <a:srgbClr val="F5F7F9"/>
          </a:solidFill>
          <a:ln w="15875">
            <a:solidFill>
              <a:srgbClr val="E8590C"/>
            </a:solidFill>
            <a:prstDash val="solid"/>
          </a:ln>
        </p:spPr>
        <p:txBody>
          <a:bodyPr/>
          <a:p/>
        </p:txBody>
      </p:sp>
      <p:sp>
        <p:nvSpPr>
          <p:cNvPr id="54" name="Shape 45"/>
          <p:cNvSpPr/>
          <p:nvPr/>
        </p:nvSpPr>
        <p:spPr>
          <a:xfrm>
            <a:off x="1033272" y="5193792"/>
            <a:ext cx="512064" cy="512064"/>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55" name="Image 7" descr="preencoded.png">    </p:cNvPr>
          <p:cNvPicPr>
            <a:picLocks noChangeAspect="1"/>
          </p:cNvPicPr>
          <p:nvPr/>
        </p:nvPicPr>
        <p:blipFill>
          <a:blip r:embed="rId8"/>
          <a:stretch>
            <a:fillRect/>
          </a:stretch>
        </p:blipFill>
        <p:spPr>
          <a:xfrm>
            <a:off x="1171529" y="5332049"/>
            <a:ext cx="235549" cy="235549"/>
          </a:xfrm>
          <a:prstGeom prst="rect">
            <a:avLst/>
          </a:prstGeom>
        </p:spPr>
      </p:pic>
      <p:sp>
        <p:nvSpPr>
          <p:cNvPr id="56" name="Text 46"/>
          <p:cNvSpPr/>
          <p:nvPr/>
        </p:nvSpPr>
        <p:spPr>
          <a:xfrm>
            <a:off x="1691640" y="5193792"/>
            <a:ext cx="4069080" cy="512064"/>
          </a:xfrm>
          <a:prstGeom prst="rect">
            <a:avLst/>
          </a:prstGeom>
          <a:noFill/>
          <a:ln/>
        </p:spPr>
        <p:txBody>
          <a:bodyPr wrap="square" lIns="0" tIns="0" rIns="0" bIns="0" rtlCol="0" anchor="ctr"/>
          <a:lstStyle/>
          <a:p>
            <a:pPr indent="0" marL="0">
              <a:buNone/>
            </a:pPr>
            <a:r>
              <a:rPr lang="en-US" sz="1450" b="1" dirty="0">
                <a:solidFill>
                  <a:srgbClr val="212933"/>
                </a:solidFill>
                <a:latin typeface="Calibri" pitchFamily="34" charset="0"/>
                <a:ea typeface="Calibri" pitchFamily="34" charset="-122"/>
                <a:cs typeface="Calibri" pitchFamily="34" charset="-120"/>
              </a:rPr>
              <a:t>The caller experiences a conversation</a:t>
            </a:r>
            <a:endParaRPr lang="en-US" sz="1450" dirty="0"/>
          </a:p>
        </p:txBody>
      </p:sp>
      <p:sp>
        <p:nvSpPr>
          <p:cNvPr id="57" name="Text 47"/>
          <p:cNvSpPr/>
          <p:nvPr/>
        </p:nvSpPr>
        <p:spPr>
          <a:xfrm>
            <a:off x="1051560" y="5797296"/>
            <a:ext cx="4709160" cy="548640"/>
          </a:xfrm>
          <a:prstGeom prst="rect">
            <a:avLst/>
          </a:prstGeom>
          <a:noFill/>
          <a:ln/>
        </p:spPr>
        <p:txBody>
          <a:bodyPr wrap="square" lIns="0" tIns="0" rIns="0" bIns="0" rtlCol="0" anchor="ctr"/>
          <a:lstStyle/>
          <a:p>
            <a:pPr indent="0" marL="0">
              <a:lnSpc>
                <a:spcPct val="105000"/>
              </a:lnSpc>
              <a:buNone/>
            </a:pPr>
            <a:r>
              <a:rPr lang="en-US" sz="1200" dirty="0">
                <a:solidFill>
                  <a:srgbClr val="5C6B7A"/>
                </a:solidFill>
                <a:latin typeface="Calibri" pitchFamily="34" charset="0"/>
                <a:ea typeface="Calibri" pitchFamily="34" charset="-122"/>
                <a:cs typeface="Calibri" pitchFamily="34" charset="-120"/>
              </a:rPr>
              <a:t>It ends with a saved customer record, a booked callback, and a full transcript ready for QA.</a:t>
            </a:r>
            <a:endParaRPr lang="en-US" sz="1200" dirty="0"/>
          </a:p>
        </p:txBody>
      </p:sp>
      <p:sp>
        <p:nvSpPr>
          <p:cNvPr id="58" name="Shape 48"/>
          <p:cNvSpPr/>
          <p:nvPr/>
        </p:nvSpPr>
        <p:spPr>
          <a:xfrm>
            <a:off x="6254496" y="4956048"/>
            <a:ext cx="5157216" cy="1481328"/>
          </a:xfrm>
          <a:prstGeom prst="roundRect">
            <a:avLst>
              <a:gd name="adj" fmla="val 6173"/>
            </a:avLst>
          </a:prstGeom>
          <a:solidFill>
            <a:srgbClr val="222B36"/>
          </a:solidFill>
          <a:ln/>
        </p:spPr>
        <p:txBody>
          <a:bodyPr/>
          <a:p/>
        </p:txBody>
      </p:sp>
      <p:sp>
        <p:nvSpPr>
          <p:cNvPr id="59" name="Shape 49"/>
          <p:cNvSpPr/>
          <p:nvPr/>
        </p:nvSpPr>
        <p:spPr>
          <a:xfrm>
            <a:off x="6510528" y="5193792"/>
            <a:ext cx="512064" cy="512064"/>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60" name="Image 8" descr="preencoded.png">    </p:cNvPr>
          <p:cNvPicPr>
            <a:picLocks noChangeAspect="1"/>
          </p:cNvPicPr>
          <p:nvPr/>
        </p:nvPicPr>
        <p:blipFill>
          <a:blip r:embed="rId9"/>
          <a:stretch>
            <a:fillRect/>
          </a:stretch>
        </p:blipFill>
        <p:spPr>
          <a:xfrm>
            <a:off x="6648785" y="5332049"/>
            <a:ext cx="235549" cy="235549"/>
          </a:xfrm>
          <a:prstGeom prst="rect">
            <a:avLst/>
          </a:prstGeom>
        </p:spPr>
      </p:pic>
      <p:sp>
        <p:nvSpPr>
          <p:cNvPr id="61" name="Text 50"/>
          <p:cNvSpPr/>
          <p:nvPr/>
        </p:nvSpPr>
        <p:spPr>
          <a:xfrm>
            <a:off x="7168896" y="5193792"/>
            <a:ext cx="4059936" cy="51206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Engineered for live voice — no dead air</a:t>
            </a:r>
            <a:endParaRPr lang="en-US" sz="1450" dirty="0"/>
          </a:p>
        </p:txBody>
      </p:sp>
      <p:sp>
        <p:nvSpPr>
          <p:cNvPr id="62" name="Text 51"/>
          <p:cNvSpPr/>
          <p:nvPr/>
        </p:nvSpPr>
        <p:spPr>
          <a:xfrm>
            <a:off x="6528816" y="5797296"/>
            <a:ext cx="4700016" cy="548640"/>
          </a:xfrm>
          <a:prstGeom prst="rect">
            <a:avLst/>
          </a:prstGeom>
          <a:noFill/>
          <a:ln/>
        </p:spPr>
        <p:txBody>
          <a:bodyPr wrap="square" lIns="0" tIns="0" rIns="0" bIns="0" rtlCol="0" anchor="ctr"/>
          <a:lstStyle/>
          <a:p>
            <a:pPr indent="0" marL="0">
              <a:lnSpc>
                <a:spcPct val="105000"/>
              </a:lnSpc>
              <a:buNone/>
            </a:pPr>
            <a:r>
              <a:rPr lang="en-US" sz="1200" dirty="0">
                <a:solidFill>
                  <a:srgbClr val="D7DEE7"/>
                </a:solidFill>
                <a:latin typeface="Calibri" pitchFamily="34" charset="0"/>
                <a:ea typeface="Calibri" pitchFamily="34" charset="-122"/>
                <a:cs typeface="Calibri" pitchFamily="34" charset="-120"/>
              </a:rPr>
              <a:t>Every system call is time-capped: a slow backend never leaves the caller in silence. Details that surface late are reconciled onto the saved record afterwards.</a:t>
            </a:r>
            <a:endParaRPr lang="en-US" sz="1200" dirty="0"/>
          </a:p>
        </p:txBody>
      </p:sp>
    </p:spTree>
  </p:cSld>
  <p:clrMapOvr>
    <a:masterClrMapping/>
  </p:clrMapOvr>
</p:sld>
</file>

<file path=ppt/slides/slide8_b.xml><?xml version="1.0" encoding="utf-8"?>
<p:sld xmlns:a="http://schemas.openxmlformats.org/drawingml/2006/main" xmlns:r="http://schemas.openxmlformats.org/officeDocument/2006/relationships" xmlns:p="http://schemas.openxmlformats.org/presentationml/2006/main">
  <p:cSld name="Slide 8">
    <p:bg>
      <p:bgPr>
        <a:solidFill>
          <a:srgbClr val="222B36"/>
        </a:solidFill>
      </p:bgPr>
    </p:bg>
    <p:spTree>
      <p:nvGrpSpPr>
        <p:cNvPr id="1" name=""/>
        <p:cNvGrpSpPr/>
        <p:nvPr/>
      </p:nvGrpSpPr>
      <p:grpSpPr>
        <a:xfrm>
          <a:off x="0" y="0"/>
          <a:ext cx="0" cy="0"/>
          <a:chOff x="0" y="0"/>
          <a:chExt cx="0" cy="0"/>
        </a:xfrm>
      </p:grpSpPr>
      <p:sp>
        <p:nvSpPr>
          <p:cNvPr id="2" name="Text 0"/>
          <p:cNvSpPr/>
          <p:nvPr/>
        </p:nvSpPr>
        <p:spPr>
          <a:xfrm>
            <a:off x="777240" y="502920"/>
            <a:ext cx="192024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INBOUND AI</a:t>
            </a:r>
            <a:endParaRPr lang="en-US" sz="1150" dirty="0"/>
          </a:p>
        </p:txBody>
      </p:sp>
      <p:sp>
        <p:nvSpPr>
          <p:cNvPr id="3" name="Text 1"/>
          <p:cNvSpPr/>
          <p:nvPr/>
        </p:nvSpPr>
        <p:spPr>
          <a:xfrm>
            <a:off x="731520" y="914400"/>
            <a:ext cx="10698480" cy="68580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Grounded in live systems — and the record builds itself</a:t>
            </a:r>
            <a:endParaRPr lang="en-US" sz="3000" dirty="0"/>
          </a:p>
        </p:txBody>
      </p:sp>
      <p:sp>
        <p:nvSpPr>
          <p:cNvPr id="4" name="Text 2"/>
          <p:cNvSpPr/>
          <p:nvPr/>
        </p:nvSpPr>
        <p:spPr>
          <a:xfrm>
            <a:off x="777240" y="1600200"/>
            <a:ext cx="10515600" cy="411480"/>
          </a:xfrm>
          <a:prstGeom prst="rect">
            <a:avLst/>
          </a:prstGeom>
          <a:noFill/>
          <a:ln/>
        </p:spPr>
        <p:txBody>
          <a:bodyPr wrap="square" rtlCol="0" anchor="ctr"/>
          <a:lstStyle/>
          <a:p>
            <a:pPr indent="0" marL="0">
              <a:buNone/>
            </a:pPr>
            <a:r>
              <a:rPr lang="en-US" sz="1400" dirty="0">
                <a:solidFill>
                  <a:srgbClr val="D7DEE7"/>
                </a:solidFill>
                <a:latin typeface="Calibri" pitchFamily="34" charset="0"/>
                <a:ea typeface="Calibri" pitchFamily="34" charset="-122"/>
                <a:cs typeface="Calibri" pitchFamily="34" charset="-120"/>
              </a:rPr>
              <a:t>The voice AI calls the same governed tools as the chat copilot, and writes what it learns straight into the customer record.</a:t>
            </a:r>
            <a:endParaRPr lang="en-US" sz="1400" dirty="0"/>
          </a:p>
        </p:txBody>
      </p:sp>
      <p:sp>
        <p:nvSpPr>
          <p:cNvPr id="5" name="Shape 3"/>
          <p:cNvSpPr/>
          <p:nvPr/>
        </p:nvSpPr>
        <p:spPr>
          <a:xfrm>
            <a:off x="777240" y="2121408"/>
            <a:ext cx="2466594" cy="2697480"/>
          </a:xfrm>
          <a:prstGeom prst="roundRect">
            <a:avLst>
              <a:gd name="adj" fmla="val 4078"/>
            </a:avLst>
          </a:prstGeom>
          <a:solidFill>
            <a:srgbClr val="2C3644"/>
          </a:solidFill>
          <a:ln w="12700">
            <a:solidFill>
              <a:srgbClr val="3C4857"/>
            </a:solidFill>
            <a:prstDash val="solid"/>
          </a:ln>
        </p:spPr>
        <p:txBody>
          <a:bodyPr/>
          <a:p/>
        </p:txBody>
      </p:sp>
      <p:sp>
        <p:nvSpPr>
          <p:cNvPr id="6" name="Shape 4"/>
          <p:cNvSpPr/>
          <p:nvPr/>
        </p:nvSpPr>
        <p:spPr>
          <a:xfrm>
            <a:off x="1033272" y="2395728"/>
            <a:ext cx="713232" cy="713232"/>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7" name="Image 0" descr="preencoded.png">    </p:cNvPr>
          <p:cNvPicPr>
            <a:picLocks noChangeAspect="1"/>
          </p:cNvPicPr>
          <p:nvPr/>
        </p:nvPicPr>
        <p:blipFill>
          <a:blip r:embed="rId1"/>
          <a:stretch>
            <a:fillRect/>
          </a:stretch>
        </p:blipFill>
        <p:spPr>
          <a:xfrm>
            <a:off x="1211580" y="2574036"/>
            <a:ext cx="356616" cy="356616"/>
          </a:xfrm>
          <a:prstGeom prst="rect">
            <a:avLst/>
          </a:prstGeom>
        </p:spPr>
      </p:pic>
      <p:sp>
        <p:nvSpPr>
          <p:cNvPr id="8" name="Text 5"/>
          <p:cNvSpPr/>
          <p:nvPr/>
        </p:nvSpPr>
        <p:spPr>
          <a:xfrm>
            <a:off x="1033272" y="3218688"/>
            <a:ext cx="1954530" cy="566928"/>
          </a:xfrm>
          <a:prstGeom prst="rect">
            <a:avLst/>
          </a:prstGeom>
          <a:noFill/>
          <a:ln/>
        </p:spPr>
        <p:txBody>
          <a:bodyPr wrap="square"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Real system data, not model knowledge</a:t>
            </a:r>
            <a:endParaRPr lang="en-US" sz="1450" dirty="0"/>
          </a:p>
        </p:txBody>
      </p:sp>
      <p:sp>
        <p:nvSpPr>
          <p:cNvPr id="9" name="Text 6"/>
          <p:cNvSpPr/>
          <p:nvPr/>
        </p:nvSpPr>
        <p:spPr>
          <a:xfrm>
            <a:off x="1033272" y="3822192"/>
            <a:ext cx="1954530" cy="877824"/>
          </a:xfrm>
          <a:prstGeom prst="rect">
            <a:avLst/>
          </a:prstGeom>
          <a:noFill/>
          <a:ln/>
        </p:spPr>
        <p:txBody>
          <a:bodyPr wrap="square" rtlCol="0" anchor="ctr"/>
          <a:lstStyle/>
          <a:p>
            <a:pPr indent="0" marL="0">
              <a:lnSpc>
                <a:spcPct val="105000"/>
              </a:lnSpc>
              <a:buNone/>
            </a:pPr>
            <a:r>
              <a:rPr lang="en-US" sz="1100" dirty="0">
                <a:solidFill>
                  <a:srgbClr val="D7DEE7"/>
                </a:solidFill>
                <a:latin typeface="Calibri" pitchFamily="34" charset="0"/>
                <a:ea typeface="Calibri" pitchFamily="34" charset="-122"/>
                <a:cs typeface="Calibri" pitchFamily="34" charset="-120"/>
              </a:rPr>
              <a:t>Availability, locations and eligibility come from live lookups — the model never guesses, and says so when a lookup returns nothing.</a:t>
            </a:r>
            <a:endParaRPr lang="en-US" sz="1100" dirty="0"/>
          </a:p>
        </p:txBody>
      </p:sp>
      <p:sp>
        <p:nvSpPr>
          <p:cNvPr id="10" name="Shape 7"/>
          <p:cNvSpPr/>
          <p:nvPr/>
        </p:nvSpPr>
        <p:spPr>
          <a:xfrm>
            <a:off x="3499866" y="2121408"/>
            <a:ext cx="2466594" cy="2697480"/>
          </a:xfrm>
          <a:prstGeom prst="roundRect">
            <a:avLst>
              <a:gd name="adj" fmla="val 4078"/>
            </a:avLst>
          </a:prstGeom>
          <a:solidFill>
            <a:srgbClr val="2C3644"/>
          </a:solidFill>
          <a:ln w="12700">
            <a:solidFill>
              <a:srgbClr val="3C4857"/>
            </a:solidFill>
            <a:prstDash val="solid"/>
          </a:ln>
        </p:spPr>
        <p:txBody>
          <a:bodyPr/>
          <a:p/>
        </p:txBody>
      </p:sp>
      <p:sp>
        <p:nvSpPr>
          <p:cNvPr id="11" name="Shape 8"/>
          <p:cNvSpPr/>
          <p:nvPr/>
        </p:nvSpPr>
        <p:spPr>
          <a:xfrm>
            <a:off x="3755898" y="2395728"/>
            <a:ext cx="713232" cy="713232"/>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934206" y="2574036"/>
            <a:ext cx="356616" cy="356616"/>
          </a:xfrm>
          <a:prstGeom prst="rect">
            <a:avLst/>
          </a:prstGeom>
        </p:spPr>
      </p:pic>
      <p:sp>
        <p:nvSpPr>
          <p:cNvPr id="13" name="Text 9"/>
          <p:cNvSpPr/>
          <p:nvPr/>
        </p:nvSpPr>
        <p:spPr>
          <a:xfrm>
            <a:off x="3755898" y="3218688"/>
            <a:ext cx="1954530" cy="566928"/>
          </a:xfrm>
          <a:prstGeom prst="rect">
            <a:avLst/>
          </a:prstGeom>
          <a:noFill/>
          <a:ln/>
        </p:spPr>
        <p:txBody>
          <a:bodyPr wrap="square"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Identity injected server-side</a:t>
            </a:r>
            <a:endParaRPr lang="en-US" sz="1450" dirty="0"/>
          </a:p>
        </p:txBody>
      </p:sp>
      <p:sp>
        <p:nvSpPr>
          <p:cNvPr id="14" name="Text 10"/>
          <p:cNvSpPr/>
          <p:nvPr/>
        </p:nvSpPr>
        <p:spPr>
          <a:xfrm>
            <a:off x="3755898" y="3822192"/>
            <a:ext cx="1954530" cy="877824"/>
          </a:xfrm>
          <a:prstGeom prst="rect">
            <a:avLst/>
          </a:prstGeom>
          <a:noFill/>
          <a:ln/>
        </p:spPr>
        <p:txBody>
          <a:bodyPr wrap="square" rtlCol="0" anchor="ctr"/>
          <a:lstStyle/>
          <a:p>
            <a:pPr indent="0" marL="0">
              <a:lnSpc>
                <a:spcPct val="105000"/>
              </a:lnSpc>
              <a:buNone/>
            </a:pPr>
            <a:r>
              <a:rPr lang="en-US" sz="1100" dirty="0">
                <a:solidFill>
                  <a:srgbClr val="D7DEE7"/>
                </a:solidFill>
                <a:latin typeface="Calibri" pitchFamily="34" charset="0"/>
                <a:ea typeface="Calibri" pitchFamily="34" charset="-122"/>
                <a:cs typeface="Calibri" pitchFamily="34" charset="-120"/>
              </a:rPr>
              <a:t>The AI acts only as the agent it answers for. Identity is attached by the server, never chosen by the model.</a:t>
            </a:r>
            <a:endParaRPr lang="en-US" sz="1100" dirty="0"/>
          </a:p>
        </p:txBody>
      </p:sp>
      <p:sp>
        <p:nvSpPr>
          <p:cNvPr id="15" name="Shape 11"/>
          <p:cNvSpPr/>
          <p:nvPr/>
        </p:nvSpPr>
        <p:spPr>
          <a:xfrm>
            <a:off x="6222492" y="2121408"/>
            <a:ext cx="2466594" cy="2697480"/>
          </a:xfrm>
          <a:prstGeom prst="roundRect">
            <a:avLst>
              <a:gd name="adj" fmla="val 4078"/>
            </a:avLst>
          </a:prstGeom>
          <a:solidFill>
            <a:srgbClr val="2C3644"/>
          </a:solidFill>
          <a:ln w="12700">
            <a:solidFill>
              <a:srgbClr val="3C4857"/>
            </a:solidFill>
            <a:prstDash val="solid"/>
          </a:ln>
        </p:spPr>
        <p:txBody>
          <a:bodyPr/>
          <a:p/>
        </p:txBody>
      </p:sp>
      <p:sp>
        <p:nvSpPr>
          <p:cNvPr id="16" name="Shape 12"/>
          <p:cNvSpPr/>
          <p:nvPr/>
        </p:nvSpPr>
        <p:spPr>
          <a:xfrm>
            <a:off x="6478524" y="2395728"/>
            <a:ext cx="713232" cy="713232"/>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656832" y="2574036"/>
            <a:ext cx="356616" cy="356616"/>
          </a:xfrm>
          <a:prstGeom prst="rect">
            <a:avLst/>
          </a:prstGeom>
        </p:spPr>
      </p:pic>
      <p:sp>
        <p:nvSpPr>
          <p:cNvPr id="18" name="Text 13"/>
          <p:cNvSpPr/>
          <p:nvPr/>
        </p:nvSpPr>
        <p:spPr>
          <a:xfrm>
            <a:off x="6478524" y="3218688"/>
            <a:ext cx="1954530" cy="566928"/>
          </a:xfrm>
          <a:prstGeom prst="rect">
            <a:avLst/>
          </a:prstGeom>
          <a:noFill/>
          <a:ln/>
        </p:spPr>
        <p:txBody>
          <a:bodyPr wrap="square"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Fields populate live, saved mid-call</a:t>
            </a:r>
            <a:endParaRPr lang="en-US" sz="1450" dirty="0"/>
          </a:p>
        </p:txBody>
      </p:sp>
      <p:sp>
        <p:nvSpPr>
          <p:cNvPr id="19" name="Text 14"/>
          <p:cNvSpPr/>
          <p:nvPr/>
        </p:nvSpPr>
        <p:spPr>
          <a:xfrm>
            <a:off x="6478524" y="3822192"/>
            <a:ext cx="1954530" cy="877824"/>
          </a:xfrm>
          <a:prstGeom prst="rect">
            <a:avLst/>
          </a:prstGeom>
          <a:noFill/>
          <a:ln/>
        </p:spPr>
        <p:txBody>
          <a:bodyPr wrap="square" rtlCol="0" anchor="ctr"/>
          <a:lstStyle/>
          <a:p>
            <a:pPr indent="0" marL="0">
              <a:lnSpc>
                <a:spcPct val="105000"/>
              </a:lnSpc>
              <a:buNone/>
            </a:pPr>
            <a:r>
              <a:rPr lang="en-US" sz="1100" dirty="0">
                <a:solidFill>
                  <a:srgbClr val="D7DEE7"/>
                </a:solidFill>
                <a:latin typeface="Calibri" pitchFamily="34" charset="0"/>
                <a:ea typeface="Calibri" pitchFamily="34" charset="-122"/>
                <a:cs typeface="Calibri" pitchFamily="34" charset="-120"/>
              </a:rPr>
              <a:t>The record fills on screen as the caller speaks; mentions are matched to master-data catalogs as structured links, not prose.</a:t>
            </a:r>
            <a:endParaRPr lang="en-US" sz="1100" dirty="0"/>
          </a:p>
        </p:txBody>
      </p:sp>
      <p:sp>
        <p:nvSpPr>
          <p:cNvPr id="20" name="Shape 15"/>
          <p:cNvSpPr/>
          <p:nvPr/>
        </p:nvSpPr>
        <p:spPr>
          <a:xfrm>
            <a:off x="8945118" y="2121408"/>
            <a:ext cx="2466594" cy="2697480"/>
          </a:xfrm>
          <a:prstGeom prst="roundRect">
            <a:avLst>
              <a:gd name="adj" fmla="val 4078"/>
            </a:avLst>
          </a:prstGeom>
          <a:solidFill>
            <a:srgbClr val="2C3644"/>
          </a:solidFill>
          <a:ln w="12700">
            <a:solidFill>
              <a:srgbClr val="3C4857"/>
            </a:solidFill>
            <a:prstDash val="solid"/>
          </a:ln>
        </p:spPr>
        <p:txBody>
          <a:bodyPr/>
          <a:p/>
        </p:txBody>
      </p:sp>
      <p:sp>
        <p:nvSpPr>
          <p:cNvPr id="21" name="Shape 16"/>
          <p:cNvSpPr/>
          <p:nvPr/>
        </p:nvSpPr>
        <p:spPr>
          <a:xfrm>
            <a:off x="9201150" y="2395728"/>
            <a:ext cx="713232" cy="713232"/>
          </a:xfrm>
          <a:prstGeom prst="ellipse">
            <a:avLst/>
          </a:prstGeom>
          <a:solidFill>
            <a:srgbClr val="F2A541"/>
          </a:solidFill>
          <a:ln/>
          <a:effectLst>
            <a:outerShdw sx="100000" sy="100000" kx="0" ky="0" algn="bl" rotWithShape="0" blurRad="127000" dist="38100" dir="5400000">
              <a:srgbClr val="1A2027">
                <a:alpha val="22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379458" y="2574036"/>
            <a:ext cx="356616" cy="356616"/>
          </a:xfrm>
          <a:prstGeom prst="rect">
            <a:avLst/>
          </a:prstGeom>
        </p:spPr>
      </p:pic>
      <p:sp>
        <p:nvSpPr>
          <p:cNvPr id="23" name="Text 17"/>
          <p:cNvSpPr/>
          <p:nvPr/>
        </p:nvSpPr>
        <p:spPr>
          <a:xfrm>
            <a:off x="9201150" y="3218688"/>
            <a:ext cx="1954530" cy="566928"/>
          </a:xfrm>
          <a:prstGeom prst="rect">
            <a:avLst/>
          </a:prstGeom>
          <a:noFill/>
          <a:ln/>
        </p:spPr>
        <p:txBody>
          <a:bodyPr wrap="square" rtlCol="0" anchor="ctr"/>
          <a:lstStyle/>
          <a:p>
            <a:pPr indent="0" marL="0">
              <a:lnSpc>
                <a:spcPct val="95000"/>
              </a:lnSpc>
              <a:buNone/>
            </a:pPr>
            <a:r>
              <a:rPr lang="en-US" sz="1450" b="1" dirty="0">
                <a:solidFill>
                  <a:srgbClr val="FFFFFF"/>
                </a:solidFill>
                <a:latin typeface="Calibri" pitchFamily="34" charset="0"/>
                <a:ea typeface="Calibri" pitchFamily="34" charset="-122"/>
                <a:cs typeface="Calibri" pitchFamily="34" charset="-120"/>
              </a:rPr>
              <a:t>Nothing said is discarded</a:t>
            </a:r>
            <a:endParaRPr lang="en-US" sz="1450" dirty="0"/>
          </a:p>
        </p:txBody>
      </p:sp>
      <p:sp>
        <p:nvSpPr>
          <p:cNvPr id="24" name="Text 18"/>
          <p:cNvSpPr/>
          <p:nvPr/>
        </p:nvSpPr>
        <p:spPr>
          <a:xfrm>
            <a:off x="9201150" y="3822192"/>
            <a:ext cx="1954530" cy="877824"/>
          </a:xfrm>
          <a:prstGeom prst="rect">
            <a:avLst/>
          </a:prstGeom>
          <a:noFill/>
          <a:ln/>
        </p:spPr>
        <p:txBody>
          <a:bodyPr wrap="square" rtlCol="0" anchor="ctr"/>
          <a:lstStyle/>
          <a:p>
            <a:pPr indent="0" marL="0">
              <a:lnSpc>
                <a:spcPct val="105000"/>
              </a:lnSpc>
              <a:buNone/>
            </a:pPr>
            <a:r>
              <a:rPr lang="en-US" sz="1100" dirty="0">
                <a:solidFill>
                  <a:srgbClr val="D7DEE7"/>
                </a:solidFill>
                <a:latin typeface="Calibri" pitchFamily="34" charset="0"/>
                <a:ea typeface="Calibri" pitchFamily="34" charset="-122"/>
                <a:cs typeface="Calibri" pitchFamily="34" charset="-120"/>
              </a:rPr>
              <a:t>Unmatched detail goes to notes and is flagged for human verification. A returning caller enriches the existing record, never duplicates it.</a:t>
            </a:r>
            <a:endParaRPr lang="en-US" sz="1100" dirty="0"/>
          </a:p>
        </p:txBody>
      </p:sp>
      <p:sp>
        <p:nvSpPr>
          <p:cNvPr id="25" name="Shape 19"/>
          <p:cNvSpPr/>
          <p:nvPr/>
        </p:nvSpPr>
        <p:spPr>
          <a:xfrm>
            <a:off x="2103120" y="5074920"/>
            <a:ext cx="2468880" cy="566928"/>
          </a:xfrm>
          <a:prstGeom prst="roundRect">
            <a:avLst>
              <a:gd name="adj" fmla="val 50000"/>
            </a:avLst>
          </a:prstGeom>
          <a:solidFill>
            <a:srgbClr val="2C3644"/>
          </a:solidFill>
          <a:ln w="12700">
            <a:solidFill>
              <a:srgbClr val="F98E54"/>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2304288" y="5212080"/>
            <a:ext cx="292608" cy="292608"/>
          </a:xfrm>
          <a:prstGeom prst="rect">
            <a:avLst/>
          </a:prstGeom>
        </p:spPr>
      </p:pic>
      <p:sp>
        <p:nvSpPr>
          <p:cNvPr id="27" name="Text 20"/>
          <p:cNvSpPr/>
          <p:nvPr/>
        </p:nvSpPr>
        <p:spPr>
          <a:xfrm>
            <a:off x="2670048" y="5074920"/>
            <a:ext cx="1810512"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Voice AI</a:t>
            </a:r>
            <a:endParaRPr lang="en-US" sz="1250" dirty="0"/>
          </a:p>
        </p:txBody>
      </p:sp>
      <p:sp>
        <p:nvSpPr>
          <p:cNvPr id="28" name="Text 21"/>
          <p:cNvSpPr/>
          <p:nvPr/>
        </p:nvSpPr>
        <p:spPr>
          <a:xfrm>
            <a:off x="4590288" y="5074920"/>
            <a:ext cx="365760" cy="566928"/>
          </a:xfrm>
          <a:prstGeom prst="rect">
            <a:avLst/>
          </a:prstGeom>
          <a:noFill/>
          <a:ln/>
        </p:spPr>
        <p:txBody>
          <a:bodyPr wrap="square" lIns="0" tIns="0" rIns="0" bIns="0" rtlCol="0" anchor="ctr"/>
          <a:lstStyle/>
          <a:p>
            <a:pPr algn="ctr" indent="0" marL="0">
              <a:buNone/>
            </a:pPr>
            <a:r>
              <a:rPr lang="en-US" sz="2000" b="1" dirty="0">
                <a:solidFill>
                  <a:srgbClr val="F98E54"/>
                </a:solidFill>
                <a:latin typeface="Calibri" pitchFamily="34" charset="0"/>
                <a:ea typeface="Calibri" pitchFamily="34" charset="-122"/>
                <a:cs typeface="Calibri" pitchFamily="34" charset="-120"/>
              </a:rPr>
              <a:t>›</a:t>
            </a:r>
            <a:endParaRPr lang="en-US" sz="2000" dirty="0"/>
          </a:p>
        </p:txBody>
      </p:sp>
      <p:sp>
        <p:nvSpPr>
          <p:cNvPr id="29" name="Shape 22"/>
          <p:cNvSpPr/>
          <p:nvPr/>
        </p:nvSpPr>
        <p:spPr>
          <a:xfrm>
            <a:off x="4983480" y="5074920"/>
            <a:ext cx="2468880" cy="566928"/>
          </a:xfrm>
          <a:prstGeom prst="roundRect">
            <a:avLst>
              <a:gd name="adj" fmla="val 50000"/>
            </a:avLst>
          </a:prstGeom>
          <a:solidFill>
            <a:srgbClr val="2C3644"/>
          </a:solidFill>
          <a:ln w="12700">
            <a:solidFill>
              <a:srgbClr val="F98E54"/>
            </a:solidFill>
            <a:prstDash val="solid"/>
          </a:ln>
        </p:spPr>
        <p:txBody>
          <a:bodyPr/>
          <a:p/>
        </p:txBody>
      </p:sp>
      <p:pic>
        <p:nvPicPr>
          <p:cNvPr id="30" name="Image 5" descr="preencoded.png">    </p:cNvPr>
          <p:cNvPicPr>
            <a:picLocks noChangeAspect="1"/>
          </p:cNvPicPr>
          <p:nvPr/>
        </p:nvPicPr>
        <p:blipFill>
          <a:blip r:embed="rId6"/>
          <a:stretch>
            <a:fillRect/>
          </a:stretch>
        </p:blipFill>
        <p:spPr>
          <a:xfrm>
            <a:off x="5184648" y="5212080"/>
            <a:ext cx="292608" cy="292608"/>
          </a:xfrm>
          <a:prstGeom prst="rect">
            <a:avLst/>
          </a:prstGeom>
        </p:spPr>
      </p:pic>
      <p:sp>
        <p:nvSpPr>
          <p:cNvPr id="31" name="Text 23"/>
          <p:cNvSpPr/>
          <p:nvPr/>
        </p:nvSpPr>
        <p:spPr>
          <a:xfrm>
            <a:off x="5550408" y="5074920"/>
            <a:ext cx="1810512"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Governed tool layer</a:t>
            </a:r>
            <a:endParaRPr lang="en-US" sz="1250" dirty="0"/>
          </a:p>
        </p:txBody>
      </p:sp>
      <p:sp>
        <p:nvSpPr>
          <p:cNvPr id="32" name="Text 24"/>
          <p:cNvSpPr/>
          <p:nvPr/>
        </p:nvSpPr>
        <p:spPr>
          <a:xfrm>
            <a:off x="7470648" y="5074920"/>
            <a:ext cx="365760" cy="566928"/>
          </a:xfrm>
          <a:prstGeom prst="rect">
            <a:avLst/>
          </a:prstGeom>
          <a:noFill/>
          <a:ln/>
        </p:spPr>
        <p:txBody>
          <a:bodyPr wrap="square" lIns="0" tIns="0" rIns="0" bIns="0" rtlCol="0" anchor="ctr"/>
          <a:lstStyle/>
          <a:p>
            <a:pPr algn="ctr" indent="0" marL="0">
              <a:buNone/>
            </a:pPr>
            <a:r>
              <a:rPr lang="en-US" sz="2000" b="1" dirty="0">
                <a:solidFill>
                  <a:srgbClr val="F98E54"/>
                </a:solidFill>
                <a:latin typeface="Calibri" pitchFamily="34" charset="0"/>
                <a:ea typeface="Calibri" pitchFamily="34" charset="-122"/>
                <a:cs typeface="Calibri" pitchFamily="34" charset="-120"/>
              </a:rPr>
              <a:t>›</a:t>
            </a:r>
            <a:endParaRPr lang="en-US" sz="2000" dirty="0"/>
          </a:p>
        </p:txBody>
      </p:sp>
      <p:sp>
        <p:nvSpPr>
          <p:cNvPr id="33" name="Shape 25"/>
          <p:cNvSpPr/>
          <p:nvPr/>
        </p:nvSpPr>
        <p:spPr>
          <a:xfrm>
            <a:off x="7863840" y="5074920"/>
            <a:ext cx="2468880" cy="566928"/>
          </a:xfrm>
          <a:prstGeom prst="roundRect">
            <a:avLst>
              <a:gd name="adj" fmla="val 50000"/>
            </a:avLst>
          </a:prstGeom>
          <a:solidFill>
            <a:srgbClr val="2C3644"/>
          </a:solidFill>
          <a:ln w="12700">
            <a:solidFill>
              <a:srgbClr val="F98E54"/>
            </a:solidFill>
            <a:prstDash val="solid"/>
          </a:ln>
        </p:spPr>
        <p:txBody>
          <a:bodyPr/>
          <a:p/>
        </p:txBody>
      </p:sp>
      <p:pic>
        <p:nvPicPr>
          <p:cNvPr id="34" name="Image 6" descr="preencoded.png">    </p:cNvPr>
          <p:cNvPicPr>
            <a:picLocks noChangeAspect="1"/>
          </p:cNvPicPr>
          <p:nvPr/>
        </p:nvPicPr>
        <p:blipFill>
          <a:blip r:embed="rId7"/>
          <a:stretch>
            <a:fillRect/>
          </a:stretch>
        </p:blipFill>
        <p:spPr>
          <a:xfrm>
            <a:off x="8065008" y="5212080"/>
            <a:ext cx="292608" cy="292608"/>
          </a:xfrm>
          <a:prstGeom prst="rect">
            <a:avLst/>
          </a:prstGeom>
        </p:spPr>
      </p:pic>
      <p:sp>
        <p:nvSpPr>
          <p:cNvPr id="35" name="Text 26"/>
          <p:cNvSpPr/>
          <p:nvPr/>
        </p:nvSpPr>
        <p:spPr>
          <a:xfrm>
            <a:off x="8430768" y="5074920"/>
            <a:ext cx="1810512"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Business systems</a:t>
            </a:r>
            <a:endParaRPr lang="en-US" sz="1250" dirty="0"/>
          </a:p>
        </p:txBody>
      </p:sp>
      <p:sp>
        <p:nvSpPr>
          <p:cNvPr id="36" name="Text 27"/>
          <p:cNvSpPr/>
          <p:nvPr/>
        </p:nvSpPr>
        <p:spPr>
          <a:xfrm>
            <a:off x="777240" y="5852160"/>
            <a:ext cx="10607040" cy="457200"/>
          </a:xfrm>
          <a:prstGeom prst="rect">
            <a:avLst/>
          </a:prstGeom>
          <a:noFill/>
          <a:ln/>
        </p:spPr>
        <p:txBody>
          <a:bodyPr wrap="square" rtlCol="0" anchor="ctr"/>
          <a:lstStyle/>
          <a:p>
            <a:pPr algn="ctr" indent="0" marL="0">
              <a:buNone/>
            </a:pPr>
            <a:r>
              <a:rPr lang="en-US" sz="1300" i="1" dirty="0">
                <a:solidFill>
                  <a:srgbClr val="D7DEE7"/>
                </a:solidFill>
                <a:latin typeface="Calibri" pitchFamily="34" charset="0"/>
                <a:ea typeface="Calibri" pitchFamily="34" charset="-122"/>
                <a:cs typeface="Calibri" pitchFamily="34" charset="-120"/>
              </a:rPr>
              <a:t>By hang-up the conversation is already a clean, structured, deduplicated record — same tools, same guardrails, same audit trail as the chat assistant.</a:t>
            </a:r>
            <a:endParaRPr lang="en-US" sz="1300" dirty="0"/>
          </a:p>
        </p:txBody>
      </p:sp>
    </p:spTree>
  </p:cSld>
  <p:clrMapOvr>
    <a:masterClrMapping/>
  </p:clrMapOvr>
</p:sld>
</file>

<file path=ppt/slides/slide9_b.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57200"/>
            <a:ext cx="192024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INBOUND AI</a:t>
            </a:r>
            <a:endParaRPr lang="en-US" sz="1150" dirty="0"/>
          </a:p>
        </p:txBody>
      </p:sp>
      <p:sp>
        <p:nvSpPr>
          <p:cNvPr id="3" name="Text 1"/>
          <p:cNvSpPr/>
          <p:nvPr/>
        </p:nvSpPr>
        <p:spPr>
          <a:xfrm>
            <a:off x="731520" y="868680"/>
            <a:ext cx="10698480" cy="658368"/>
          </a:xfrm>
          <a:prstGeom prst="rect">
            <a:avLst/>
          </a:prstGeom>
          <a:noFill/>
          <a:ln/>
        </p:spPr>
        <p:txBody>
          <a:bodyPr wrap="square" rtlCol="0" anchor="ctr"/>
          <a:lstStyle/>
          <a:p>
            <a:pPr indent="0" marL="0">
              <a:buNone/>
            </a:pPr>
            <a:r>
              <a:rPr lang="en-US" sz="3000" b="1" dirty="0">
                <a:solidFill>
                  <a:srgbClr val="212933"/>
                </a:solidFill>
                <a:latin typeface="Calibri" pitchFamily="34" charset="0"/>
                <a:ea typeface="Calibri" pitchFamily="34" charset="-122"/>
                <a:cs typeface="Calibri" pitchFamily="34" charset="-120"/>
              </a:rPr>
              <a:t>Seamless takeover, guardrails that don't move</a:t>
            </a:r>
            <a:endParaRPr lang="en-US" sz="3000" dirty="0"/>
          </a:p>
        </p:txBody>
      </p:sp>
      <p:sp>
        <p:nvSpPr>
          <p:cNvPr id="4" name="Shape 2"/>
          <p:cNvSpPr/>
          <p:nvPr/>
        </p:nvSpPr>
        <p:spPr>
          <a:xfrm>
            <a:off x="777240" y="1627632"/>
            <a:ext cx="4679168" cy="713232"/>
          </a:xfrm>
          <a:prstGeom prst="roundRect">
            <a:avLst>
              <a:gd name="adj" fmla="val 11538"/>
            </a:avLst>
          </a:prstGeom>
          <a:solidFill>
            <a:srgbClr val="E8590C"/>
          </a:solidFill>
          <a:ln/>
        </p:spPr>
        <p:txBody>
          <a:bodyPr/>
          <a:p/>
        </p:txBody>
      </p:sp>
      <p:sp>
        <p:nvSpPr>
          <p:cNvPr id="5" name="Shape 3"/>
          <p:cNvSpPr/>
          <p:nvPr/>
        </p:nvSpPr>
        <p:spPr>
          <a:xfrm>
            <a:off x="5615925" y="1627632"/>
            <a:ext cx="5795787" cy="713232"/>
          </a:xfrm>
          <a:prstGeom prst="roundRect">
            <a:avLst>
              <a:gd name="adj" fmla="val 11538"/>
            </a:avLst>
          </a:prstGeom>
          <a:solidFill>
            <a:srgbClr val="50708C"/>
          </a:solidFill>
          <a:ln/>
        </p:spPr>
        <p:txBody>
          <a:bodyPr/>
          <a:p/>
        </p:txBody>
      </p:sp>
      <p:sp>
        <p:nvSpPr>
          <p:cNvPr id="6" name="Text 4"/>
          <p:cNvSpPr/>
          <p:nvPr/>
        </p:nvSpPr>
        <p:spPr>
          <a:xfrm>
            <a:off x="1051560" y="1627632"/>
            <a:ext cx="4313408"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handles the intake</a:t>
            </a:r>
            <a:endParaRPr lang="en-US" sz="1400" dirty="0"/>
          </a:p>
        </p:txBody>
      </p:sp>
      <p:sp>
        <p:nvSpPr>
          <p:cNvPr id="7" name="Text 5"/>
          <p:cNvSpPr/>
          <p:nvPr/>
        </p:nvSpPr>
        <p:spPr>
          <a:xfrm>
            <a:off x="5890245" y="1627632"/>
            <a:ext cx="5430027"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Human takes over — mid-sentence if needed</a:t>
            </a:r>
            <a:endParaRPr lang="en-US" sz="1400" dirty="0"/>
          </a:p>
        </p:txBody>
      </p:sp>
      <p:sp>
        <p:nvSpPr>
          <p:cNvPr id="8" name="Text 6"/>
          <p:cNvSpPr/>
          <p:nvPr/>
        </p:nvSpPr>
        <p:spPr>
          <a:xfrm>
            <a:off x="777240" y="2386584"/>
            <a:ext cx="10634472" cy="329184"/>
          </a:xfrm>
          <a:prstGeom prst="rect">
            <a:avLst/>
          </a:prstGeom>
          <a:noFill/>
          <a:ln/>
        </p:spPr>
        <p:txBody>
          <a:bodyPr wrap="square" rtlCol="0" anchor="ctr"/>
          <a:lstStyle/>
          <a:p>
            <a:pPr algn="ctr" indent="0" marL="0">
              <a:buNone/>
            </a:pPr>
            <a:r>
              <a:rPr lang="en-US" sz="1200" b="1" spc="100" kern="0" dirty="0">
                <a:solidFill>
                  <a:srgbClr val="E8590C"/>
                </a:solidFill>
                <a:latin typeface="Calibri" pitchFamily="34" charset="0"/>
                <a:ea typeface="Calibri" pitchFamily="34" charset="-122"/>
                <a:cs typeface="Calibri" pitchFamily="34" charset="-120"/>
              </a:rPr>
              <a:t>one continuous call  ·  one record  ·  one QA analysis</a:t>
            </a:r>
            <a:endParaRPr lang="en-US" sz="1200" dirty="0"/>
          </a:p>
        </p:txBody>
      </p:sp>
      <p:sp>
        <p:nvSpPr>
          <p:cNvPr id="9" name="Text 7"/>
          <p:cNvSpPr/>
          <p:nvPr/>
        </p:nvSpPr>
        <p:spPr>
          <a:xfrm>
            <a:off x="777240" y="2743200"/>
            <a:ext cx="10634472" cy="365760"/>
          </a:xfrm>
          <a:prstGeom prst="rect">
            <a:avLst/>
          </a:prstGeom>
          <a:noFill/>
          <a:ln/>
        </p:spPr>
        <p:txBody>
          <a:bodyPr wrap="square" lIns="0" tIns="0" rIns="0" bIns="0" rtlCol="0" anchor="ctr"/>
          <a:lstStyle/>
          <a:p>
            <a:pPr algn="ctr" indent="0" marL="0">
              <a:buNone/>
            </a:pPr>
            <a:r>
              <a:rPr lang="en-US" sz="1250" dirty="0">
                <a:solidFill>
                  <a:srgbClr val="5C6B7A"/>
                </a:solidFill>
                <a:latin typeface="Calibri" pitchFamily="34" charset="0"/>
                <a:ea typeface="Calibri" pitchFamily="34" charset="-122"/>
                <a:cs typeface="Calibri" pitchFamily="34" charset="-120"/>
              </a:rPr>
              <a:t>The live transcript streams to the agent's screen while the AI talks — takeover is one click. The customer hears no transfer and repeats nothing.</a:t>
            </a:r>
            <a:endParaRPr lang="en-US" sz="1250" dirty="0"/>
          </a:p>
        </p:txBody>
      </p:sp>
      <p:sp>
        <p:nvSpPr>
          <p:cNvPr id="10" name="Shape 8"/>
          <p:cNvSpPr/>
          <p:nvPr/>
        </p:nvSpPr>
        <p:spPr>
          <a:xfrm>
            <a:off x="777240" y="3218688"/>
            <a:ext cx="2466594" cy="1783080"/>
          </a:xfrm>
          <a:prstGeom prst="roundRect">
            <a:avLst>
              <a:gd name="adj" fmla="val 5641"/>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11" name="Shape 9"/>
          <p:cNvSpPr/>
          <p:nvPr/>
        </p:nvSpPr>
        <p:spPr>
          <a:xfrm>
            <a:off x="1014984" y="3438144"/>
            <a:ext cx="548640" cy="548640"/>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12" name="Image 0" descr="preencoded.png">    </p:cNvPr>
          <p:cNvPicPr>
            <a:picLocks noChangeAspect="1"/>
          </p:cNvPicPr>
          <p:nvPr/>
        </p:nvPicPr>
        <p:blipFill>
          <a:blip r:embed="rId1"/>
          <a:stretch>
            <a:fillRect/>
          </a:stretch>
        </p:blipFill>
        <p:spPr>
          <a:xfrm>
            <a:off x="1152144" y="3575304"/>
            <a:ext cx="274320" cy="274320"/>
          </a:xfrm>
          <a:prstGeom prst="rect">
            <a:avLst/>
          </a:prstGeom>
        </p:spPr>
      </p:pic>
      <p:sp>
        <p:nvSpPr>
          <p:cNvPr id="13" name="Text 10"/>
          <p:cNvSpPr/>
          <p:nvPr/>
        </p:nvSpPr>
        <p:spPr>
          <a:xfrm>
            <a:off x="1655064" y="3438144"/>
            <a:ext cx="1369314" cy="548640"/>
          </a:xfrm>
          <a:prstGeom prst="rect">
            <a:avLst/>
          </a:prstGeom>
          <a:noFill/>
          <a:ln/>
        </p:spPr>
        <p:txBody>
          <a:bodyPr wrap="square" lIns="0" tIns="0" rIns="0" bIns="0" rtlCol="0" anchor="ctr"/>
          <a:lstStyle/>
          <a:p>
            <a:pPr indent="0" marL="0">
              <a:lnSpc>
                <a:spcPct val="95000"/>
              </a:lnSpc>
              <a:buNone/>
            </a:pPr>
            <a:r>
              <a:rPr lang="en-US" sz="1400" b="1" dirty="0">
                <a:solidFill>
                  <a:srgbClr val="212933"/>
                </a:solidFill>
                <a:latin typeface="Calibri" pitchFamily="34" charset="0"/>
                <a:ea typeface="Calibri" pitchFamily="34" charset="-122"/>
                <a:cs typeface="Calibri" pitchFamily="34" charset="-120"/>
              </a:rPr>
              <a:t>Always discloses</a:t>
            </a:r>
            <a:endParaRPr lang="en-US" sz="1400" dirty="0"/>
          </a:p>
        </p:txBody>
      </p:sp>
      <p:sp>
        <p:nvSpPr>
          <p:cNvPr id="14" name="Text 11"/>
          <p:cNvSpPr/>
          <p:nvPr/>
        </p:nvSpPr>
        <p:spPr>
          <a:xfrm>
            <a:off x="1014984" y="4096512"/>
            <a:ext cx="1991106" cy="777240"/>
          </a:xfrm>
          <a:prstGeom prst="rect">
            <a:avLst/>
          </a:prstGeom>
          <a:noFill/>
          <a:ln/>
        </p:spPr>
        <p:txBody>
          <a:bodyPr wrap="square" rtlCol="0" anchor="ctr"/>
          <a:lstStyle/>
          <a:p>
            <a:pPr indent="0" marL="0">
              <a:lnSpc>
                <a:spcPct val="105000"/>
              </a:lnSpc>
              <a:buNone/>
            </a:pPr>
            <a:r>
              <a:rPr lang="en-US" sz="1100" dirty="0">
                <a:solidFill>
                  <a:srgbClr val="5C6B7A"/>
                </a:solidFill>
                <a:latin typeface="Calibri" pitchFamily="34" charset="0"/>
                <a:ea typeface="Calibri" pitchFamily="34" charset="-122"/>
                <a:cs typeface="Calibri" pitchFamily="34" charset="-120"/>
              </a:rPr>
              <a:t>Every call opens by stating it's automated — non-negotiable, not editable.</a:t>
            </a:r>
            <a:endParaRPr lang="en-US" sz="1100" dirty="0"/>
          </a:p>
        </p:txBody>
      </p:sp>
      <p:sp>
        <p:nvSpPr>
          <p:cNvPr id="15" name="Shape 12"/>
          <p:cNvSpPr/>
          <p:nvPr/>
        </p:nvSpPr>
        <p:spPr>
          <a:xfrm>
            <a:off x="3499866" y="3218688"/>
            <a:ext cx="2466594" cy="1783080"/>
          </a:xfrm>
          <a:prstGeom prst="roundRect">
            <a:avLst>
              <a:gd name="adj" fmla="val 5641"/>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16" name="Shape 13"/>
          <p:cNvSpPr/>
          <p:nvPr/>
        </p:nvSpPr>
        <p:spPr>
          <a:xfrm>
            <a:off x="3737610" y="3438144"/>
            <a:ext cx="548640" cy="548640"/>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7" name="Image 1" descr="preencoded.png">    </p:cNvPr>
          <p:cNvPicPr>
            <a:picLocks noChangeAspect="1"/>
          </p:cNvPicPr>
          <p:nvPr/>
        </p:nvPicPr>
        <p:blipFill>
          <a:blip r:embed="rId2"/>
          <a:stretch>
            <a:fillRect/>
          </a:stretch>
        </p:blipFill>
        <p:spPr>
          <a:xfrm>
            <a:off x="3874770" y="3575304"/>
            <a:ext cx="274320" cy="274320"/>
          </a:xfrm>
          <a:prstGeom prst="rect">
            <a:avLst/>
          </a:prstGeom>
        </p:spPr>
      </p:pic>
      <p:sp>
        <p:nvSpPr>
          <p:cNvPr id="18" name="Text 14"/>
          <p:cNvSpPr/>
          <p:nvPr/>
        </p:nvSpPr>
        <p:spPr>
          <a:xfrm>
            <a:off x="4377690" y="3438144"/>
            <a:ext cx="1369314" cy="548640"/>
          </a:xfrm>
          <a:prstGeom prst="rect">
            <a:avLst/>
          </a:prstGeom>
          <a:noFill/>
          <a:ln/>
        </p:spPr>
        <p:txBody>
          <a:bodyPr wrap="square" lIns="0" tIns="0" rIns="0" bIns="0" rtlCol="0" anchor="ctr"/>
          <a:lstStyle/>
          <a:p>
            <a:pPr indent="0" marL="0">
              <a:lnSpc>
                <a:spcPct val="95000"/>
              </a:lnSpc>
              <a:buNone/>
            </a:pPr>
            <a:r>
              <a:rPr lang="en-US" sz="1400" b="1" dirty="0">
                <a:solidFill>
                  <a:srgbClr val="212933"/>
                </a:solidFill>
                <a:latin typeface="Calibri" pitchFamily="34" charset="0"/>
                <a:ea typeface="Calibri" pitchFamily="34" charset="-122"/>
                <a:cs typeface="Calibri" pitchFamily="34" charset="-120"/>
              </a:rPr>
              <a:t>Facts, never advice</a:t>
            </a:r>
            <a:endParaRPr lang="en-US" sz="1400" dirty="0"/>
          </a:p>
        </p:txBody>
      </p:sp>
      <p:sp>
        <p:nvSpPr>
          <p:cNvPr id="19" name="Text 15"/>
          <p:cNvSpPr/>
          <p:nvPr/>
        </p:nvSpPr>
        <p:spPr>
          <a:xfrm>
            <a:off x="3737610" y="4096512"/>
            <a:ext cx="1991106" cy="777240"/>
          </a:xfrm>
          <a:prstGeom prst="rect">
            <a:avLst/>
          </a:prstGeom>
          <a:noFill/>
          <a:ln/>
        </p:spPr>
        <p:txBody>
          <a:bodyPr wrap="square" rtlCol="0" anchor="ctr"/>
          <a:lstStyle/>
          <a:p>
            <a:pPr indent="0" marL="0">
              <a:lnSpc>
                <a:spcPct val="105000"/>
              </a:lnSpc>
              <a:buNone/>
            </a:pPr>
            <a:r>
              <a:rPr lang="en-US" sz="1100" dirty="0">
                <a:solidFill>
                  <a:srgbClr val="5C6B7A"/>
                </a:solidFill>
                <a:latin typeface="Calibri" pitchFamily="34" charset="0"/>
                <a:ea typeface="Calibri" pitchFamily="34" charset="-122"/>
                <a:cs typeface="Calibri" pitchFamily="34" charset="-120"/>
              </a:rPr>
              <a:t>States what the systems say — no recommendations, no persuasion, no selling.</a:t>
            </a:r>
            <a:endParaRPr lang="en-US" sz="1100" dirty="0"/>
          </a:p>
        </p:txBody>
      </p:sp>
      <p:sp>
        <p:nvSpPr>
          <p:cNvPr id="20" name="Shape 16"/>
          <p:cNvSpPr/>
          <p:nvPr/>
        </p:nvSpPr>
        <p:spPr>
          <a:xfrm>
            <a:off x="6222492" y="3218688"/>
            <a:ext cx="2466594" cy="1783080"/>
          </a:xfrm>
          <a:prstGeom prst="roundRect">
            <a:avLst>
              <a:gd name="adj" fmla="val 5641"/>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1" name="Shape 17"/>
          <p:cNvSpPr/>
          <p:nvPr/>
        </p:nvSpPr>
        <p:spPr>
          <a:xfrm>
            <a:off x="6460236" y="3438144"/>
            <a:ext cx="548640" cy="548640"/>
          </a:xfrm>
          <a:prstGeom prst="ellipse">
            <a:avLst/>
          </a:prstGeom>
          <a:solidFill>
            <a:srgbClr val="C0392B"/>
          </a:solidFill>
          <a:ln/>
          <a:effectLst>
            <a:outerShdw sx="100000" sy="100000" kx="0" ky="0" algn="bl" rotWithShape="0" blurRad="127000" dist="38100" dir="5400000">
              <a:srgbClr val="1A2027">
                <a:alpha val="22000"/>
              </a:srgbClr>
            </a:outerShdw>
          </a:effectLst>
        </p:spPr>
        <p:txBody>
          <a:bodyPr/>
          <a:p/>
        </p:txBody>
      </p:sp>
      <p:pic>
        <p:nvPicPr>
          <p:cNvPr id="22" name="Image 2" descr="preencoded.png">    </p:cNvPr>
          <p:cNvPicPr>
            <a:picLocks noChangeAspect="1"/>
          </p:cNvPicPr>
          <p:nvPr/>
        </p:nvPicPr>
        <p:blipFill>
          <a:blip r:embed="rId3"/>
          <a:stretch>
            <a:fillRect/>
          </a:stretch>
        </p:blipFill>
        <p:spPr>
          <a:xfrm>
            <a:off x="6597396" y="3575304"/>
            <a:ext cx="274320" cy="274320"/>
          </a:xfrm>
          <a:prstGeom prst="rect">
            <a:avLst/>
          </a:prstGeom>
        </p:spPr>
      </p:pic>
      <p:sp>
        <p:nvSpPr>
          <p:cNvPr id="23" name="Text 18"/>
          <p:cNvSpPr/>
          <p:nvPr/>
        </p:nvSpPr>
        <p:spPr>
          <a:xfrm>
            <a:off x="7100316" y="3438144"/>
            <a:ext cx="1369314" cy="548640"/>
          </a:xfrm>
          <a:prstGeom prst="rect">
            <a:avLst/>
          </a:prstGeom>
          <a:noFill/>
          <a:ln/>
        </p:spPr>
        <p:txBody>
          <a:bodyPr wrap="square" lIns="0" tIns="0" rIns="0" bIns="0" rtlCol="0" anchor="ctr"/>
          <a:lstStyle/>
          <a:p>
            <a:pPr indent="0" marL="0">
              <a:lnSpc>
                <a:spcPct val="95000"/>
              </a:lnSpc>
              <a:buNone/>
            </a:pPr>
            <a:r>
              <a:rPr lang="en-US" sz="1400" b="1" dirty="0">
                <a:solidFill>
                  <a:srgbClr val="212933"/>
                </a:solidFill>
                <a:latin typeface="Calibri" pitchFamily="34" charset="0"/>
                <a:ea typeface="Calibri" pitchFamily="34" charset="-122"/>
                <a:cs typeface="Calibri" pitchFamily="34" charset="-120"/>
              </a:rPr>
              <a:t>No sensitive identifiers</a:t>
            </a:r>
            <a:endParaRPr lang="en-US" sz="1400" dirty="0"/>
          </a:p>
        </p:txBody>
      </p:sp>
      <p:sp>
        <p:nvSpPr>
          <p:cNvPr id="24" name="Text 19"/>
          <p:cNvSpPr/>
          <p:nvPr/>
        </p:nvSpPr>
        <p:spPr>
          <a:xfrm>
            <a:off x="6460236" y="4096512"/>
            <a:ext cx="1991106" cy="777240"/>
          </a:xfrm>
          <a:prstGeom prst="rect">
            <a:avLst/>
          </a:prstGeom>
          <a:noFill/>
          <a:ln/>
        </p:spPr>
        <p:txBody>
          <a:bodyPr wrap="square" rtlCol="0" anchor="ctr"/>
          <a:lstStyle/>
          <a:p>
            <a:pPr indent="0" marL="0">
              <a:lnSpc>
                <a:spcPct val="105000"/>
              </a:lnSpc>
              <a:buNone/>
            </a:pPr>
            <a:r>
              <a:rPr lang="en-US" sz="1100" dirty="0">
                <a:solidFill>
                  <a:srgbClr val="5C6B7A"/>
                </a:solidFill>
                <a:latin typeface="Calibri" pitchFamily="34" charset="0"/>
                <a:ea typeface="Calibri" pitchFamily="34" charset="-122"/>
                <a:cs typeface="Calibri" pitchFamily="34" charset="-120"/>
              </a:rPr>
              <a:t>Never requested — by design, not by instruction.</a:t>
            </a:r>
            <a:endParaRPr lang="en-US" sz="1100" dirty="0"/>
          </a:p>
        </p:txBody>
      </p:sp>
      <p:sp>
        <p:nvSpPr>
          <p:cNvPr id="25" name="Shape 20"/>
          <p:cNvSpPr/>
          <p:nvPr/>
        </p:nvSpPr>
        <p:spPr>
          <a:xfrm>
            <a:off x="8945118" y="3218688"/>
            <a:ext cx="2466594" cy="1783080"/>
          </a:xfrm>
          <a:prstGeom prst="roundRect">
            <a:avLst>
              <a:gd name="adj" fmla="val 5641"/>
            </a:avLst>
          </a:prstGeom>
          <a:solidFill>
            <a:srgbClr val="FFFFFF"/>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6" name="Shape 21"/>
          <p:cNvSpPr/>
          <p:nvPr/>
        </p:nvSpPr>
        <p:spPr>
          <a:xfrm>
            <a:off x="9182862" y="3438144"/>
            <a:ext cx="548640" cy="548640"/>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27" name="Image 3" descr="preencoded.png">    </p:cNvPr>
          <p:cNvPicPr>
            <a:picLocks noChangeAspect="1"/>
          </p:cNvPicPr>
          <p:nvPr/>
        </p:nvPicPr>
        <p:blipFill>
          <a:blip r:embed="rId4"/>
          <a:stretch>
            <a:fillRect/>
          </a:stretch>
        </p:blipFill>
        <p:spPr>
          <a:xfrm>
            <a:off x="9320022" y="3575304"/>
            <a:ext cx="274320" cy="274320"/>
          </a:xfrm>
          <a:prstGeom prst="rect">
            <a:avLst/>
          </a:prstGeom>
        </p:spPr>
      </p:pic>
      <p:sp>
        <p:nvSpPr>
          <p:cNvPr id="28" name="Text 22"/>
          <p:cNvSpPr/>
          <p:nvPr/>
        </p:nvSpPr>
        <p:spPr>
          <a:xfrm>
            <a:off x="9822942" y="3438144"/>
            <a:ext cx="1369314" cy="548640"/>
          </a:xfrm>
          <a:prstGeom prst="rect">
            <a:avLst/>
          </a:prstGeom>
          <a:noFill/>
          <a:ln/>
        </p:spPr>
        <p:txBody>
          <a:bodyPr wrap="square" lIns="0" tIns="0" rIns="0" bIns="0" rtlCol="0" anchor="ctr"/>
          <a:lstStyle/>
          <a:p>
            <a:pPr indent="0" marL="0">
              <a:lnSpc>
                <a:spcPct val="95000"/>
              </a:lnSpc>
              <a:buNone/>
            </a:pPr>
            <a:r>
              <a:rPr lang="en-US" sz="1400" b="1" dirty="0">
                <a:solidFill>
                  <a:srgbClr val="212933"/>
                </a:solidFill>
                <a:latin typeface="Calibri" pitchFamily="34" charset="0"/>
                <a:ea typeface="Calibri" pitchFamily="34" charset="-122"/>
                <a:cs typeface="Calibri" pitchFamily="34" charset="-120"/>
              </a:rPr>
              <a:t>Off means off</a:t>
            </a:r>
            <a:endParaRPr lang="en-US" sz="1400" dirty="0"/>
          </a:p>
        </p:txBody>
      </p:sp>
      <p:sp>
        <p:nvSpPr>
          <p:cNvPr id="29" name="Text 23"/>
          <p:cNvSpPr/>
          <p:nvPr/>
        </p:nvSpPr>
        <p:spPr>
          <a:xfrm>
            <a:off x="9182862" y="4096512"/>
            <a:ext cx="1991106" cy="777240"/>
          </a:xfrm>
          <a:prstGeom prst="rect">
            <a:avLst/>
          </a:prstGeom>
          <a:noFill/>
          <a:ln/>
        </p:spPr>
        <p:txBody>
          <a:bodyPr wrap="square" rtlCol="0" anchor="ctr"/>
          <a:lstStyle/>
          <a:p>
            <a:pPr indent="0" marL="0">
              <a:lnSpc>
                <a:spcPct val="105000"/>
              </a:lnSpc>
              <a:buNone/>
            </a:pPr>
            <a:r>
              <a:rPr lang="en-US" sz="1100" dirty="0">
                <a:solidFill>
                  <a:srgbClr val="5C6B7A"/>
                </a:solidFill>
                <a:latin typeface="Calibri" pitchFamily="34" charset="0"/>
                <a:ea typeface="Calibri" pitchFamily="34" charset="-122"/>
                <a:cs typeface="Calibri" pitchFamily="34" charset="-120"/>
              </a:rPr>
              <a:t>A disabled capability is withheld from the AI, not discouraged in a prompt.</a:t>
            </a:r>
            <a:endParaRPr lang="en-US" sz="1100" dirty="0"/>
          </a:p>
        </p:txBody>
      </p:sp>
      <p:sp>
        <p:nvSpPr>
          <p:cNvPr id="30" name="Shape 24"/>
          <p:cNvSpPr/>
          <p:nvPr/>
        </p:nvSpPr>
        <p:spPr>
          <a:xfrm>
            <a:off x="777240" y="5230368"/>
            <a:ext cx="10634472" cy="1188720"/>
          </a:xfrm>
          <a:prstGeom prst="roundRect">
            <a:avLst>
              <a:gd name="adj" fmla="val 7692"/>
            </a:avLst>
          </a:prstGeom>
          <a:solidFill>
            <a:srgbClr val="222B36"/>
          </a:solidFill>
          <a:ln/>
        </p:spPr>
        <p:txBody>
          <a:bodyPr/>
          <a:p/>
        </p:txBody>
      </p:sp>
      <p:pic>
        <p:nvPicPr>
          <p:cNvPr id="31" name="Image 4" descr="preencoded.png">    </p:cNvPr>
          <p:cNvPicPr>
            <a:picLocks noChangeAspect="1"/>
          </p:cNvPicPr>
          <p:nvPr/>
        </p:nvPicPr>
        <p:blipFill>
          <a:blip r:embed="rId5"/>
          <a:stretch>
            <a:fillRect/>
          </a:stretch>
        </p:blipFill>
        <p:spPr>
          <a:xfrm>
            <a:off x="1097280" y="5641848"/>
            <a:ext cx="365760" cy="365760"/>
          </a:xfrm>
          <a:prstGeom prst="rect">
            <a:avLst/>
          </a:prstGeom>
        </p:spPr>
      </p:pic>
      <p:sp>
        <p:nvSpPr>
          <p:cNvPr id="32" name="Text 25"/>
          <p:cNvSpPr/>
          <p:nvPr/>
        </p:nvSpPr>
        <p:spPr>
          <a:xfrm>
            <a:off x="1645920" y="5230368"/>
            <a:ext cx="9509760" cy="1188720"/>
          </a:xfrm>
          <a:prstGeom prst="rect">
            <a:avLst/>
          </a:prstGeom>
          <a:noFill/>
          <a:ln/>
        </p:spPr>
        <p:txBody>
          <a:bodyPr wrap="square" lIns="0" tIns="0" rIns="0" bIns="0" rtlCol="0" anchor="ctr"/>
          <a:lstStyle/>
          <a:p>
            <a:pPr indent="0" marL="0">
              <a:lnSpc>
                <a:spcPct val="108000"/>
              </a:lnSpc>
              <a:buNone/>
            </a:pPr>
            <a:r>
              <a:rPr lang="en-US" sz="1300" b="1" dirty="0">
                <a:solidFill>
                  <a:srgbClr val="F98E54"/>
                </a:solidFill>
                <a:latin typeface="Calibri" pitchFamily="34" charset="0"/>
                <a:ea typeface="Calibri" pitchFamily="34" charset="-122"/>
                <a:cs typeface="Calibri" pitchFamily="34" charset="-120"/>
              </a:rPr>
              <a:t>Deliberately out of scope:  </a:t>
            </a:r>
            <a:pPr indent="0" marL="0">
              <a:lnSpc>
                <a:spcPct val="108000"/>
              </a:lnSpc>
              <a:buNone/>
            </a:pPr>
            <a:r>
              <a:rPr lang="en-US" sz="1300" dirty="0">
                <a:solidFill>
                  <a:srgbClr val="D7DEE7"/>
                </a:solidFill>
                <a:latin typeface="Calibri" pitchFamily="34" charset="0"/>
                <a:ea typeface="Calibri" pitchFamily="34" charset="-122"/>
                <a:cs typeface="Calibri" pitchFamily="34" charset="-120"/>
              </a:rPr>
              <a:t>outbound AI calling, and AI-made recommendations of any kind. The AI gathers and prepares — the licensed human advises and closes. In a regulated room, that boundary is a feature.</a:t>
            </a:r>
            <a:endParaRPr lang="en-US" sz="1300" dirty="0"/>
          </a:p>
        </p:txBody>
      </p:sp>
    </p:spTree>
  </p:cSld>
  <p:clrMapOvr>
    <a:masterClrMapping/>
  </p:clrMapOvr>
</p:sld>
</file>

<file path=ppt/slides/slide10_b.xml><?xml version="1.0" encoding="utf-8"?>
<p:sld xmlns:a="http://schemas.openxmlformats.org/drawingml/2006/main" xmlns:r="http://schemas.openxmlformats.org/officeDocument/2006/relationships" xmlns:p="http://schemas.openxmlformats.org/presentationml/2006/main">
  <p:cSld name="Slide 10">
    <p:bg>
      <p:bgPr>
        <a:solidFill>
          <a:srgbClr val="222B36"/>
        </a:solidFill>
      </p:bgPr>
    </p:bg>
    <p:spTree>
      <p:nvGrpSpPr>
        <p:cNvPr id="1" name=""/>
        <p:cNvGrpSpPr/>
        <p:nvPr/>
      </p:nvGrpSpPr>
      <p:grpSpPr>
        <a:xfrm>
          <a:off x="0" y="0"/>
          <a:ext cx="0" cy="0"/>
          <a:chOff x="0" y="0"/>
          <a:chExt cx="0" cy="0"/>
        </a:xfrm>
      </p:grpSpPr>
      <p:sp>
        <p:nvSpPr>
          <p:cNvPr id="2" name="Shape 0"/>
          <p:cNvSpPr/>
          <p:nvPr/>
        </p:nvSpPr>
        <p:spPr>
          <a:xfrm>
            <a:off x="10058400" y="-1463040"/>
            <a:ext cx="3840480" cy="3840480"/>
          </a:xfrm>
          <a:prstGeom prst="ellipse">
            <a:avLst/>
          </a:prstGeom>
          <a:solidFill>
            <a:srgbClr val="2C3644"/>
          </a:solidFill>
          <a:ln/>
        </p:spPr>
        <p:txBody>
          <a:bodyPr/>
          <a:p/>
        </p:txBody>
      </p:sp>
      <p:sp>
        <p:nvSpPr>
          <p:cNvPr id="3" name="Text 1"/>
          <p:cNvSpPr/>
          <p:nvPr/>
        </p:nvSpPr>
        <p:spPr>
          <a:xfrm>
            <a:off x="822960" y="548640"/>
            <a:ext cx="237744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WHY IT MATTERS</a:t>
            </a:r>
            <a:endParaRPr lang="en-US" sz="1150" dirty="0"/>
          </a:p>
        </p:txBody>
      </p:sp>
      <p:sp>
        <p:nvSpPr>
          <p:cNvPr id="4" name="Text 2"/>
          <p:cNvSpPr/>
          <p:nvPr/>
        </p:nvSpPr>
        <p:spPr>
          <a:xfrm>
            <a:off x="777240" y="1005840"/>
            <a:ext cx="10607040" cy="7772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What changes in the operation</a:t>
            </a:r>
            <a:endParaRPr lang="en-US" sz="3600" dirty="0"/>
          </a:p>
        </p:txBody>
      </p:sp>
      <p:sp>
        <p:nvSpPr>
          <p:cNvPr id="5" name="Text 3"/>
          <p:cNvSpPr/>
          <p:nvPr/>
        </p:nvSpPr>
        <p:spPr>
          <a:xfrm>
            <a:off x="822960" y="1828800"/>
            <a:ext cx="10515600" cy="457200"/>
          </a:xfrm>
          <a:prstGeom prst="rect">
            <a:avLst/>
          </a:prstGeom>
          <a:noFill/>
          <a:ln/>
        </p:spPr>
        <p:txBody>
          <a:bodyPr wrap="square" rtlCol="0" anchor="ctr"/>
          <a:lstStyle/>
          <a:p>
            <a:pPr indent="0" marL="0">
              <a:buNone/>
            </a:pPr>
            <a:r>
              <a:rPr lang="en-US" sz="1450" dirty="0">
                <a:solidFill>
                  <a:srgbClr val="D7DEE7"/>
                </a:solidFill>
                <a:latin typeface="Calibri" pitchFamily="34" charset="0"/>
                <a:ea typeface="Calibri" pitchFamily="34" charset="-122"/>
                <a:cs typeface="Calibri" pitchFamily="34" charset="-120"/>
              </a:rPr>
              <a:t>Three shifts, all of them measurable from the audit and cost telemetry the platform already produces.</a:t>
            </a:r>
            <a:endParaRPr lang="en-US" sz="1450" dirty="0"/>
          </a:p>
        </p:txBody>
      </p:sp>
      <p:sp>
        <p:nvSpPr>
          <p:cNvPr id="6" name="Shape 4"/>
          <p:cNvSpPr/>
          <p:nvPr/>
        </p:nvSpPr>
        <p:spPr>
          <a:xfrm>
            <a:off x="822960" y="2514600"/>
            <a:ext cx="3401568" cy="3017520"/>
          </a:xfrm>
          <a:prstGeom prst="roundRect">
            <a:avLst>
              <a:gd name="adj" fmla="val 3333"/>
            </a:avLst>
          </a:prstGeom>
          <a:solidFill>
            <a:srgbClr val="2C3644"/>
          </a:solidFill>
          <a:ln w="12700">
            <a:solidFill>
              <a:srgbClr val="3C4857"/>
            </a:solidFill>
            <a:prstDash val="solid"/>
          </a:ln>
        </p:spPr>
        <p:txBody>
          <a:bodyPr/>
          <a:p/>
        </p:txBody>
      </p:sp>
      <p:sp>
        <p:nvSpPr>
          <p:cNvPr id="7" name="Shape 5"/>
          <p:cNvSpPr/>
          <p:nvPr/>
        </p:nvSpPr>
        <p:spPr>
          <a:xfrm>
            <a:off x="1097280" y="2825496"/>
            <a:ext cx="786384" cy="786384"/>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293876" y="3022092"/>
            <a:ext cx="393192" cy="393192"/>
          </a:xfrm>
          <a:prstGeom prst="rect">
            <a:avLst/>
          </a:prstGeom>
        </p:spPr>
      </p:pic>
      <p:sp>
        <p:nvSpPr>
          <p:cNvPr id="9" name="Text 6"/>
          <p:cNvSpPr/>
          <p:nvPr/>
        </p:nvSpPr>
        <p:spPr>
          <a:xfrm>
            <a:off x="1097280" y="3758184"/>
            <a:ext cx="2852928" cy="457200"/>
          </a:xfrm>
          <a:prstGeom prst="rect">
            <a:avLst/>
          </a:prstGeom>
          <a:noFill/>
          <a:ln/>
        </p:spPr>
        <p:txBody>
          <a:bodyPr wrap="square"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Compliance risk down</a:t>
            </a:r>
            <a:endParaRPr lang="en-US" sz="1750" dirty="0"/>
          </a:p>
        </p:txBody>
      </p:sp>
      <p:sp>
        <p:nvSpPr>
          <p:cNvPr id="10" name="Text 7"/>
          <p:cNvSpPr/>
          <p:nvPr/>
        </p:nvSpPr>
        <p:spPr>
          <a:xfrm>
            <a:off x="1097280" y="4270248"/>
            <a:ext cx="2852928" cy="1143000"/>
          </a:xfrm>
          <a:prstGeom prst="rect">
            <a:avLst/>
          </a:prstGeom>
          <a:noFill/>
          <a:ln/>
        </p:spPr>
        <p:txBody>
          <a:bodyPr wrap="square" rtlCol="0" anchor="ctr"/>
          <a:lstStyle/>
          <a:p>
            <a:pPr indent="0" marL="0">
              <a:lnSpc>
                <a:spcPct val="108000"/>
              </a:lnSpc>
              <a:buNone/>
            </a:pPr>
            <a:r>
              <a:rPr lang="en-US" sz="1250" dirty="0">
                <a:solidFill>
                  <a:srgbClr val="D7DEE7"/>
                </a:solidFill>
                <a:latin typeface="Calibri" pitchFamily="34" charset="0"/>
                <a:ea typeface="Calibri" pitchFamily="34" charset="-122"/>
                <a:cs typeface="Calibri" pitchFamily="34" charset="-120"/>
              </a:rPr>
              <a:t>Violations are caught in the moment, on every call — not in a sampled review weeks later. The rules that catch them are owned by the business.</a:t>
            </a:r>
            <a:endParaRPr lang="en-US" sz="1250" dirty="0"/>
          </a:p>
        </p:txBody>
      </p:sp>
      <p:sp>
        <p:nvSpPr>
          <p:cNvPr id="11" name="Shape 8"/>
          <p:cNvSpPr/>
          <p:nvPr/>
        </p:nvSpPr>
        <p:spPr>
          <a:xfrm>
            <a:off x="4535424" y="2514600"/>
            <a:ext cx="3401568" cy="3017520"/>
          </a:xfrm>
          <a:prstGeom prst="roundRect">
            <a:avLst>
              <a:gd name="adj" fmla="val 3333"/>
            </a:avLst>
          </a:prstGeom>
          <a:solidFill>
            <a:srgbClr val="2C3644"/>
          </a:solidFill>
          <a:ln w="12700">
            <a:solidFill>
              <a:srgbClr val="3C4857"/>
            </a:solidFill>
            <a:prstDash val="solid"/>
          </a:ln>
        </p:spPr>
        <p:txBody>
          <a:bodyPr/>
          <a:p/>
        </p:txBody>
      </p:sp>
      <p:sp>
        <p:nvSpPr>
          <p:cNvPr id="12" name="Shape 9"/>
          <p:cNvSpPr/>
          <p:nvPr/>
        </p:nvSpPr>
        <p:spPr>
          <a:xfrm>
            <a:off x="4809744" y="2825496"/>
            <a:ext cx="786384" cy="786384"/>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3" name="Image 1" descr="preencoded.png">    </p:cNvPr>
          <p:cNvPicPr>
            <a:picLocks noChangeAspect="1"/>
          </p:cNvPicPr>
          <p:nvPr/>
        </p:nvPicPr>
        <p:blipFill>
          <a:blip r:embed="rId2"/>
          <a:stretch>
            <a:fillRect/>
          </a:stretch>
        </p:blipFill>
        <p:spPr>
          <a:xfrm>
            <a:off x="5006340" y="3022092"/>
            <a:ext cx="393192" cy="393192"/>
          </a:xfrm>
          <a:prstGeom prst="rect">
            <a:avLst/>
          </a:prstGeom>
        </p:spPr>
      </p:pic>
      <p:sp>
        <p:nvSpPr>
          <p:cNvPr id="14" name="Text 10"/>
          <p:cNvSpPr/>
          <p:nvPr/>
        </p:nvSpPr>
        <p:spPr>
          <a:xfrm>
            <a:off x="4809744" y="3758184"/>
            <a:ext cx="2852928" cy="457200"/>
          </a:xfrm>
          <a:prstGeom prst="rect">
            <a:avLst/>
          </a:prstGeom>
          <a:noFill/>
          <a:ln/>
        </p:spPr>
        <p:txBody>
          <a:bodyPr wrap="square"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Agents ramp faster</a:t>
            </a:r>
            <a:endParaRPr lang="en-US" sz="1750" dirty="0"/>
          </a:p>
        </p:txBody>
      </p:sp>
      <p:sp>
        <p:nvSpPr>
          <p:cNvPr id="15" name="Text 11"/>
          <p:cNvSpPr/>
          <p:nvPr/>
        </p:nvSpPr>
        <p:spPr>
          <a:xfrm>
            <a:off x="4809744" y="4270248"/>
            <a:ext cx="2852928" cy="1143000"/>
          </a:xfrm>
          <a:prstGeom prst="rect">
            <a:avLst/>
          </a:prstGeom>
          <a:noFill/>
          <a:ln/>
        </p:spPr>
        <p:txBody>
          <a:bodyPr wrap="square" rtlCol="0" anchor="ctr"/>
          <a:lstStyle/>
          <a:p>
            <a:pPr indent="0" marL="0">
              <a:lnSpc>
                <a:spcPct val="108000"/>
              </a:lnSpc>
              <a:buNone/>
            </a:pPr>
            <a:r>
              <a:rPr lang="en-US" sz="1250" dirty="0">
                <a:solidFill>
                  <a:srgbClr val="D7DEE7"/>
                </a:solidFill>
                <a:latin typeface="Calibri" pitchFamily="34" charset="0"/>
                <a:ea typeface="Calibri" pitchFamily="34" charset="-122"/>
                <a:cs typeface="Calibri" pitchFamily="34" charset="-120"/>
              </a:rPr>
              <a:t>Real-time coaching and hands-free data capture from day one. New agents get the guidance a supervisor can't give on every call at once.</a:t>
            </a:r>
            <a:endParaRPr lang="en-US" sz="1250" dirty="0"/>
          </a:p>
        </p:txBody>
      </p:sp>
      <p:sp>
        <p:nvSpPr>
          <p:cNvPr id="16" name="Shape 12"/>
          <p:cNvSpPr/>
          <p:nvPr/>
        </p:nvSpPr>
        <p:spPr>
          <a:xfrm>
            <a:off x="8247888" y="2514600"/>
            <a:ext cx="3401568" cy="3017520"/>
          </a:xfrm>
          <a:prstGeom prst="roundRect">
            <a:avLst>
              <a:gd name="adj" fmla="val 3333"/>
            </a:avLst>
          </a:prstGeom>
          <a:solidFill>
            <a:srgbClr val="2C3644"/>
          </a:solidFill>
          <a:ln w="12700">
            <a:solidFill>
              <a:srgbClr val="3C4857"/>
            </a:solidFill>
            <a:prstDash val="solid"/>
          </a:ln>
        </p:spPr>
        <p:txBody>
          <a:bodyPr/>
          <a:p/>
        </p:txBody>
      </p:sp>
      <p:sp>
        <p:nvSpPr>
          <p:cNvPr id="17" name="Shape 13"/>
          <p:cNvSpPr/>
          <p:nvPr/>
        </p:nvSpPr>
        <p:spPr>
          <a:xfrm>
            <a:off x="8522208" y="2825496"/>
            <a:ext cx="786384" cy="786384"/>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18" name="Image 2" descr="preencoded.png">    </p:cNvPr>
          <p:cNvPicPr>
            <a:picLocks noChangeAspect="1"/>
          </p:cNvPicPr>
          <p:nvPr/>
        </p:nvPicPr>
        <p:blipFill>
          <a:blip r:embed="rId3"/>
          <a:stretch>
            <a:fillRect/>
          </a:stretch>
        </p:blipFill>
        <p:spPr>
          <a:xfrm>
            <a:off x="8718804" y="3022092"/>
            <a:ext cx="393192" cy="393192"/>
          </a:xfrm>
          <a:prstGeom prst="rect">
            <a:avLst/>
          </a:prstGeom>
        </p:spPr>
      </p:pic>
      <p:sp>
        <p:nvSpPr>
          <p:cNvPr id="19" name="Text 14"/>
          <p:cNvSpPr/>
          <p:nvPr/>
        </p:nvSpPr>
        <p:spPr>
          <a:xfrm>
            <a:off x="8522208" y="3758184"/>
            <a:ext cx="2852928" cy="457200"/>
          </a:xfrm>
          <a:prstGeom prst="rect">
            <a:avLst/>
          </a:prstGeom>
          <a:noFill/>
          <a:ln/>
        </p:spPr>
        <p:txBody>
          <a:bodyPr wrap="square"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Supervisors scale</a:t>
            </a:r>
            <a:endParaRPr lang="en-US" sz="1750" dirty="0"/>
          </a:p>
        </p:txBody>
      </p:sp>
      <p:sp>
        <p:nvSpPr>
          <p:cNvPr id="20" name="Text 15"/>
          <p:cNvSpPr/>
          <p:nvPr/>
        </p:nvSpPr>
        <p:spPr>
          <a:xfrm>
            <a:off x="8522208" y="4270248"/>
            <a:ext cx="2852928" cy="1143000"/>
          </a:xfrm>
          <a:prstGeom prst="rect">
            <a:avLst/>
          </a:prstGeom>
          <a:noFill/>
          <a:ln/>
        </p:spPr>
        <p:txBody>
          <a:bodyPr wrap="square" rtlCol="0" anchor="ctr"/>
          <a:lstStyle/>
          <a:p>
            <a:pPr indent="0" marL="0">
              <a:lnSpc>
                <a:spcPct val="108000"/>
              </a:lnSpc>
              <a:buNone/>
            </a:pPr>
            <a:r>
              <a:rPr lang="en-US" sz="1250" dirty="0">
                <a:solidFill>
                  <a:srgbClr val="D7DEE7"/>
                </a:solidFill>
                <a:latin typeface="Calibri" pitchFamily="34" charset="0"/>
                <a:ea typeface="Calibri" pitchFamily="34" charset="-122"/>
                <a:cs typeface="Calibri" pitchFamily="34" charset="-120"/>
              </a:rPr>
              <a:t>One person effectively present on every live call, with AI they govern themselves — coverage without adding headcount.</a:t>
            </a:r>
            <a:endParaRPr lang="en-US" sz="1250" dirty="0"/>
          </a:p>
        </p:txBody>
      </p:sp>
      <p:sp>
        <p:nvSpPr>
          <p:cNvPr id="21" name="Shape 16"/>
          <p:cNvSpPr/>
          <p:nvPr/>
        </p:nvSpPr>
        <p:spPr>
          <a:xfrm>
            <a:off x="822960" y="5806440"/>
            <a:ext cx="10561320" cy="713232"/>
          </a:xfrm>
          <a:prstGeom prst="roundRect">
            <a:avLst>
              <a:gd name="adj" fmla="val 12821"/>
            </a:avLst>
          </a:prstGeom>
          <a:solidFill>
            <a:srgbClr val="E8590C"/>
          </a:solidFill>
          <a:ln/>
        </p:spPr>
        <p:txBody>
          <a:bodyPr/>
          <a:p/>
        </p:txBody>
      </p:sp>
      <p:sp>
        <p:nvSpPr>
          <p:cNvPr id="22" name="Text 17"/>
          <p:cNvSpPr/>
          <p:nvPr/>
        </p:nvSpPr>
        <p:spPr>
          <a:xfrm>
            <a:off x="822960" y="5806440"/>
            <a:ext cx="10561320" cy="713232"/>
          </a:xfrm>
          <a:prstGeom prst="rect">
            <a:avLst/>
          </a:prstGeom>
          <a:noFill/>
          <a:ln/>
        </p:spPr>
        <p:txBody>
          <a:bodyPr wrap="square" rtlCol="0" anchor="ctr"/>
          <a:lstStyle/>
          <a:p>
            <a:pPr algn="ctr" indent="0" marL="0">
              <a:buNone/>
            </a:pPr>
            <a:r>
              <a:rPr lang="en-US" sz="1600" b="1" i="1" dirty="0">
                <a:solidFill>
                  <a:srgbClr val="FFFFFF"/>
                </a:solidFill>
                <a:latin typeface="Calibri" pitchFamily="34" charset="0"/>
                <a:ea typeface="Calibri" pitchFamily="34" charset="-122"/>
                <a:cs typeface="Calibri" pitchFamily="34" charset="-120"/>
              </a:rPr>
              <a:t>“Every conversation coached, supervised, and reviewed — without adding headcount.”</a:t>
            </a:r>
            <a:endParaRPr lang="en-US" sz="1600" dirty="0"/>
          </a:p>
        </p:txBody>
      </p:sp>
    </p:spTree>
  </p:cSld>
  <p:clrMapOvr>
    <a:masterClrMapping/>
  </p:clrMapOvr>
</p:sld>
</file>

<file path=ppt/slides/slide11_b.xml><?xml version="1.0" encoding="utf-8"?>
<p:sld xmlns:a="http://schemas.openxmlformats.org/drawingml/2006/main" xmlns:r="http://schemas.openxmlformats.org/officeDocument/2006/relationships" xmlns:p="http://schemas.openxmlformats.org/presentationml/2006/main">
  <p:cSld name="Slide 11">
    <p:bg>
      <p:bgPr>
        <a:solidFill>
          <a:srgbClr val="222B36"/>
        </a:solidFill>
      </p:bgPr>
    </p:bg>
    <p:spTree>
      <p:nvGrpSpPr>
        <p:cNvPr id="1" name=""/>
        <p:cNvGrpSpPr/>
        <p:nvPr/>
      </p:nvGrpSpPr>
      <p:grpSpPr>
        <a:xfrm>
          <a:off x="0" y="0"/>
          <a:ext cx="0" cy="0"/>
          <a:chOff x="0" y="0"/>
          <a:chExt cx="0" cy="0"/>
        </a:xfrm>
      </p:grpSpPr>
      <p:sp>
        <p:nvSpPr>
          <p:cNvPr id="2" name="Text 0"/>
          <p:cNvSpPr/>
          <p:nvPr/>
        </p:nvSpPr>
        <p:spPr>
          <a:xfrm>
            <a:off x="777240" y="548640"/>
            <a:ext cx="2377440" cy="384048"/>
          </a:xfrm>
          <a:prstGeom prst="roundRect">
            <a:avLst>
              <a:gd name="adj" fmla="val 50000"/>
            </a:avLst>
          </a:prstGeom>
          <a:solidFill>
            <a:srgbClr val="E8590C"/>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MAP IT TO YOU</a:t>
            </a:r>
            <a:endParaRPr lang="en-US" sz="1150" dirty="0"/>
          </a:p>
        </p:txBody>
      </p:sp>
      <p:sp>
        <p:nvSpPr>
          <p:cNvPr id="3" name="Text 1"/>
          <p:cNvSpPr/>
          <p:nvPr/>
        </p:nvSpPr>
        <p:spPr>
          <a:xfrm>
            <a:off x="731520" y="960120"/>
            <a:ext cx="10698480" cy="73152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this looks like in your domain</a:t>
            </a:r>
            <a:endParaRPr lang="en-US" sz="3200" dirty="0"/>
          </a:p>
        </p:txBody>
      </p:sp>
      <p:sp>
        <p:nvSpPr>
          <p:cNvPr id="4" name="Text 2"/>
          <p:cNvSpPr/>
          <p:nvPr/>
        </p:nvSpPr>
        <p:spPr>
          <a:xfrm>
            <a:off x="777240" y="1664208"/>
            <a:ext cx="10515600" cy="457200"/>
          </a:xfrm>
          <a:prstGeom prst="rect">
            <a:avLst/>
          </a:prstGeom>
          <a:noFill/>
          <a:ln/>
        </p:spPr>
        <p:txBody>
          <a:bodyPr wrap="square" rtlCol="0" anchor="ctr"/>
          <a:lstStyle/>
          <a:p>
            <a:pPr indent="0" marL="0">
              <a:buNone/>
            </a:pPr>
            <a:r>
              <a:rPr lang="en-US" sz="1450" dirty="0">
                <a:solidFill>
                  <a:srgbClr val="D7DEE7"/>
                </a:solidFill>
                <a:latin typeface="Calibri" pitchFamily="34" charset="0"/>
                <a:ea typeface="Calibri" pitchFamily="34" charset="-122"/>
                <a:cs typeface="Calibri" pitchFamily="34" charset="-120"/>
              </a:rPr>
              <a:t>Same three pillars — different rules, vocabulary, and data model. Three examples and an invitation:</a:t>
            </a:r>
            <a:endParaRPr lang="en-US" sz="1450" dirty="0"/>
          </a:p>
        </p:txBody>
      </p:sp>
      <p:sp>
        <p:nvSpPr>
          <p:cNvPr id="5" name="Shape 3"/>
          <p:cNvSpPr/>
          <p:nvPr/>
        </p:nvSpPr>
        <p:spPr>
          <a:xfrm>
            <a:off x="777240" y="2331720"/>
            <a:ext cx="2466594" cy="3200400"/>
          </a:xfrm>
          <a:prstGeom prst="roundRect">
            <a:avLst>
              <a:gd name="adj" fmla="val 4078"/>
            </a:avLst>
          </a:prstGeom>
          <a:solidFill>
            <a:srgbClr val="2C3644"/>
          </a:solidFill>
          <a:ln w="12700">
            <a:solidFill>
              <a:srgbClr val="3C4857"/>
            </a:solidFill>
            <a:prstDash val="solid"/>
          </a:ln>
        </p:spPr>
        <p:txBody>
          <a:bodyPr/>
          <a:p/>
        </p:txBody>
      </p:sp>
      <p:sp>
        <p:nvSpPr>
          <p:cNvPr id="6" name="Shape 4"/>
          <p:cNvSpPr/>
          <p:nvPr/>
        </p:nvSpPr>
        <p:spPr>
          <a:xfrm>
            <a:off x="1033272" y="2624328"/>
            <a:ext cx="731520" cy="731520"/>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7" name="Image 0" descr="preencoded.png">    </p:cNvPr>
          <p:cNvPicPr>
            <a:picLocks noChangeAspect="1"/>
          </p:cNvPicPr>
          <p:nvPr/>
        </p:nvPicPr>
        <p:blipFill>
          <a:blip r:embed="rId1"/>
          <a:stretch>
            <a:fillRect/>
          </a:stretch>
        </p:blipFill>
        <p:spPr>
          <a:xfrm>
            <a:off x="1216152" y="2807208"/>
            <a:ext cx="365760" cy="365760"/>
          </a:xfrm>
          <a:prstGeom prst="rect">
            <a:avLst/>
          </a:prstGeom>
        </p:spPr>
      </p:pic>
      <p:sp>
        <p:nvSpPr>
          <p:cNvPr id="8" name="Text 5"/>
          <p:cNvSpPr/>
          <p:nvPr/>
        </p:nvSpPr>
        <p:spPr>
          <a:xfrm>
            <a:off x="1033272" y="3502152"/>
            <a:ext cx="1954530" cy="457200"/>
          </a:xfrm>
          <a:prstGeom prst="rect">
            <a:avLst/>
          </a:prstGeom>
          <a:noFill/>
          <a:ln/>
        </p:spPr>
        <p:txBody>
          <a:bodyPr wrap="square"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Financial services</a:t>
            </a:r>
            <a:endParaRPr lang="en-US" sz="1550" dirty="0"/>
          </a:p>
        </p:txBody>
      </p:sp>
      <p:sp>
        <p:nvSpPr>
          <p:cNvPr id="9" name="Text 6"/>
          <p:cNvSpPr/>
          <p:nvPr/>
        </p:nvSpPr>
        <p:spPr>
          <a:xfrm>
            <a:off x="1033272" y="3977640"/>
            <a:ext cx="1954530" cy="1463040"/>
          </a:xfrm>
          <a:prstGeom prst="rect">
            <a:avLst/>
          </a:prstGeom>
          <a:noFill/>
          <a:ln/>
        </p:spPr>
        <p:txBody>
          <a:bodyPr wrap="square" rtlCol="0" anchor="ctr"/>
          <a:lstStyle/>
          <a:p>
            <a:pPr indent="0" marL="0">
              <a:lnSpc>
                <a:spcPct val="108000"/>
              </a:lnSpc>
              <a:buNone/>
            </a:pPr>
            <a:r>
              <a:rPr lang="en-US" sz="1150" dirty="0">
                <a:solidFill>
                  <a:srgbClr val="D7DEE7"/>
                </a:solidFill>
                <a:latin typeface="Calibri" pitchFamily="34" charset="0"/>
                <a:ea typeface="Calibri" pitchFamily="34" charset="-122"/>
                <a:cs typeface="Calibri" pitchFamily="34" charset="-120"/>
              </a:rPr>
              <a:t>Suitability &amp; disclosure rules enforced live · KYC details captured mid-call · scoring against your regulatory standards</a:t>
            </a:r>
            <a:endParaRPr lang="en-US" sz="1150" dirty="0"/>
          </a:p>
        </p:txBody>
      </p:sp>
      <p:sp>
        <p:nvSpPr>
          <p:cNvPr id="10" name="Shape 7"/>
          <p:cNvSpPr/>
          <p:nvPr/>
        </p:nvSpPr>
        <p:spPr>
          <a:xfrm>
            <a:off x="3499866" y="2331720"/>
            <a:ext cx="2466594" cy="3200400"/>
          </a:xfrm>
          <a:prstGeom prst="roundRect">
            <a:avLst>
              <a:gd name="adj" fmla="val 4078"/>
            </a:avLst>
          </a:prstGeom>
          <a:solidFill>
            <a:srgbClr val="2C3644"/>
          </a:solidFill>
          <a:ln w="12700">
            <a:solidFill>
              <a:srgbClr val="3C4857"/>
            </a:solidFill>
            <a:prstDash val="solid"/>
          </a:ln>
        </p:spPr>
        <p:txBody>
          <a:bodyPr/>
          <a:p/>
        </p:txBody>
      </p:sp>
      <p:sp>
        <p:nvSpPr>
          <p:cNvPr id="11" name="Shape 8"/>
          <p:cNvSpPr/>
          <p:nvPr/>
        </p:nvSpPr>
        <p:spPr>
          <a:xfrm>
            <a:off x="3755898" y="2624328"/>
            <a:ext cx="731520" cy="731520"/>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938778" y="2807208"/>
            <a:ext cx="365760" cy="365760"/>
          </a:xfrm>
          <a:prstGeom prst="rect">
            <a:avLst/>
          </a:prstGeom>
        </p:spPr>
      </p:pic>
      <p:sp>
        <p:nvSpPr>
          <p:cNvPr id="13" name="Text 9"/>
          <p:cNvSpPr/>
          <p:nvPr/>
        </p:nvSpPr>
        <p:spPr>
          <a:xfrm>
            <a:off x="3755898" y="3502152"/>
            <a:ext cx="1954530" cy="457200"/>
          </a:xfrm>
          <a:prstGeom prst="rect">
            <a:avLst/>
          </a:prstGeom>
          <a:noFill/>
          <a:ln/>
        </p:spPr>
        <p:txBody>
          <a:bodyPr wrap="square"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Retail &amp; telecom</a:t>
            </a:r>
            <a:endParaRPr lang="en-US" sz="1550" dirty="0"/>
          </a:p>
        </p:txBody>
      </p:sp>
      <p:sp>
        <p:nvSpPr>
          <p:cNvPr id="14" name="Text 10"/>
          <p:cNvSpPr/>
          <p:nvPr/>
        </p:nvSpPr>
        <p:spPr>
          <a:xfrm>
            <a:off x="3755898" y="3977640"/>
            <a:ext cx="1954530" cy="1463040"/>
          </a:xfrm>
          <a:prstGeom prst="rect">
            <a:avLst/>
          </a:prstGeom>
          <a:noFill/>
          <a:ln/>
        </p:spPr>
        <p:txBody>
          <a:bodyPr wrap="square" rtlCol="0" anchor="ctr"/>
          <a:lstStyle/>
          <a:p>
            <a:pPr indent="0" marL="0">
              <a:lnSpc>
                <a:spcPct val="108000"/>
              </a:lnSpc>
              <a:buNone/>
            </a:pPr>
            <a:r>
              <a:rPr lang="en-US" sz="1150" dirty="0">
                <a:solidFill>
                  <a:srgbClr val="D7DEE7"/>
                </a:solidFill>
                <a:latin typeface="Calibri" pitchFamily="34" charset="0"/>
                <a:ea typeface="Calibri" pitchFamily="34" charset="-122"/>
                <a:cs typeface="Calibri" pitchFamily="34" charset="-120"/>
              </a:rPr>
              <a:t>Offer &amp; claims compliance · churn-save coaching nudges · order and account details auto-captured into the CRM</a:t>
            </a:r>
            <a:endParaRPr lang="en-US" sz="1150" dirty="0"/>
          </a:p>
        </p:txBody>
      </p:sp>
      <p:sp>
        <p:nvSpPr>
          <p:cNvPr id="15" name="Shape 11"/>
          <p:cNvSpPr/>
          <p:nvPr/>
        </p:nvSpPr>
        <p:spPr>
          <a:xfrm>
            <a:off x="6222492" y="2331720"/>
            <a:ext cx="2466594" cy="3200400"/>
          </a:xfrm>
          <a:prstGeom prst="roundRect">
            <a:avLst>
              <a:gd name="adj" fmla="val 4078"/>
            </a:avLst>
          </a:prstGeom>
          <a:solidFill>
            <a:srgbClr val="2C3644"/>
          </a:solidFill>
          <a:ln w="12700">
            <a:solidFill>
              <a:srgbClr val="3C4857"/>
            </a:solidFill>
            <a:prstDash val="solid"/>
          </a:ln>
        </p:spPr>
        <p:txBody>
          <a:bodyPr/>
          <a:p/>
        </p:txBody>
      </p:sp>
      <p:sp>
        <p:nvSpPr>
          <p:cNvPr id="16" name="Shape 12"/>
          <p:cNvSpPr/>
          <p:nvPr/>
        </p:nvSpPr>
        <p:spPr>
          <a:xfrm>
            <a:off x="6478524" y="2624328"/>
            <a:ext cx="731520" cy="731520"/>
          </a:xfrm>
          <a:prstGeom prst="ellipse">
            <a:avLst/>
          </a:prstGeom>
          <a:solidFill>
            <a:srgbClr val="F2A541"/>
          </a:solidFill>
          <a:ln/>
          <a:effectLst>
            <a:outerShdw sx="100000" sy="100000" kx="0" ky="0" algn="bl" rotWithShape="0" blurRad="127000" dist="38100" dir="5400000">
              <a:srgbClr val="1A2027">
                <a:alpha val="22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661404" y="2807208"/>
            <a:ext cx="365760" cy="365760"/>
          </a:xfrm>
          <a:prstGeom prst="rect">
            <a:avLst/>
          </a:prstGeom>
        </p:spPr>
      </p:pic>
      <p:sp>
        <p:nvSpPr>
          <p:cNvPr id="18" name="Text 13"/>
          <p:cNvSpPr/>
          <p:nvPr/>
        </p:nvSpPr>
        <p:spPr>
          <a:xfrm>
            <a:off x="6478524" y="3502152"/>
            <a:ext cx="1954530" cy="457200"/>
          </a:xfrm>
          <a:prstGeom prst="rect">
            <a:avLst/>
          </a:prstGeom>
          <a:noFill/>
          <a:ln/>
        </p:spPr>
        <p:txBody>
          <a:bodyPr wrap="square"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Collections &amp; outreach</a:t>
            </a:r>
            <a:endParaRPr lang="en-US" sz="1550" dirty="0"/>
          </a:p>
        </p:txBody>
      </p:sp>
      <p:sp>
        <p:nvSpPr>
          <p:cNvPr id="19" name="Text 14"/>
          <p:cNvSpPr/>
          <p:nvPr/>
        </p:nvSpPr>
        <p:spPr>
          <a:xfrm>
            <a:off x="6478524" y="3977640"/>
            <a:ext cx="1954530" cy="1463040"/>
          </a:xfrm>
          <a:prstGeom prst="rect">
            <a:avLst/>
          </a:prstGeom>
          <a:noFill/>
          <a:ln/>
        </p:spPr>
        <p:txBody>
          <a:bodyPr wrap="square" rtlCol="0" anchor="ctr"/>
          <a:lstStyle/>
          <a:p>
            <a:pPr indent="0" marL="0">
              <a:lnSpc>
                <a:spcPct val="108000"/>
              </a:lnSpc>
              <a:buNone/>
            </a:pPr>
            <a:r>
              <a:rPr lang="en-US" sz="1150" dirty="0">
                <a:solidFill>
                  <a:srgbClr val="D7DEE7"/>
                </a:solidFill>
                <a:latin typeface="Calibri" pitchFamily="34" charset="0"/>
                <a:ea typeface="Calibri" pitchFamily="34" charset="-122"/>
                <a:cs typeface="Calibri" pitchFamily="34" charset="-120"/>
              </a:rPr>
              <a:t>Contact-practice rules enforced in real time · required-disclosure checklists · dispute and hardship detection</a:t>
            </a:r>
            <a:endParaRPr lang="en-US" sz="1150" dirty="0"/>
          </a:p>
        </p:txBody>
      </p:sp>
      <p:sp>
        <p:nvSpPr>
          <p:cNvPr id="20" name="Shape 15"/>
          <p:cNvSpPr/>
          <p:nvPr/>
        </p:nvSpPr>
        <p:spPr>
          <a:xfrm>
            <a:off x="8945118" y="2331720"/>
            <a:ext cx="2466594" cy="3200400"/>
          </a:xfrm>
          <a:prstGeom prst="roundRect">
            <a:avLst>
              <a:gd name="adj" fmla="val 4078"/>
            </a:avLst>
          </a:prstGeom>
          <a:solidFill>
            <a:srgbClr val="2C3644"/>
          </a:solidFill>
          <a:ln w="22225">
            <a:solidFill>
              <a:srgbClr val="E8590C"/>
            </a:solidFill>
            <a:prstDash val="solid"/>
          </a:ln>
        </p:spPr>
        <p:txBody>
          <a:bodyPr/>
          <a:p/>
        </p:txBody>
      </p:sp>
      <p:sp>
        <p:nvSpPr>
          <p:cNvPr id="21" name="Shape 16"/>
          <p:cNvSpPr/>
          <p:nvPr/>
        </p:nvSpPr>
        <p:spPr>
          <a:xfrm>
            <a:off x="9201150" y="2624328"/>
            <a:ext cx="731520" cy="731520"/>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384030" y="2807208"/>
            <a:ext cx="365760" cy="365760"/>
          </a:xfrm>
          <a:prstGeom prst="rect">
            <a:avLst/>
          </a:prstGeom>
        </p:spPr>
      </p:pic>
      <p:sp>
        <p:nvSpPr>
          <p:cNvPr id="23" name="Text 17"/>
          <p:cNvSpPr/>
          <p:nvPr/>
        </p:nvSpPr>
        <p:spPr>
          <a:xfrm>
            <a:off x="9201150" y="3502152"/>
            <a:ext cx="1954530" cy="457200"/>
          </a:xfrm>
          <a:prstGeom prst="rect">
            <a:avLst/>
          </a:prstGeom>
          <a:noFill/>
          <a:ln/>
        </p:spPr>
        <p:txBody>
          <a:bodyPr wrap="square"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Your domain</a:t>
            </a:r>
            <a:endParaRPr lang="en-US" sz="1550" dirty="0"/>
          </a:p>
        </p:txBody>
      </p:sp>
      <p:sp>
        <p:nvSpPr>
          <p:cNvPr id="24" name="Text 18"/>
          <p:cNvSpPr/>
          <p:nvPr/>
        </p:nvSpPr>
        <p:spPr>
          <a:xfrm>
            <a:off x="9201150" y="3977640"/>
            <a:ext cx="1954530" cy="1463040"/>
          </a:xfrm>
          <a:prstGeom prst="rect">
            <a:avLst/>
          </a:prstGeom>
          <a:noFill/>
          <a:ln/>
        </p:spPr>
        <p:txBody>
          <a:bodyPr wrap="square" rtlCol="0" anchor="ctr"/>
          <a:lstStyle/>
          <a:p>
            <a:pPr indent="0" marL="0">
              <a:lnSpc>
                <a:spcPct val="108000"/>
              </a:lnSpc>
              <a:buNone/>
            </a:pPr>
            <a:r>
              <a:rPr lang="en-US" sz="1150" dirty="0">
                <a:solidFill>
                  <a:srgbClr val="D7DEE7"/>
                </a:solidFill>
                <a:latin typeface="Calibri" pitchFamily="34" charset="0"/>
                <a:ea typeface="Calibri" pitchFamily="34" charset="-122"/>
                <a:cs typeface="Calibri" pitchFamily="34" charset="-120"/>
              </a:rPr>
              <a:t>Bring your compliance policies, your coaching playbook, your QA scoring criteria — the three pillars stay the same.</a:t>
            </a:r>
            <a:endParaRPr lang="en-US" sz="1150" dirty="0"/>
          </a:p>
        </p:txBody>
      </p:sp>
      <p:sp>
        <p:nvSpPr>
          <p:cNvPr id="25" name="Text 19"/>
          <p:cNvSpPr/>
          <p:nvPr/>
        </p:nvSpPr>
        <p:spPr>
          <a:xfrm>
            <a:off x="777240" y="5897880"/>
            <a:ext cx="10607040" cy="457200"/>
          </a:xfrm>
          <a:prstGeom prst="rect">
            <a:avLst/>
          </a:prstGeom>
          <a:noFill/>
          <a:ln/>
        </p:spPr>
        <p:txBody>
          <a:bodyPr wrap="square" rtlCol="0" anchor="ctr"/>
          <a:lstStyle/>
          <a:p>
            <a:pPr algn="ctr" indent="0" marL="0">
              <a:buNone/>
            </a:pPr>
            <a:r>
              <a:rPr lang="en-US" sz="1550" b="1" i="1" dirty="0">
                <a:solidFill>
                  <a:srgbClr val="F98E54"/>
                </a:solidFill>
                <a:latin typeface="Calibri" pitchFamily="34" charset="0"/>
                <a:ea typeface="Calibri" pitchFamily="34" charset="-122"/>
                <a:cs typeface="Calibri" pitchFamily="34" charset="-120"/>
              </a:rPr>
              <a:t>Which pillar would move the needle first in your operation?</a:t>
            </a:r>
            <a:endParaRPr lang="en-US" sz="1550" dirty="0"/>
          </a:p>
        </p:txBody>
      </p:sp>
    </p:spTree>
  </p:cSld>
  <p:clrMapOvr>
    <a:masterClrMapping/>
  </p:clrMapOvr>
</p:sld>
</file>

<file path=ppt/slides/slide12_b.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2194560" cy="384048"/>
          </a:xfrm>
          <a:prstGeom prst="roundRect">
            <a:avLst>
              <a:gd name="adj" fmla="val 50000"/>
            </a:avLst>
          </a:prstGeom>
          <a:solidFill>
            <a:srgbClr val="222B36"/>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ARCHITECTURE</a:t>
            </a:r>
            <a:endParaRPr lang="en-US" sz="1150" dirty="0"/>
          </a:p>
        </p:txBody>
      </p:sp>
      <p:sp>
        <p:nvSpPr>
          <p:cNvPr id="3" name="Text 1"/>
          <p:cNvSpPr/>
          <p:nvPr/>
        </p:nvSpPr>
        <p:spPr>
          <a:xfrm>
            <a:off x="731520" y="914400"/>
            <a:ext cx="10698480" cy="658368"/>
          </a:xfrm>
          <a:prstGeom prst="rect">
            <a:avLst/>
          </a:prstGeom>
          <a:noFill/>
          <a:ln/>
        </p:spPr>
        <p:txBody>
          <a:bodyPr wrap="square" rtlCol="0" anchor="ctr"/>
          <a:lstStyle/>
          <a:p>
            <a:pPr indent="0" marL="0">
              <a:buNone/>
            </a:pPr>
            <a:r>
              <a:rPr lang="en-US" sz="3000" b="1" dirty="0">
                <a:solidFill>
                  <a:srgbClr val="212933"/>
                </a:solidFill>
                <a:latin typeface="Calibri" pitchFamily="34" charset="0"/>
                <a:ea typeface="Calibri" pitchFamily="34" charset="-122"/>
                <a:cs typeface="Calibri" pitchFamily="34" charset="-120"/>
              </a:rPr>
              <a:t>Built from domain-agnostic blocks</a:t>
            </a:r>
            <a:endParaRPr lang="en-US" sz="3000" dirty="0"/>
          </a:p>
        </p:txBody>
      </p:sp>
      <p:sp>
        <p:nvSpPr>
          <p:cNvPr id="4" name="Shape 2"/>
          <p:cNvSpPr/>
          <p:nvPr/>
        </p:nvSpPr>
        <p:spPr>
          <a:xfrm>
            <a:off x="777240" y="1828800"/>
            <a:ext cx="3401568" cy="1737360"/>
          </a:xfrm>
          <a:prstGeom prst="roundRect">
            <a:avLst>
              <a:gd name="adj" fmla="val 5789"/>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5" name="Shape 3"/>
          <p:cNvSpPr/>
          <p:nvPr/>
        </p:nvSpPr>
        <p:spPr>
          <a:xfrm>
            <a:off x="1033272" y="2103120"/>
            <a:ext cx="676656" cy="676656"/>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202436" y="2272284"/>
            <a:ext cx="338328" cy="338328"/>
          </a:xfrm>
          <a:prstGeom prst="rect">
            <a:avLst/>
          </a:prstGeom>
        </p:spPr>
      </p:pic>
      <p:sp>
        <p:nvSpPr>
          <p:cNvPr id="7" name="Text 4"/>
          <p:cNvSpPr/>
          <p:nvPr/>
        </p:nvSpPr>
        <p:spPr>
          <a:xfrm>
            <a:off x="1837944" y="2103120"/>
            <a:ext cx="2167128" cy="676656"/>
          </a:xfrm>
          <a:prstGeom prst="rect">
            <a:avLst/>
          </a:prstGeom>
          <a:noFill/>
          <a:ln/>
        </p:spPr>
        <p:txBody>
          <a:bodyPr wrap="square" lIns="0" tIns="0" rIns="0" bIns="0" rtlCol="0" anchor="ctr"/>
          <a:lstStyle/>
          <a:p>
            <a:pPr indent="0" marL="0">
              <a:lnSpc>
                <a:spcPct val="95000"/>
              </a:lnSpc>
              <a:buNone/>
            </a:pPr>
            <a:r>
              <a:rPr lang="en-US" sz="1450" b="1" dirty="0">
                <a:solidFill>
                  <a:srgbClr val="212933"/>
                </a:solidFill>
                <a:latin typeface="Calibri" pitchFamily="34" charset="0"/>
                <a:ea typeface="Calibri" pitchFamily="34" charset="-122"/>
                <a:cs typeface="Calibri" pitchFamily="34" charset="-120"/>
              </a:rPr>
              <a:t>Configurable rules engines</a:t>
            </a:r>
            <a:endParaRPr lang="en-US" sz="1450" dirty="0"/>
          </a:p>
        </p:txBody>
      </p:sp>
      <p:sp>
        <p:nvSpPr>
          <p:cNvPr id="8" name="Text 5"/>
          <p:cNvSpPr/>
          <p:nvPr/>
        </p:nvSpPr>
        <p:spPr>
          <a:xfrm>
            <a:off x="1051560" y="2889504"/>
            <a:ext cx="2852928" cy="594360"/>
          </a:xfrm>
          <a:prstGeom prst="rect">
            <a:avLst/>
          </a:prstGeom>
          <a:noFill/>
          <a:ln/>
        </p:spPr>
        <p:txBody>
          <a:bodyPr wrap="square" rtlCol="0" anchor="ctr"/>
          <a:lstStyle/>
          <a:p>
            <a:pPr indent="0" marL="0">
              <a:lnSpc>
                <a:spcPct val="104000"/>
              </a:lnSpc>
              <a:buNone/>
            </a:pPr>
            <a:r>
              <a:rPr lang="en-US" sz="1050" dirty="0">
                <a:solidFill>
                  <a:srgbClr val="5C6B7A"/>
                </a:solidFill>
                <a:latin typeface="Calibri" pitchFamily="34" charset="0"/>
                <a:ea typeface="Calibri" pitchFamily="34" charset="-122"/>
                <a:cs typeface="Calibri" pitchFamily="34" charset="-120"/>
              </a:rPr>
              <a:t>Compliance phrases &amp; patterns, coaching behaviors, QA scoring criteria — admin-edited, hot-reloaded, versioned</a:t>
            </a:r>
            <a:endParaRPr lang="en-US" sz="1050" dirty="0"/>
          </a:p>
        </p:txBody>
      </p:sp>
      <p:sp>
        <p:nvSpPr>
          <p:cNvPr id="9" name="Shape 6"/>
          <p:cNvSpPr/>
          <p:nvPr/>
        </p:nvSpPr>
        <p:spPr>
          <a:xfrm>
            <a:off x="4489704" y="1828800"/>
            <a:ext cx="3401568" cy="1737360"/>
          </a:xfrm>
          <a:prstGeom prst="roundRect">
            <a:avLst>
              <a:gd name="adj" fmla="val 5789"/>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10" name="Shape 7"/>
          <p:cNvSpPr/>
          <p:nvPr/>
        </p:nvSpPr>
        <p:spPr>
          <a:xfrm>
            <a:off x="4745736" y="2103120"/>
            <a:ext cx="676656" cy="676656"/>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914900" y="2272284"/>
            <a:ext cx="338328" cy="338328"/>
          </a:xfrm>
          <a:prstGeom prst="rect">
            <a:avLst/>
          </a:prstGeom>
        </p:spPr>
      </p:pic>
      <p:sp>
        <p:nvSpPr>
          <p:cNvPr id="12" name="Text 8"/>
          <p:cNvSpPr/>
          <p:nvPr/>
        </p:nvSpPr>
        <p:spPr>
          <a:xfrm>
            <a:off x="5550408" y="2103120"/>
            <a:ext cx="2167128" cy="676656"/>
          </a:xfrm>
          <a:prstGeom prst="rect">
            <a:avLst/>
          </a:prstGeom>
          <a:noFill/>
          <a:ln/>
        </p:spPr>
        <p:txBody>
          <a:bodyPr wrap="square" lIns="0" tIns="0" rIns="0" bIns="0" rtlCol="0" anchor="ctr"/>
          <a:lstStyle/>
          <a:p>
            <a:pPr indent="0" marL="0">
              <a:lnSpc>
                <a:spcPct val="95000"/>
              </a:lnSpc>
              <a:buNone/>
            </a:pPr>
            <a:r>
              <a:rPr lang="en-US" sz="1450" b="1" dirty="0">
                <a:solidFill>
                  <a:srgbClr val="212933"/>
                </a:solidFill>
                <a:latin typeface="Calibri" pitchFamily="34" charset="0"/>
                <a:ea typeface="Calibri" pitchFamily="34" charset="-122"/>
                <a:cs typeface="Calibri" pitchFamily="34" charset="-120"/>
              </a:rPr>
              <a:t>Structured LLM outputs</a:t>
            </a:r>
            <a:endParaRPr lang="en-US" sz="1450" dirty="0"/>
          </a:p>
        </p:txBody>
      </p:sp>
      <p:sp>
        <p:nvSpPr>
          <p:cNvPr id="13" name="Text 9"/>
          <p:cNvSpPr/>
          <p:nvPr/>
        </p:nvSpPr>
        <p:spPr>
          <a:xfrm>
            <a:off x="4764024" y="2889504"/>
            <a:ext cx="2852928" cy="594360"/>
          </a:xfrm>
          <a:prstGeom prst="rect">
            <a:avLst/>
          </a:prstGeom>
          <a:noFill/>
          <a:ln/>
        </p:spPr>
        <p:txBody>
          <a:bodyPr wrap="square" rtlCol="0" anchor="ctr"/>
          <a:lstStyle/>
          <a:p>
            <a:pPr indent="0" marL="0">
              <a:lnSpc>
                <a:spcPct val="104000"/>
              </a:lnSpc>
              <a:buNone/>
            </a:pPr>
            <a:r>
              <a:rPr lang="en-US" sz="1050" dirty="0">
                <a:solidFill>
                  <a:srgbClr val="5C6B7A"/>
                </a:solidFill>
                <a:latin typeface="Calibri" pitchFamily="34" charset="0"/>
                <a:ea typeface="Calibri" pitchFamily="34" charset="-122"/>
                <a:cs typeface="Calibri" pitchFamily="34" charset="-120"/>
              </a:rPr>
              <a:t>Typed, schema-validated responses; merged calls per window — predictable cost and latency</a:t>
            </a:r>
            <a:endParaRPr lang="en-US" sz="1050" dirty="0"/>
          </a:p>
        </p:txBody>
      </p:sp>
      <p:sp>
        <p:nvSpPr>
          <p:cNvPr id="14" name="Shape 10"/>
          <p:cNvSpPr/>
          <p:nvPr/>
        </p:nvSpPr>
        <p:spPr>
          <a:xfrm>
            <a:off x="8202168" y="1828800"/>
            <a:ext cx="3401568" cy="1737360"/>
          </a:xfrm>
          <a:prstGeom prst="roundRect">
            <a:avLst>
              <a:gd name="adj" fmla="val 5789"/>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15" name="Shape 11"/>
          <p:cNvSpPr/>
          <p:nvPr/>
        </p:nvSpPr>
        <p:spPr>
          <a:xfrm>
            <a:off x="8458200" y="2103120"/>
            <a:ext cx="676656" cy="676656"/>
          </a:xfrm>
          <a:prstGeom prst="ellipse">
            <a:avLst/>
          </a:prstGeom>
          <a:solidFill>
            <a:srgbClr val="C0392B"/>
          </a:solidFill>
          <a:ln/>
          <a:effectLst>
            <a:outerShdw sx="100000" sy="100000" kx="0" ky="0" algn="bl" rotWithShape="0" blurRad="127000" dist="38100" dir="5400000">
              <a:srgbClr val="1A2027">
                <a:alpha val="22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627364" y="2272284"/>
            <a:ext cx="338328" cy="338328"/>
          </a:xfrm>
          <a:prstGeom prst="rect">
            <a:avLst/>
          </a:prstGeom>
        </p:spPr>
      </p:pic>
      <p:sp>
        <p:nvSpPr>
          <p:cNvPr id="17" name="Text 12"/>
          <p:cNvSpPr/>
          <p:nvPr/>
        </p:nvSpPr>
        <p:spPr>
          <a:xfrm>
            <a:off x="9262872" y="2103120"/>
            <a:ext cx="2167128" cy="676656"/>
          </a:xfrm>
          <a:prstGeom prst="rect">
            <a:avLst/>
          </a:prstGeom>
          <a:noFill/>
          <a:ln/>
        </p:spPr>
        <p:txBody>
          <a:bodyPr wrap="square" lIns="0" tIns="0" rIns="0" bIns="0" rtlCol="0" anchor="ctr"/>
          <a:lstStyle/>
          <a:p>
            <a:pPr indent="0" marL="0">
              <a:lnSpc>
                <a:spcPct val="95000"/>
              </a:lnSpc>
              <a:buNone/>
            </a:pPr>
            <a:r>
              <a:rPr lang="en-US" sz="1450" b="1" dirty="0">
                <a:solidFill>
                  <a:srgbClr val="212933"/>
                </a:solidFill>
                <a:latin typeface="Calibri" pitchFamily="34" charset="0"/>
                <a:ea typeface="Calibri" pitchFamily="34" charset="-122"/>
                <a:cs typeface="Calibri" pitchFamily="34" charset="-120"/>
              </a:rPr>
              <a:t>Real-time event streaming</a:t>
            </a:r>
            <a:endParaRPr lang="en-US" sz="1450" dirty="0"/>
          </a:p>
        </p:txBody>
      </p:sp>
      <p:sp>
        <p:nvSpPr>
          <p:cNvPr id="18" name="Text 13"/>
          <p:cNvSpPr/>
          <p:nvPr/>
        </p:nvSpPr>
        <p:spPr>
          <a:xfrm>
            <a:off x="8476488" y="2889504"/>
            <a:ext cx="2852928" cy="594360"/>
          </a:xfrm>
          <a:prstGeom prst="rect">
            <a:avLst/>
          </a:prstGeom>
          <a:noFill/>
          <a:ln/>
        </p:spPr>
        <p:txBody>
          <a:bodyPr wrap="square" rtlCol="0" anchor="ctr"/>
          <a:lstStyle/>
          <a:p>
            <a:pPr indent="0" marL="0">
              <a:lnSpc>
                <a:spcPct val="104000"/>
              </a:lnSpc>
              <a:buNone/>
            </a:pPr>
            <a:r>
              <a:rPr lang="en-US" sz="1050" dirty="0">
                <a:solidFill>
                  <a:srgbClr val="5C6B7A"/>
                </a:solidFill>
                <a:latin typeface="Calibri" pitchFamily="34" charset="0"/>
                <a:ea typeface="Calibri" pitchFamily="34" charset="-122"/>
                <a:cs typeface="Calibri" pitchFamily="34" charset="-120"/>
              </a:rPr>
              <a:t>Transcript, alerts, sentiment, coaching pushed live to every screen that needs them</a:t>
            </a:r>
            <a:endParaRPr lang="en-US" sz="1050" dirty="0"/>
          </a:p>
        </p:txBody>
      </p:sp>
      <p:sp>
        <p:nvSpPr>
          <p:cNvPr id="19" name="Shape 14"/>
          <p:cNvSpPr/>
          <p:nvPr/>
        </p:nvSpPr>
        <p:spPr>
          <a:xfrm>
            <a:off x="777240" y="3840480"/>
            <a:ext cx="3401568" cy="1737360"/>
          </a:xfrm>
          <a:prstGeom prst="roundRect">
            <a:avLst>
              <a:gd name="adj" fmla="val 5789"/>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0" name="Shape 15"/>
          <p:cNvSpPr/>
          <p:nvPr/>
        </p:nvSpPr>
        <p:spPr>
          <a:xfrm>
            <a:off x="1033272" y="4114800"/>
            <a:ext cx="676656" cy="676656"/>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1202436" y="4283964"/>
            <a:ext cx="338328" cy="338328"/>
          </a:xfrm>
          <a:prstGeom prst="rect">
            <a:avLst/>
          </a:prstGeom>
        </p:spPr>
      </p:pic>
      <p:sp>
        <p:nvSpPr>
          <p:cNvPr id="22" name="Text 16"/>
          <p:cNvSpPr/>
          <p:nvPr/>
        </p:nvSpPr>
        <p:spPr>
          <a:xfrm>
            <a:off x="1837944" y="4114800"/>
            <a:ext cx="2167128" cy="676656"/>
          </a:xfrm>
          <a:prstGeom prst="rect">
            <a:avLst/>
          </a:prstGeom>
          <a:noFill/>
          <a:ln/>
        </p:spPr>
        <p:txBody>
          <a:bodyPr wrap="square" lIns="0" tIns="0" rIns="0" bIns="0" rtlCol="0" anchor="ctr"/>
          <a:lstStyle/>
          <a:p>
            <a:pPr indent="0" marL="0">
              <a:lnSpc>
                <a:spcPct val="95000"/>
              </a:lnSpc>
              <a:buNone/>
            </a:pPr>
            <a:r>
              <a:rPr lang="en-US" sz="1450" b="1" dirty="0">
                <a:solidFill>
                  <a:srgbClr val="212933"/>
                </a:solidFill>
                <a:latin typeface="Calibri" pitchFamily="34" charset="0"/>
                <a:ea typeface="Calibri" pitchFamily="34" charset="-122"/>
                <a:cs typeface="Calibri" pitchFamily="34" charset="-120"/>
              </a:rPr>
              <a:t>Human-in-the-loop patterns</a:t>
            </a:r>
            <a:endParaRPr lang="en-US" sz="1450" dirty="0"/>
          </a:p>
        </p:txBody>
      </p:sp>
      <p:sp>
        <p:nvSpPr>
          <p:cNvPr id="23" name="Text 17"/>
          <p:cNvSpPr/>
          <p:nvPr/>
        </p:nvSpPr>
        <p:spPr>
          <a:xfrm>
            <a:off x="1051560" y="4901184"/>
            <a:ext cx="2852928" cy="594360"/>
          </a:xfrm>
          <a:prstGeom prst="rect">
            <a:avLst/>
          </a:prstGeom>
          <a:noFill/>
          <a:ln/>
        </p:spPr>
        <p:txBody>
          <a:bodyPr wrap="square" rtlCol="0" anchor="ctr"/>
          <a:lstStyle/>
          <a:p>
            <a:pPr indent="0" marL="0">
              <a:lnSpc>
                <a:spcPct val="104000"/>
              </a:lnSpc>
              <a:buNone/>
            </a:pPr>
            <a:r>
              <a:rPr lang="en-US" sz="1050" dirty="0">
                <a:solidFill>
                  <a:srgbClr val="5C6B7A"/>
                </a:solidFill>
                <a:latin typeface="Calibri" pitchFamily="34" charset="0"/>
                <a:ea typeface="Calibri" pitchFamily="34" charset="-122"/>
                <a:cs typeface="Calibri" pitchFamily="34" charset="-120"/>
              </a:rPr>
              <a:t>Draft → approve → execute, with opt-in Auto-Pilot; every action attributable</a:t>
            </a:r>
            <a:endParaRPr lang="en-US" sz="1050" dirty="0"/>
          </a:p>
        </p:txBody>
      </p:sp>
      <p:sp>
        <p:nvSpPr>
          <p:cNvPr id="24" name="Shape 18"/>
          <p:cNvSpPr/>
          <p:nvPr/>
        </p:nvSpPr>
        <p:spPr>
          <a:xfrm>
            <a:off x="4489704" y="3840480"/>
            <a:ext cx="3401568" cy="1737360"/>
          </a:xfrm>
          <a:prstGeom prst="roundRect">
            <a:avLst>
              <a:gd name="adj" fmla="val 5789"/>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25" name="Shape 19"/>
          <p:cNvSpPr/>
          <p:nvPr/>
        </p:nvSpPr>
        <p:spPr>
          <a:xfrm>
            <a:off x="4745736" y="4114800"/>
            <a:ext cx="676656" cy="676656"/>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914900" y="4283964"/>
            <a:ext cx="338328" cy="338328"/>
          </a:xfrm>
          <a:prstGeom prst="rect">
            <a:avLst/>
          </a:prstGeom>
        </p:spPr>
      </p:pic>
      <p:sp>
        <p:nvSpPr>
          <p:cNvPr id="27" name="Text 20"/>
          <p:cNvSpPr/>
          <p:nvPr/>
        </p:nvSpPr>
        <p:spPr>
          <a:xfrm>
            <a:off x="5550408" y="4114800"/>
            <a:ext cx="2167128" cy="676656"/>
          </a:xfrm>
          <a:prstGeom prst="rect">
            <a:avLst/>
          </a:prstGeom>
          <a:noFill/>
          <a:ln/>
        </p:spPr>
        <p:txBody>
          <a:bodyPr wrap="square" lIns="0" tIns="0" rIns="0" bIns="0" rtlCol="0" anchor="ctr"/>
          <a:lstStyle/>
          <a:p>
            <a:pPr indent="0" marL="0">
              <a:lnSpc>
                <a:spcPct val="95000"/>
              </a:lnSpc>
              <a:buNone/>
            </a:pPr>
            <a:r>
              <a:rPr lang="en-US" sz="1450" b="1" dirty="0">
                <a:solidFill>
                  <a:srgbClr val="212933"/>
                </a:solidFill>
                <a:latin typeface="Calibri" pitchFamily="34" charset="0"/>
                <a:ea typeface="Calibri" pitchFamily="34" charset="-122"/>
                <a:cs typeface="Calibri" pitchFamily="34" charset="-120"/>
              </a:rPr>
              <a:t>Tool-using agent framework</a:t>
            </a:r>
            <a:endParaRPr lang="en-US" sz="1450" dirty="0"/>
          </a:p>
        </p:txBody>
      </p:sp>
      <p:sp>
        <p:nvSpPr>
          <p:cNvPr id="28" name="Text 21"/>
          <p:cNvSpPr/>
          <p:nvPr/>
        </p:nvSpPr>
        <p:spPr>
          <a:xfrm>
            <a:off x="4764024" y="4901184"/>
            <a:ext cx="2852928" cy="594360"/>
          </a:xfrm>
          <a:prstGeom prst="rect">
            <a:avLst/>
          </a:prstGeom>
          <a:noFill/>
          <a:ln/>
        </p:spPr>
        <p:txBody>
          <a:bodyPr wrap="square" rtlCol="0" anchor="ctr"/>
          <a:lstStyle/>
          <a:p>
            <a:pPr indent="0" marL="0">
              <a:lnSpc>
                <a:spcPct val="104000"/>
              </a:lnSpc>
              <a:buNone/>
            </a:pPr>
            <a:r>
              <a:rPr lang="en-US" sz="1050" dirty="0">
                <a:solidFill>
                  <a:srgbClr val="5C6B7A"/>
                </a:solidFill>
                <a:latin typeface="Calibri" pitchFamily="34" charset="0"/>
                <a:ea typeface="Calibri" pitchFamily="34" charset="-122"/>
                <a:cs typeface="Calibri" pitchFamily="34" charset="-120"/>
              </a:rPr>
              <a:t>23 tools in the reference build — swap the toolset to swap the domain</a:t>
            </a:r>
            <a:endParaRPr lang="en-US" sz="1050" dirty="0"/>
          </a:p>
        </p:txBody>
      </p:sp>
      <p:sp>
        <p:nvSpPr>
          <p:cNvPr id="29" name="Shape 22"/>
          <p:cNvSpPr/>
          <p:nvPr/>
        </p:nvSpPr>
        <p:spPr>
          <a:xfrm>
            <a:off x="8202168" y="3840480"/>
            <a:ext cx="3401568" cy="1737360"/>
          </a:xfrm>
          <a:prstGeom prst="roundRect">
            <a:avLst>
              <a:gd name="adj" fmla="val 5789"/>
            </a:avLst>
          </a:prstGeom>
          <a:solidFill>
            <a:srgbClr val="F5F7F9"/>
          </a:solidFill>
          <a:ln w="12700">
            <a:solidFill>
              <a:srgbClr val="E0E5EA"/>
            </a:solidFill>
            <a:prstDash val="solid"/>
          </a:ln>
          <a:effectLst>
            <a:outerShdw sx="100000" sy="100000" kx="0" ky="0" algn="bl" rotWithShape="0" blurRad="152400" dist="38100" dir="5400000">
              <a:srgbClr val="1A2027">
                <a:alpha val="12000"/>
              </a:srgbClr>
            </a:outerShdw>
          </a:effectLst>
        </p:spPr>
        <p:txBody>
          <a:bodyPr/>
          <a:p/>
        </p:txBody>
      </p:sp>
      <p:sp>
        <p:nvSpPr>
          <p:cNvPr id="30" name="Shape 23"/>
          <p:cNvSpPr/>
          <p:nvPr/>
        </p:nvSpPr>
        <p:spPr>
          <a:xfrm>
            <a:off x="8458200" y="4114800"/>
            <a:ext cx="676656" cy="676656"/>
          </a:xfrm>
          <a:prstGeom prst="ellipse">
            <a:avLst/>
          </a:prstGeom>
          <a:solidFill>
            <a:srgbClr val="F2A541"/>
          </a:solidFill>
          <a:ln/>
          <a:effectLst>
            <a:outerShdw sx="100000" sy="100000" kx="0" ky="0" algn="bl" rotWithShape="0" blurRad="127000" dist="38100" dir="5400000">
              <a:srgbClr val="1A2027">
                <a:alpha val="22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627364" y="4283964"/>
            <a:ext cx="338328" cy="338328"/>
          </a:xfrm>
          <a:prstGeom prst="rect">
            <a:avLst/>
          </a:prstGeom>
        </p:spPr>
      </p:pic>
      <p:sp>
        <p:nvSpPr>
          <p:cNvPr id="32" name="Text 24"/>
          <p:cNvSpPr/>
          <p:nvPr/>
        </p:nvSpPr>
        <p:spPr>
          <a:xfrm>
            <a:off x="9262872" y="4114800"/>
            <a:ext cx="2167128" cy="676656"/>
          </a:xfrm>
          <a:prstGeom prst="rect">
            <a:avLst/>
          </a:prstGeom>
          <a:noFill/>
          <a:ln/>
        </p:spPr>
        <p:txBody>
          <a:bodyPr wrap="square" lIns="0" tIns="0" rIns="0" bIns="0" rtlCol="0" anchor="ctr"/>
          <a:lstStyle/>
          <a:p>
            <a:pPr indent="0" marL="0">
              <a:lnSpc>
                <a:spcPct val="95000"/>
              </a:lnSpc>
              <a:buNone/>
            </a:pPr>
            <a:r>
              <a:rPr lang="en-US" sz="1450" b="1" dirty="0">
                <a:solidFill>
                  <a:srgbClr val="212933"/>
                </a:solidFill>
                <a:latin typeface="Calibri" pitchFamily="34" charset="0"/>
                <a:ea typeface="Calibri" pitchFamily="34" charset="-122"/>
                <a:cs typeface="Calibri" pitchFamily="34" charset="-120"/>
              </a:rPr>
              <a:t>Audit &amp; cost telemetry</a:t>
            </a:r>
            <a:endParaRPr lang="en-US" sz="1450" dirty="0"/>
          </a:p>
        </p:txBody>
      </p:sp>
      <p:sp>
        <p:nvSpPr>
          <p:cNvPr id="33" name="Text 25"/>
          <p:cNvSpPr/>
          <p:nvPr/>
        </p:nvSpPr>
        <p:spPr>
          <a:xfrm>
            <a:off x="8476488" y="4901184"/>
            <a:ext cx="2852928" cy="594360"/>
          </a:xfrm>
          <a:prstGeom prst="rect">
            <a:avLst/>
          </a:prstGeom>
          <a:noFill/>
          <a:ln/>
        </p:spPr>
        <p:txBody>
          <a:bodyPr wrap="square" rtlCol="0" anchor="ctr"/>
          <a:lstStyle/>
          <a:p>
            <a:pPr indent="0" marL="0">
              <a:lnSpc>
                <a:spcPct val="104000"/>
              </a:lnSpc>
              <a:buNone/>
            </a:pPr>
            <a:r>
              <a:rPr lang="en-US" sz="1050" dirty="0">
                <a:solidFill>
                  <a:srgbClr val="5C6B7A"/>
                </a:solidFill>
                <a:latin typeface="Calibri" pitchFamily="34" charset="0"/>
                <a:ea typeface="Calibri" pitchFamily="34" charset="-122"/>
                <a:cs typeface="Calibri" pitchFamily="34" charset="-120"/>
              </a:rPr>
              <a:t>Model, tokens, latency, and output logged per interaction; live stats endpoint</a:t>
            </a:r>
            <a:endParaRPr lang="en-US" sz="1050" dirty="0"/>
          </a:p>
        </p:txBody>
      </p:sp>
      <p:sp>
        <p:nvSpPr>
          <p:cNvPr id="34" name="Shape 26"/>
          <p:cNvSpPr/>
          <p:nvPr/>
        </p:nvSpPr>
        <p:spPr>
          <a:xfrm>
            <a:off x="777240" y="5852160"/>
            <a:ext cx="10634472" cy="658368"/>
          </a:xfrm>
          <a:prstGeom prst="roundRect">
            <a:avLst>
              <a:gd name="adj" fmla="val 13889"/>
            </a:avLst>
          </a:prstGeom>
          <a:solidFill>
            <a:srgbClr val="222B36"/>
          </a:solidFill>
          <a:ln/>
        </p:spPr>
        <p:txBody>
          <a:bodyPr/>
          <a:p/>
        </p:txBody>
      </p:sp>
      <p:sp>
        <p:nvSpPr>
          <p:cNvPr id="35" name="Text 27"/>
          <p:cNvSpPr/>
          <p:nvPr/>
        </p:nvSpPr>
        <p:spPr>
          <a:xfrm>
            <a:off x="777240" y="5852160"/>
            <a:ext cx="10634472" cy="658368"/>
          </a:xfrm>
          <a:prstGeom prst="rect">
            <a:avLst/>
          </a:prstGeom>
          <a:noFill/>
          <a:ln/>
        </p:spPr>
        <p:txBody>
          <a:bodyPr wrap="square" rtlCol="0" anchor="ctr"/>
          <a:lstStyle/>
          <a:p>
            <a:pPr algn="ctr" indent="0" marL="0">
              <a:buNone/>
            </a:pPr>
            <a:r>
              <a:rPr lang="en-US" sz="1500" b="1" i="1" dirty="0">
                <a:solidFill>
                  <a:srgbClr val="FFFFFF"/>
                </a:solidFill>
                <a:latin typeface="Calibri" pitchFamily="34" charset="0"/>
                <a:ea typeface="Calibri" pitchFamily="34" charset="-122"/>
                <a:cs typeface="Calibri" pitchFamily="34" charset="-120"/>
              </a:rPr>
              <a:t>Swapping the vertical means swapping the data model and the rule content — not rebuilding the AI.</a:t>
            </a:r>
            <a:endParaRPr lang="en-US" sz="1500" dirty="0"/>
          </a:p>
        </p:txBody>
      </p:sp>
    </p:spTree>
  </p:cSld>
  <p:clrMapOvr>
    <a:masterClrMapping/>
  </p:clrMapOvr>
</p:sld>
</file>

<file path=ppt/slides/slide13_b.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2377440" cy="384048"/>
          </a:xfrm>
          <a:prstGeom prst="roundRect">
            <a:avLst>
              <a:gd name="adj" fmla="val 50000"/>
            </a:avLst>
          </a:prstGeom>
          <a:solidFill>
            <a:srgbClr val="222B36"/>
          </a:solidFill>
          <a:ln/>
        </p:spPr>
        <p:txBody>
          <a:bodyPr wrap="square" rtlCol="0" anchor="ctr"/>
          <a:lstStyle/>
          <a:p>
            <a:pPr algn="ctr" indent="0" marL="0">
              <a:buNone/>
            </a:pPr>
            <a:r>
              <a:rPr lang="en-US" sz="1150" b="1" spc="200" kern="0" dirty="0">
                <a:solidFill>
                  <a:srgbClr val="FFFFFF"/>
                </a:solidFill>
                <a:latin typeface="Calibri" pitchFamily="34" charset="0"/>
                <a:ea typeface="Calibri" pitchFamily="34" charset="-122"/>
                <a:cs typeface="Calibri" pitchFamily="34" charset="-120"/>
              </a:rPr>
              <a:t>INFRASTRUCTURE</a:t>
            </a:r>
            <a:endParaRPr lang="en-US" sz="1150" dirty="0"/>
          </a:p>
        </p:txBody>
      </p:sp>
      <p:sp>
        <p:nvSpPr>
          <p:cNvPr id="3" name="Text 1"/>
          <p:cNvSpPr/>
          <p:nvPr/>
        </p:nvSpPr>
        <p:spPr>
          <a:xfrm>
            <a:off x="731520" y="786384"/>
            <a:ext cx="10698480" cy="566928"/>
          </a:xfrm>
          <a:prstGeom prst="rect">
            <a:avLst/>
          </a:prstGeom>
          <a:noFill/>
          <a:ln/>
        </p:spPr>
        <p:txBody>
          <a:bodyPr wrap="square" rtlCol="0" anchor="ctr"/>
          <a:lstStyle/>
          <a:p>
            <a:pPr indent="0" marL="0">
              <a:buNone/>
            </a:pPr>
            <a:r>
              <a:rPr lang="en-US" sz="2700" b="1" dirty="0">
                <a:solidFill>
                  <a:srgbClr val="212933"/>
                </a:solidFill>
                <a:latin typeface="Calibri" pitchFamily="34" charset="0"/>
                <a:ea typeface="Calibri" pitchFamily="34" charset="-122"/>
                <a:cs typeface="Calibri" pitchFamily="34" charset="-120"/>
              </a:rPr>
              <a:t>Deployment view — every hop, end to end</a:t>
            </a:r>
            <a:endParaRPr lang="en-US" sz="2700" dirty="0"/>
          </a:p>
        </p:txBody>
      </p:sp>
      <p:sp>
        <p:nvSpPr>
          <p:cNvPr id="4" name="Shape 2"/>
          <p:cNvSpPr/>
          <p:nvPr/>
        </p:nvSpPr>
        <p:spPr>
          <a:xfrm>
            <a:off x="502920" y="1554480"/>
            <a:ext cx="2286000" cy="4343400"/>
          </a:xfrm>
          <a:prstGeom prst="roundRect">
            <a:avLst>
              <a:gd name="adj" fmla="val 4000"/>
            </a:avLst>
          </a:prstGeom>
          <a:solidFill>
            <a:srgbClr val="F5F7F9"/>
          </a:solidFill>
          <a:ln w="15875">
            <a:solidFill>
              <a:srgbClr val="50708C"/>
            </a:solidFill>
            <a:prstDash val="solid"/>
          </a:ln>
        </p:spPr>
        <p:txBody>
          <a:bodyPr/>
          <a:p/>
        </p:txBody>
      </p:sp>
      <p:sp>
        <p:nvSpPr>
          <p:cNvPr id="5" name="Text 3"/>
          <p:cNvSpPr/>
          <p:nvPr/>
        </p:nvSpPr>
        <p:spPr>
          <a:xfrm>
            <a:off x="649224" y="1618488"/>
            <a:ext cx="2011680" cy="256032"/>
          </a:xfrm>
          <a:prstGeom prst="rect">
            <a:avLst/>
          </a:prstGeom>
          <a:noFill/>
          <a:ln/>
        </p:spPr>
        <p:txBody>
          <a:bodyPr wrap="square" lIns="0" tIns="0" rIns="0" bIns="0" rtlCol="0" anchor="ctr"/>
          <a:lstStyle/>
          <a:p>
            <a:pPr indent="0" marL="0">
              <a:buNone/>
            </a:pPr>
            <a:r>
              <a:rPr lang="en-US" sz="950" b="1" spc="150" kern="0" dirty="0">
                <a:solidFill>
                  <a:srgbClr val="50708C"/>
                </a:solidFill>
                <a:latin typeface="Calibri" pitchFamily="34" charset="0"/>
                <a:ea typeface="Calibri" pitchFamily="34" charset="-122"/>
                <a:cs typeface="Calibri" pitchFamily="34" charset="-120"/>
              </a:rPr>
              <a:t>CLIENTS</a:t>
            </a:r>
            <a:endParaRPr lang="en-US" sz="950" dirty="0"/>
          </a:p>
        </p:txBody>
      </p:sp>
      <p:sp>
        <p:nvSpPr>
          <p:cNvPr id="6" name="Shape 4"/>
          <p:cNvSpPr/>
          <p:nvPr/>
        </p:nvSpPr>
        <p:spPr>
          <a:xfrm>
            <a:off x="3246120" y="1554480"/>
            <a:ext cx="2331720" cy="4343400"/>
          </a:xfrm>
          <a:prstGeom prst="roundRect">
            <a:avLst>
              <a:gd name="adj" fmla="val 3922"/>
            </a:avLst>
          </a:prstGeom>
          <a:solidFill>
            <a:srgbClr val="F5F7F9"/>
          </a:solidFill>
          <a:ln w="15875">
            <a:solidFill>
              <a:srgbClr val="E8590C"/>
            </a:solidFill>
            <a:prstDash val="solid"/>
          </a:ln>
        </p:spPr>
        <p:txBody>
          <a:bodyPr/>
          <a:p/>
        </p:txBody>
      </p:sp>
      <p:sp>
        <p:nvSpPr>
          <p:cNvPr id="7" name="Text 5"/>
          <p:cNvSpPr/>
          <p:nvPr/>
        </p:nvSpPr>
        <p:spPr>
          <a:xfrm>
            <a:off x="3392424" y="1618488"/>
            <a:ext cx="2057400" cy="256032"/>
          </a:xfrm>
          <a:prstGeom prst="rect">
            <a:avLst/>
          </a:prstGeom>
          <a:noFill/>
          <a:ln/>
        </p:spPr>
        <p:txBody>
          <a:bodyPr wrap="square" lIns="0" tIns="0" rIns="0" bIns="0" rtlCol="0" anchor="ctr"/>
          <a:lstStyle/>
          <a:p>
            <a:pPr indent="0" marL="0">
              <a:buNone/>
            </a:pPr>
            <a:r>
              <a:rPr lang="en-US" sz="950" b="1" spc="150" kern="0" dirty="0">
                <a:solidFill>
                  <a:srgbClr val="E8590C"/>
                </a:solidFill>
                <a:latin typeface="Calibri" pitchFamily="34" charset="0"/>
                <a:ea typeface="Calibri" pitchFamily="34" charset="-122"/>
                <a:cs typeface="Calibri" pitchFamily="34" charset="-120"/>
              </a:rPr>
              <a:t>EDGE &amp; TELEPHONY</a:t>
            </a:r>
            <a:endParaRPr lang="en-US" sz="950" dirty="0"/>
          </a:p>
        </p:txBody>
      </p:sp>
      <p:sp>
        <p:nvSpPr>
          <p:cNvPr id="8" name="Shape 6"/>
          <p:cNvSpPr/>
          <p:nvPr/>
        </p:nvSpPr>
        <p:spPr>
          <a:xfrm>
            <a:off x="6035040" y="1554480"/>
            <a:ext cx="3383280" cy="4343400"/>
          </a:xfrm>
          <a:prstGeom prst="roundRect">
            <a:avLst>
              <a:gd name="adj" fmla="val 2703"/>
            </a:avLst>
          </a:prstGeom>
          <a:solidFill>
            <a:srgbClr val="F5F7F9"/>
          </a:solidFill>
          <a:ln w="15875">
            <a:solidFill>
              <a:srgbClr val="222B36"/>
            </a:solidFill>
            <a:prstDash val="solid"/>
          </a:ln>
        </p:spPr>
        <p:txBody>
          <a:bodyPr/>
          <a:p/>
        </p:txBody>
      </p:sp>
      <p:sp>
        <p:nvSpPr>
          <p:cNvPr id="9" name="Text 7"/>
          <p:cNvSpPr/>
          <p:nvPr/>
        </p:nvSpPr>
        <p:spPr>
          <a:xfrm>
            <a:off x="6181344" y="1618488"/>
            <a:ext cx="3108960" cy="256032"/>
          </a:xfrm>
          <a:prstGeom prst="rect">
            <a:avLst/>
          </a:prstGeom>
          <a:noFill/>
          <a:ln/>
        </p:spPr>
        <p:txBody>
          <a:bodyPr wrap="square" lIns="0" tIns="0" rIns="0" bIns="0" rtlCol="0" anchor="ctr"/>
          <a:lstStyle/>
          <a:p>
            <a:pPr indent="0" marL="0">
              <a:buNone/>
            </a:pPr>
            <a:r>
              <a:rPr lang="en-US" sz="950" b="1" spc="150" kern="0" dirty="0">
                <a:solidFill>
                  <a:srgbClr val="222B36"/>
                </a:solidFill>
                <a:latin typeface="Calibri" pitchFamily="34" charset="0"/>
                <a:ea typeface="Calibri" pitchFamily="34" charset="-122"/>
                <a:cs typeface="Calibri" pitchFamily="34" charset="-120"/>
              </a:rPr>
              <a:t>APP SERVER — CONTAINERIZED · CLOUD-PORTABLE</a:t>
            </a:r>
            <a:endParaRPr lang="en-US" sz="950" dirty="0"/>
          </a:p>
        </p:txBody>
      </p:sp>
      <p:sp>
        <p:nvSpPr>
          <p:cNvPr id="10" name="Shape 8"/>
          <p:cNvSpPr/>
          <p:nvPr/>
        </p:nvSpPr>
        <p:spPr>
          <a:xfrm>
            <a:off x="9875520" y="1554480"/>
            <a:ext cx="1828800" cy="1965960"/>
          </a:xfrm>
          <a:prstGeom prst="roundRect">
            <a:avLst>
              <a:gd name="adj" fmla="val 5000"/>
            </a:avLst>
          </a:prstGeom>
          <a:solidFill>
            <a:srgbClr val="F5F7F9"/>
          </a:solidFill>
          <a:ln w="15875">
            <a:solidFill>
              <a:srgbClr val="50708C"/>
            </a:solidFill>
            <a:prstDash val="solid"/>
          </a:ln>
        </p:spPr>
        <p:txBody>
          <a:bodyPr/>
          <a:p/>
        </p:txBody>
      </p:sp>
      <p:sp>
        <p:nvSpPr>
          <p:cNvPr id="11" name="Text 9"/>
          <p:cNvSpPr/>
          <p:nvPr/>
        </p:nvSpPr>
        <p:spPr>
          <a:xfrm>
            <a:off x="10021824" y="1618488"/>
            <a:ext cx="1554480" cy="256032"/>
          </a:xfrm>
          <a:prstGeom prst="rect">
            <a:avLst/>
          </a:prstGeom>
          <a:noFill/>
          <a:ln/>
        </p:spPr>
        <p:txBody>
          <a:bodyPr wrap="square" lIns="0" tIns="0" rIns="0" bIns="0" rtlCol="0" anchor="ctr"/>
          <a:lstStyle/>
          <a:p>
            <a:pPr indent="0" marL="0">
              <a:buNone/>
            </a:pPr>
            <a:r>
              <a:rPr lang="en-US" sz="950" b="1" spc="150" kern="0" dirty="0">
                <a:solidFill>
                  <a:srgbClr val="50708C"/>
                </a:solidFill>
                <a:latin typeface="Calibri" pitchFamily="34" charset="0"/>
                <a:ea typeface="Calibri" pitchFamily="34" charset="-122"/>
                <a:cs typeface="Calibri" pitchFamily="34" charset="-120"/>
              </a:rPr>
              <a:t>AI SERVICES</a:t>
            </a:r>
            <a:endParaRPr lang="en-US" sz="950" dirty="0"/>
          </a:p>
        </p:txBody>
      </p:sp>
      <p:sp>
        <p:nvSpPr>
          <p:cNvPr id="12" name="Shape 10"/>
          <p:cNvSpPr/>
          <p:nvPr/>
        </p:nvSpPr>
        <p:spPr>
          <a:xfrm>
            <a:off x="9875520" y="3703320"/>
            <a:ext cx="1828800" cy="2194560"/>
          </a:xfrm>
          <a:prstGeom prst="roundRect">
            <a:avLst>
              <a:gd name="adj" fmla="val 5000"/>
            </a:avLst>
          </a:prstGeom>
          <a:solidFill>
            <a:srgbClr val="F5F7F9"/>
          </a:solidFill>
          <a:ln w="15875">
            <a:solidFill>
              <a:srgbClr val="2FA36B"/>
            </a:solidFill>
            <a:prstDash val="solid"/>
          </a:ln>
        </p:spPr>
        <p:txBody>
          <a:bodyPr/>
          <a:p/>
        </p:txBody>
      </p:sp>
      <p:sp>
        <p:nvSpPr>
          <p:cNvPr id="13" name="Text 11"/>
          <p:cNvSpPr/>
          <p:nvPr/>
        </p:nvSpPr>
        <p:spPr>
          <a:xfrm>
            <a:off x="10021824" y="3767328"/>
            <a:ext cx="1554480" cy="256032"/>
          </a:xfrm>
          <a:prstGeom prst="rect">
            <a:avLst/>
          </a:prstGeom>
          <a:noFill/>
          <a:ln/>
        </p:spPr>
        <p:txBody>
          <a:bodyPr wrap="square" lIns="0" tIns="0" rIns="0" bIns="0" rtlCol="0" anchor="ctr"/>
          <a:lstStyle/>
          <a:p>
            <a:pPr indent="0" marL="0">
              <a:buNone/>
            </a:pPr>
            <a:r>
              <a:rPr lang="en-US" sz="950" b="1" spc="150" kern="0" dirty="0">
                <a:solidFill>
                  <a:srgbClr val="2FA36B"/>
                </a:solidFill>
                <a:latin typeface="Calibri" pitchFamily="34" charset="0"/>
                <a:ea typeface="Calibri" pitchFamily="34" charset="-122"/>
                <a:cs typeface="Calibri" pitchFamily="34" charset="-120"/>
              </a:rPr>
              <a:t>DATA &amp; VECTORS</a:t>
            </a:r>
            <a:endParaRPr lang="en-US" sz="950" dirty="0"/>
          </a:p>
        </p:txBody>
      </p:sp>
      <p:sp>
        <p:nvSpPr>
          <p:cNvPr id="14" name="Shape 12"/>
          <p:cNvSpPr/>
          <p:nvPr/>
        </p:nvSpPr>
        <p:spPr>
          <a:xfrm>
            <a:off x="640080" y="1965960"/>
            <a:ext cx="2011680" cy="868680"/>
          </a:xfrm>
          <a:prstGeom prst="roundRect">
            <a:avLst>
              <a:gd name="adj" fmla="val 7368"/>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15" name="Shape 13"/>
          <p:cNvSpPr/>
          <p:nvPr/>
        </p:nvSpPr>
        <p:spPr>
          <a:xfrm>
            <a:off x="749808" y="2066544"/>
            <a:ext cx="310896" cy="310896"/>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16" name="Image 0" descr="preencoded.png">    </p:cNvPr>
          <p:cNvPicPr>
            <a:picLocks noChangeAspect="1"/>
          </p:cNvPicPr>
          <p:nvPr/>
        </p:nvPicPr>
        <p:blipFill>
          <a:blip r:embed="rId1"/>
          <a:stretch>
            <a:fillRect/>
          </a:stretch>
        </p:blipFill>
        <p:spPr>
          <a:xfrm>
            <a:off x="824423" y="2141159"/>
            <a:ext cx="161666" cy="161666"/>
          </a:xfrm>
          <a:prstGeom prst="rect">
            <a:avLst/>
          </a:prstGeom>
        </p:spPr>
      </p:pic>
      <p:sp>
        <p:nvSpPr>
          <p:cNvPr id="17" name="Text 14"/>
          <p:cNvSpPr/>
          <p:nvPr/>
        </p:nvSpPr>
        <p:spPr>
          <a:xfrm>
            <a:off x="1152144" y="2020824"/>
            <a:ext cx="140817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Supervisor browser</a:t>
            </a:r>
            <a:endParaRPr lang="en-US" sz="1050" dirty="0"/>
          </a:p>
        </p:txBody>
      </p:sp>
      <p:sp>
        <p:nvSpPr>
          <p:cNvPr id="18" name="Text 15"/>
          <p:cNvSpPr/>
          <p:nvPr/>
        </p:nvSpPr>
        <p:spPr>
          <a:xfrm>
            <a:off x="768096" y="2368296"/>
            <a:ext cx="1773936" cy="429768"/>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command center · alert feed (SSE) · rules &amp; QA admin</a:t>
            </a:r>
            <a:endParaRPr lang="en-US" sz="850" dirty="0"/>
          </a:p>
        </p:txBody>
      </p:sp>
      <p:sp>
        <p:nvSpPr>
          <p:cNvPr id="19" name="Shape 16"/>
          <p:cNvSpPr/>
          <p:nvPr/>
        </p:nvSpPr>
        <p:spPr>
          <a:xfrm>
            <a:off x="640080" y="3017520"/>
            <a:ext cx="2011680" cy="868680"/>
          </a:xfrm>
          <a:prstGeom prst="roundRect">
            <a:avLst>
              <a:gd name="adj" fmla="val 7368"/>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20" name="Shape 17"/>
          <p:cNvSpPr/>
          <p:nvPr/>
        </p:nvSpPr>
        <p:spPr>
          <a:xfrm>
            <a:off x="749808" y="3118104"/>
            <a:ext cx="310896" cy="310896"/>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21" name="Image 1" descr="preencoded.png">    </p:cNvPr>
          <p:cNvPicPr>
            <a:picLocks noChangeAspect="1"/>
          </p:cNvPicPr>
          <p:nvPr/>
        </p:nvPicPr>
        <p:blipFill>
          <a:blip r:embed="rId2"/>
          <a:stretch>
            <a:fillRect/>
          </a:stretch>
        </p:blipFill>
        <p:spPr>
          <a:xfrm>
            <a:off x="824423" y="3192719"/>
            <a:ext cx="161666" cy="161666"/>
          </a:xfrm>
          <a:prstGeom prst="rect">
            <a:avLst/>
          </a:prstGeom>
        </p:spPr>
      </p:pic>
      <p:sp>
        <p:nvSpPr>
          <p:cNvPr id="22" name="Text 18"/>
          <p:cNvSpPr/>
          <p:nvPr/>
        </p:nvSpPr>
        <p:spPr>
          <a:xfrm>
            <a:off x="1152144" y="3072384"/>
            <a:ext cx="140817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Agent browser</a:t>
            </a:r>
            <a:endParaRPr lang="en-US" sz="1050" dirty="0"/>
          </a:p>
        </p:txBody>
      </p:sp>
      <p:sp>
        <p:nvSpPr>
          <p:cNvPr id="23" name="Text 19"/>
          <p:cNvSpPr/>
          <p:nvPr/>
        </p:nvSpPr>
        <p:spPr>
          <a:xfrm>
            <a:off x="768096" y="3419856"/>
            <a:ext cx="1773936" cy="429768"/>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React SPA · Twilio Voice SDK · call panel + copilot</a:t>
            </a:r>
            <a:endParaRPr lang="en-US" sz="850" dirty="0"/>
          </a:p>
        </p:txBody>
      </p:sp>
      <p:sp>
        <p:nvSpPr>
          <p:cNvPr id="24" name="Shape 20"/>
          <p:cNvSpPr/>
          <p:nvPr/>
        </p:nvSpPr>
        <p:spPr>
          <a:xfrm>
            <a:off x="640080" y="4069080"/>
            <a:ext cx="2011680" cy="868680"/>
          </a:xfrm>
          <a:prstGeom prst="roundRect">
            <a:avLst>
              <a:gd name="adj" fmla="val 7368"/>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25" name="Shape 21"/>
          <p:cNvSpPr/>
          <p:nvPr/>
        </p:nvSpPr>
        <p:spPr>
          <a:xfrm>
            <a:off x="749808" y="4169664"/>
            <a:ext cx="310896" cy="310896"/>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26" name="Image 2" descr="preencoded.png">    </p:cNvPr>
          <p:cNvPicPr>
            <a:picLocks noChangeAspect="1"/>
          </p:cNvPicPr>
          <p:nvPr/>
        </p:nvPicPr>
        <p:blipFill>
          <a:blip r:embed="rId3"/>
          <a:stretch>
            <a:fillRect/>
          </a:stretch>
        </p:blipFill>
        <p:spPr>
          <a:xfrm>
            <a:off x="824423" y="4244279"/>
            <a:ext cx="161666" cy="161666"/>
          </a:xfrm>
          <a:prstGeom prst="rect">
            <a:avLst/>
          </a:prstGeom>
        </p:spPr>
      </p:pic>
      <p:sp>
        <p:nvSpPr>
          <p:cNvPr id="27" name="Text 22"/>
          <p:cNvSpPr/>
          <p:nvPr/>
        </p:nvSpPr>
        <p:spPr>
          <a:xfrm>
            <a:off x="1152144" y="4123944"/>
            <a:ext cx="140817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Customer phone</a:t>
            </a:r>
            <a:endParaRPr lang="en-US" sz="1050" dirty="0"/>
          </a:p>
        </p:txBody>
      </p:sp>
      <p:sp>
        <p:nvSpPr>
          <p:cNvPr id="28" name="Text 23"/>
          <p:cNvSpPr/>
          <p:nvPr/>
        </p:nvSpPr>
        <p:spPr>
          <a:xfrm>
            <a:off x="768096" y="4471416"/>
            <a:ext cx="1773936" cy="429768"/>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PSTN — inbound &amp; outbound calls</a:t>
            </a:r>
            <a:endParaRPr lang="en-US" sz="850" dirty="0"/>
          </a:p>
        </p:txBody>
      </p:sp>
      <p:sp>
        <p:nvSpPr>
          <p:cNvPr id="29" name="Shape 24"/>
          <p:cNvSpPr/>
          <p:nvPr/>
        </p:nvSpPr>
        <p:spPr>
          <a:xfrm>
            <a:off x="3383280" y="1965960"/>
            <a:ext cx="2057400" cy="1188720"/>
          </a:xfrm>
          <a:prstGeom prst="roundRect">
            <a:avLst>
              <a:gd name="adj" fmla="val 5385"/>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30" name="Shape 25"/>
          <p:cNvSpPr/>
          <p:nvPr/>
        </p:nvSpPr>
        <p:spPr>
          <a:xfrm>
            <a:off x="3493008" y="2066544"/>
            <a:ext cx="310896" cy="310896"/>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31" name="Image 3" descr="preencoded.png">    </p:cNvPr>
          <p:cNvPicPr>
            <a:picLocks noChangeAspect="1"/>
          </p:cNvPicPr>
          <p:nvPr/>
        </p:nvPicPr>
        <p:blipFill>
          <a:blip r:embed="rId4"/>
          <a:stretch>
            <a:fillRect/>
          </a:stretch>
        </p:blipFill>
        <p:spPr>
          <a:xfrm>
            <a:off x="3567623" y="2141159"/>
            <a:ext cx="161666" cy="161666"/>
          </a:xfrm>
          <a:prstGeom prst="rect">
            <a:avLst/>
          </a:prstGeom>
        </p:spPr>
      </p:pic>
      <p:sp>
        <p:nvSpPr>
          <p:cNvPr id="32" name="Text 26"/>
          <p:cNvSpPr/>
          <p:nvPr/>
        </p:nvSpPr>
        <p:spPr>
          <a:xfrm>
            <a:off x="3895344" y="2020824"/>
            <a:ext cx="145389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Cloudflare edge</a:t>
            </a:r>
            <a:endParaRPr lang="en-US" sz="1050" dirty="0"/>
          </a:p>
        </p:txBody>
      </p:sp>
      <p:sp>
        <p:nvSpPr>
          <p:cNvPr id="33" name="Text 27"/>
          <p:cNvSpPr/>
          <p:nvPr/>
        </p:nvSpPr>
        <p:spPr>
          <a:xfrm>
            <a:off x="3511296" y="2368296"/>
            <a:ext cx="1819656" cy="749808"/>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public DNS · TLS termination · named tunnel entry — stable custom domain</a:t>
            </a:r>
            <a:endParaRPr lang="en-US" sz="850" dirty="0"/>
          </a:p>
        </p:txBody>
      </p:sp>
      <p:sp>
        <p:nvSpPr>
          <p:cNvPr id="34" name="Shape 28"/>
          <p:cNvSpPr/>
          <p:nvPr/>
        </p:nvSpPr>
        <p:spPr>
          <a:xfrm>
            <a:off x="3383280" y="3566160"/>
            <a:ext cx="2057400" cy="1371600"/>
          </a:xfrm>
          <a:prstGeom prst="roundRect">
            <a:avLst>
              <a:gd name="adj" fmla="val 4667"/>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35" name="Shape 29"/>
          <p:cNvSpPr/>
          <p:nvPr/>
        </p:nvSpPr>
        <p:spPr>
          <a:xfrm>
            <a:off x="3493008" y="3666744"/>
            <a:ext cx="310896" cy="310896"/>
          </a:xfrm>
          <a:prstGeom prst="ellipse">
            <a:avLst/>
          </a:prstGeom>
          <a:solidFill>
            <a:srgbClr val="C0392B"/>
          </a:solidFill>
          <a:ln/>
          <a:effectLst>
            <a:outerShdw sx="100000" sy="100000" kx="0" ky="0" algn="bl" rotWithShape="0" blurRad="127000" dist="38100" dir="5400000">
              <a:srgbClr val="1A2027">
                <a:alpha val="22000"/>
              </a:srgbClr>
            </a:outerShdw>
          </a:effectLst>
        </p:spPr>
        <p:txBody>
          <a:bodyPr/>
          <a:p/>
        </p:txBody>
      </p:sp>
      <p:pic>
        <p:nvPicPr>
          <p:cNvPr id="36" name="Image 4" descr="preencoded.png">    </p:cNvPr>
          <p:cNvPicPr>
            <a:picLocks noChangeAspect="1"/>
          </p:cNvPicPr>
          <p:nvPr/>
        </p:nvPicPr>
        <p:blipFill>
          <a:blip r:embed="rId5"/>
          <a:stretch>
            <a:fillRect/>
          </a:stretch>
        </p:blipFill>
        <p:spPr>
          <a:xfrm>
            <a:off x="3567623" y="3741359"/>
            <a:ext cx="161666" cy="161666"/>
          </a:xfrm>
          <a:prstGeom prst="rect">
            <a:avLst/>
          </a:prstGeom>
        </p:spPr>
      </p:pic>
      <p:sp>
        <p:nvSpPr>
          <p:cNvPr id="37" name="Text 30"/>
          <p:cNvSpPr/>
          <p:nvPr/>
        </p:nvSpPr>
        <p:spPr>
          <a:xfrm>
            <a:off x="3895344" y="3621024"/>
            <a:ext cx="145389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Twilio Cloud</a:t>
            </a:r>
            <a:endParaRPr lang="en-US" sz="1050" dirty="0"/>
          </a:p>
        </p:txBody>
      </p:sp>
      <p:sp>
        <p:nvSpPr>
          <p:cNvPr id="38" name="Text 31"/>
          <p:cNvSpPr/>
          <p:nvPr/>
        </p:nvSpPr>
        <p:spPr>
          <a:xfrm>
            <a:off x="3511296" y="3968496"/>
            <a:ext cx="1819656" cy="932688"/>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TwiML app (outbound) · phone number (inbound) · bidirectional media streams · signed webhooks</a:t>
            </a:r>
            <a:endParaRPr lang="en-US" sz="850" dirty="0"/>
          </a:p>
        </p:txBody>
      </p:sp>
      <p:sp>
        <p:nvSpPr>
          <p:cNvPr id="39" name="Shape 32"/>
          <p:cNvSpPr/>
          <p:nvPr/>
        </p:nvSpPr>
        <p:spPr>
          <a:xfrm>
            <a:off x="6172200" y="1920240"/>
            <a:ext cx="3108960" cy="566928"/>
          </a:xfrm>
          <a:prstGeom prst="roundRect">
            <a:avLst>
              <a:gd name="adj" fmla="val 11290"/>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40" name="Shape 33"/>
          <p:cNvSpPr/>
          <p:nvPr/>
        </p:nvSpPr>
        <p:spPr>
          <a:xfrm>
            <a:off x="6281928" y="2020824"/>
            <a:ext cx="310896" cy="310896"/>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41" name="Image 5" descr="preencoded.png">    </p:cNvPr>
          <p:cNvPicPr>
            <a:picLocks noChangeAspect="1"/>
          </p:cNvPicPr>
          <p:nvPr/>
        </p:nvPicPr>
        <p:blipFill>
          <a:blip r:embed="rId6"/>
          <a:stretch>
            <a:fillRect/>
          </a:stretch>
        </p:blipFill>
        <p:spPr>
          <a:xfrm>
            <a:off x="6356543" y="2095439"/>
            <a:ext cx="161666" cy="161666"/>
          </a:xfrm>
          <a:prstGeom prst="rect">
            <a:avLst/>
          </a:prstGeom>
        </p:spPr>
      </p:pic>
      <p:sp>
        <p:nvSpPr>
          <p:cNvPr id="42" name="Text 34"/>
          <p:cNvSpPr/>
          <p:nvPr/>
        </p:nvSpPr>
        <p:spPr>
          <a:xfrm>
            <a:off x="6684264" y="1975104"/>
            <a:ext cx="250545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Tunnel connector</a:t>
            </a:r>
            <a:endParaRPr lang="en-US" sz="1050" dirty="0"/>
          </a:p>
        </p:txBody>
      </p:sp>
      <p:sp>
        <p:nvSpPr>
          <p:cNvPr id="43" name="Text 35"/>
          <p:cNvSpPr/>
          <p:nvPr/>
        </p:nvSpPr>
        <p:spPr>
          <a:xfrm>
            <a:off x="6300216" y="2322576"/>
            <a:ext cx="2871216" cy="128016"/>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persistent outbound connection to the edge</a:t>
            </a:r>
            <a:endParaRPr lang="en-US" sz="850" dirty="0"/>
          </a:p>
        </p:txBody>
      </p:sp>
      <p:sp>
        <p:nvSpPr>
          <p:cNvPr id="44" name="Shape 36"/>
          <p:cNvSpPr/>
          <p:nvPr/>
        </p:nvSpPr>
        <p:spPr>
          <a:xfrm>
            <a:off x="6172200" y="2606040"/>
            <a:ext cx="3108960" cy="566928"/>
          </a:xfrm>
          <a:prstGeom prst="roundRect">
            <a:avLst>
              <a:gd name="adj" fmla="val 11290"/>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45" name="Shape 37"/>
          <p:cNvSpPr/>
          <p:nvPr/>
        </p:nvSpPr>
        <p:spPr>
          <a:xfrm>
            <a:off x="6281928" y="2706624"/>
            <a:ext cx="310896" cy="310896"/>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46" name="Image 6" descr="preencoded.png">    </p:cNvPr>
          <p:cNvPicPr>
            <a:picLocks noChangeAspect="1"/>
          </p:cNvPicPr>
          <p:nvPr/>
        </p:nvPicPr>
        <p:blipFill>
          <a:blip r:embed="rId7"/>
          <a:stretch>
            <a:fillRect/>
          </a:stretch>
        </p:blipFill>
        <p:spPr>
          <a:xfrm>
            <a:off x="6356543" y="2781239"/>
            <a:ext cx="161666" cy="161666"/>
          </a:xfrm>
          <a:prstGeom prst="rect">
            <a:avLst/>
          </a:prstGeom>
        </p:spPr>
      </p:pic>
      <p:sp>
        <p:nvSpPr>
          <p:cNvPr id="47" name="Text 38"/>
          <p:cNvSpPr/>
          <p:nvPr/>
        </p:nvSpPr>
        <p:spPr>
          <a:xfrm>
            <a:off x="6684264" y="2660904"/>
            <a:ext cx="250545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Caddy gateway</a:t>
            </a:r>
            <a:endParaRPr lang="en-US" sz="1050" dirty="0"/>
          </a:p>
        </p:txBody>
      </p:sp>
      <p:sp>
        <p:nvSpPr>
          <p:cNvPr id="48" name="Text 39"/>
          <p:cNvSpPr/>
          <p:nvPr/>
        </p:nvSpPr>
        <p:spPr>
          <a:xfrm>
            <a:off x="6300216" y="3008376"/>
            <a:ext cx="2871216" cy="128016"/>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reverse proxy · multi-app path routing</a:t>
            </a:r>
            <a:endParaRPr lang="en-US" sz="850" dirty="0"/>
          </a:p>
        </p:txBody>
      </p:sp>
      <p:sp>
        <p:nvSpPr>
          <p:cNvPr id="49" name="Shape 40"/>
          <p:cNvSpPr/>
          <p:nvPr/>
        </p:nvSpPr>
        <p:spPr>
          <a:xfrm>
            <a:off x="6172200" y="3291840"/>
            <a:ext cx="3108960" cy="731520"/>
          </a:xfrm>
          <a:prstGeom prst="roundRect">
            <a:avLst>
              <a:gd name="adj" fmla="val 8750"/>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50" name="Shape 41"/>
          <p:cNvSpPr/>
          <p:nvPr/>
        </p:nvSpPr>
        <p:spPr>
          <a:xfrm>
            <a:off x="6281928" y="3392424"/>
            <a:ext cx="310896" cy="310896"/>
          </a:xfrm>
          <a:prstGeom prst="ellipse">
            <a:avLst/>
          </a:prstGeom>
          <a:solidFill>
            <a:srgbClr val="222B36"/>
          </a:solidFill>
          <a:ln/>
          <a:effectLst>
            <a:outerShdw sx="100000" sy="100000" kx="0" ky="0" algn="bl" rotWithShape="0" blurRad="127000" dist="38100" dir="5400000">
              <a:srgbClr val="1A2027">
                <a:alpha val="22000"/>
              </a:srgbClr>
            </a:outerShdw>
          </a:effectLst>
        </p:spPr>
        <p:txBody>
          <a:bodyPr/>
          <a:p/>
        </p:txBody>
      </p:sp>
      <p:pic>
        <p:nvPicPr>
          <p:cNvPr id="51" name="Image 7" descr="preencoded.png">    </p:cNvPr>
          <p:cNvPicPr>
            <a:picLocks noChangeAspect="1"/>
          </p:cNvPicPr>
          <p:nvPr/>
        </p:nvPicPr>
        <p:blipFill>
          <a:blip r:embed="rId8"/>
          <a:stretch>
            <a:fillRect/>
          </a:stretch>
        </p:blipFill>
        <p:spPr>
          <a:xfrm>
            <a:off x="6356543" y="3467039"/>
            <a:ext cx="161666" cy="161666"/>
          </a:xfrm>
          <a:prstGeom prst="rect">
            <a:avLst/>
          </a:prstGeom>
        </p:spPr>
      </p:pic>
      <p:sp>
        <p:nvSpPr>
          <p:cNvPr id="52" name="Text 42"/>
          <p:cNvSpPr/>
          <p:nvPr/>
        </p:nvSpPr>
        <p:spPr>
          <a:xfrm>
            <a:off x="6684264" y="3346704"/>
            <a:ext cx="250545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Node / Express API (TypeScript)</a:t>
            </a:r>
            <a:endParaRPr lang="en-US" sz="1050" dirty="0"/>
          </a:p>
        </p:txBody>
      </p:sp>
      <p:sp>
        <p:nvSpPr>
          <p:cNvPr id="53" name="Text 43"/>
          <p:cNvSpPr/>
          <p:nvPr/>
        </p:nvSpPr>
        <p:spPr>
          <a:xfrm>
            <a:off x="6300216" y="3694176"/>
            <a:ext cx="2871216" cy="292608"/>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REST /api · SSE streams out · WS media receiver · systemd-managed</a:t>
            </a:r>
            <a:endParaRPr lang="en-US" sz="850" dirty="0"/>
          </a:p>
        </p:txBody>
      </p:sp>
      <p:sp>
        <p:nvSpPr>
          <p:cNvPr id="54" name="Shape 44"/>
          <p:cNvSpPr/>
          <p:nvPr/>
        </p:nvSpPr>
        <p:spPr>
          <a:xfrm>
            <a:off x="6172200" y="4160520"/>
            <a:ext cx="3108960" cy="658368"/>
          </a:xfrm>
          <a:prstGeom prst="roundRect">
            <a:avLst>
              <a:gd name="adj" fmla="val 9722"/>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55" name="Shape 45"/>
          <p:cNvSpPr/>
          <p:nvPr/>
        </p:nvSpPr>
        <p:spPr>
          <a:xfrm>
            <a:off x="6281928" y="4261104"/>
            <a:ext cx="310896" cy="310896"/>
          </a:xfrm>
          <a:prstGeom prst="ellipse">
            <a:avLst/>
          </a:prstGeom>
          <a:solidFill>
            <a:srgbClr val="E8590C"/>
          </a:solidFill>
          <a:ln/>
          <a:effectLst>
            <a:outerShdw sx="100000" sy="100000" kx="0" ky="0" algn="bl" rotWithShape="0" blurRad="127000" dist="38100" dir="5400000">
              <a:srgbClr val="1A2027">
                <a:alpha val="22000"/>
              </a:srgbClr>
            </a:outerShdw>
          </a:effectLst>
        </p:spPr>
        <p:txBody>
          <a:bodyPr/>
          <a:p/>
        </p:txBody>
      </p:sp>
      <p:pic>
        <p:nvPicPr>
          <p:cNvPr id="56" name="Image 8" descr="preencoded.png">    </p:cNvPr>
          <p:cNvPicPr>
            <a:picLocks noChangeAspect="1"/>
          </p:cNvPicPr>
          <p:nvPr/>
        </p:nvPicPr>
        <p:blipFill>
          <a:blip r:embed="rId9"/>
          <a:stretch>
            <a:fillRect/>
          </a:stretch>
        </p:blipFill>
        <p:spPr>
          <a:xfrm>
            <a:off x="6356543" y="4335719"/>
            <a:ext cx="161666" cy="161666"/>
          </a:xfrm>
          <a:prstGeom prst="rect">
            <a:avLst/>
          </a:prstGeom>
        </p:spPr>
      </p:pic>
      <p:sp>
        <p:nvSpPr>
          <p:cNvPr id="57" name="Text 46"/>
          <p:cNvSpPr/>
          <p:nvPr/>
        </p:nvSpPr>
        <p:spPr>
          <a:xfrm>
            <a:off x="6684264" y="4215384"/>
            <a:ext cx="250545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Agentic AI layer</a:t>
            </a:r>
            <a:endParaRPr lang="en-US" sz="1050" dirty="0"/>
          </a:p>
        </p:txBody>
      </p:sp>
      <p:sp>
        <p:nvSpPr>
          <p:cNvPr id="58" name="Text 47"/>
          <p:cNvSpPr/>
          <p:nvPr/>
        </p:nvSpPr>
        <p:spPr>
          <a:xfrm>
            <a:off x="6300216" y="4562856"/>
            <a:ext cx="2871216" cy="219456"/>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Copilot agent (LangGraph, 23 tools) · QA evaluator · hybrid RAG retriever (BM25 + vector, RRF-fused) · prompt cache</a:t>
            </a:r>
            <a:endParaRPr lang="en-US" sz="850" dirty="0"/>
          </a:p>
        </p:txBody>
      </p:sp>
      <p:sp>
        <p:nvSpPr>
          <p:cNvPr id="59" name="Shape 48"/>
          <p:cNvSpPr/>
          <p:nvPr/>
        </p:nvSpPr>
        <p:spPr>
          <a:xfrm>
            <a:off x="6172200" y="4956048"/>
            <a:ext cx="3108960" cy="658368"/>
          </a:xfrm>
          <a:prstGeom prst="roundRect">
            <a:avLst>
              <a:gd name="adj" fmla="val 9722"/>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60" name="Shape 49"/>
          <p:cNvSpPr/>
          <p:nvPr/>
        </p:nvSpPr>
        <p:spPr>
          <a:xfrm>
            <a:off x="6281928" y="5056632"/>
            <a:ext cx="310896" cy="310896"/>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61" name="Image 9" descr="preencoded.png">    </p:cNvPr>
          <p:cNvPicPr>
            <a:picLocks noChangeAspect="1"/>
          </p:cNvPicPr>
          <p:nvPr/>
        </p:nvPicPr>
        <p:blipFill>
          <a:blip r:embed="rId10"/>
          <a:stretch>
            <a:fillRect/>
          </a:stretch>
        </p:blipFill>
        <p:spPr>
          <a:xfrm>
            <a:off x="6356543" y="5131247"/>
            <a:ext cx="161666" cy="161666"/>
          </a:xfrm>
          <a:prstGeom prst="rect">
            <a:avLst/>
          </a:prstGeom>
        </p:spPr>
      </p:pic>
      <p:sp>
        <p:nvSpPr>
          <p:cNvPr id="62" name="Text 50"/>
          <p:cNvSpPr/>
          <p:nvPr/>
        </p:nvSpPr>
        <p:spPr>
          <a:xfrm>
            <a:off x="6684264" y="5010912"/>
            <a:ext cx="2505456" cy="292608"/>
          </a:xfrm>
          <a:prstGeom prst="rect">
            <a:avLst/>
          </a:prstGeom>
          <a:noFill/>
          <a:ln/>
        </p:spPr>
        <p:txBody>
          <a:bodyPr wrap="square" lIns="0" tIns="0" rIns="0" bIns="0" rtlCol="0" anchor="ctr"/>
          <a:lstStyle/>
          <a:p>
            <a:pPr indent="0" marL="0">
              <a:buNone/>
            </a:pPr>
            <a:r>
              <a:rPr lang="en-US" sz="1050" b="1" dirty="0">
                <a:solidFill>
                  <a:srgbClr val="212933"/>
                </a:solidFill>
                <a:latin typeface="Calibri" pitchFamily="34" charset="0"/>
                <a:ea typeface="Calibri" pitchFamily="34" charset="-122"/>
                <a:cs typeface="Calibri" pitchFamily="34" charset="-120"/>
              </a:rPr>
              <a:t>Real-time analysis</a:t>
            </a:r>
            <a:endParaRPr lang="en-US" sz="1050" dirty="0"/>
          </a:p>
        </p:txBody>
      </p:sp>
      <p:sp>
        <p:nvSpPr>
          <p:cNvPr id="63" name="Text 51"/>
          <p:cNvSpPr/>
          <p:nvPr/>
        </p:nvSpPr>
        <p:spPr>
          <a:xfrm>
            <a:off x="6300216" y="5358384"/>
            <a:ext cx="2871216" cy="219456"/>
          </a:xfrm>
          <a:prstGeom prst="rect">
            <a:avLst/>
          </a:prstGeom>
          <a:noFill/>
          <a:ln/>
        </p:spPr>
        <p:txBody>
          <a:bodyPr wrap="square" lIns="0" tIns="0" rIns="0" bIns="0" rtlCol="0" anchor="ctr"/>
          <a:lstStyle/>
          <a:p>
            <a:pPr indent="0" marL="0">
              <a:lnSpc>
                <a:spcPct val="98000"/>
              </a:lnSpc>
              <a:buNone/>
            </a:pPr>
            <a:r>
              <a:rPr lang="en-US" sz="850" dirty="0">
                <a:solidFill>
                  <a:srgbClr val="5C6B7A"/>
                </a:solidFill>
                <a:latin typeface="Calibri" pitchFamily="34" charset="0"/>
                <a:ea typeface="Calibri" pitchFamily="34" charset="-122"/>
                <a:cs typeface="Calibri" pitchFamily="34" charset="-120"/>
              </a:rPr>
              <a:t>in-memory call bus · compliance rules · entities · sentiment · coaching</a:t>
            </a:r>
            <a:endParaRPr lang="en-US" sz="850" dirty="0"/>
          </a:p>
        </p:txBody>
      </p:sp>
      <p:sp>
        <p:nvSpPr>
          <p:cNvPr id="64" name="Shape 52"/>
          <p:cNvSpPr/>
          <p:nvPr/>
        </p:nvSpPr>
        <p:spPr>
          <a:xfrm>
            <a:off x="7726680" y="2487168"/>
            <a:ext cx="0" cy="118872"/>
          </a:xfrm>
          <a:prstGeom prst="line">
            <a:avLst/>
          </a:prstGeom>
          <a:noFill/>
          <a:ln w="19050">
            <a:solidFill>
              <a:srgbClr val="8A9AA8"/>
            </a:solidFill>
            <a:prstDash val="solid"/>
            <a:tailEnd type="triangle"/>
          </a:ln>
        </p:spPr>
        <p:txBody>
          <a:bodyPr/>
          <a:p/>
        </p:txBody>
      </p:sp>
      <p:sp>
        <p:nvSpPr>
          <p:cNvPr id="65" name="Shape 53"/>
          <p:cNvSpPr/>
          <p:nvPr/>
        </p:nvSpPr>
        <p:spPr>
          <a:xfrm>
            <a:off x="7726680" y="3172968"/>
            <a:ext cx="0" cy="118872"/>
          </a:xfrm>
          <a:prstGeom prst="line">
            <a:avLst/>
          </a:prstGeom>
          <a:noFill/>
          <a:ln w="19050">
            <a:solidFill>
              <a:srgbClr val="8A9AA8"/>
            </a:solidFill>
            <a:prstDash val="solid"/>
            <a:tailEnd type="triangle"/>
          </a:ln>
        </p:spPr>
        <p:txBody>
          <a:bodyPr/>
          <a:p/>
        </p:txBody>
      </p:sp>
      <p:sp>
        <p:nvSpPr>
          <p:cNvPr id="66" name="Shape 54"/>
          <p:cNvSpPr/>
          <p:nvPr/>
        </p:nvSpPr>
        <p:spPr>
          <a:xfrm>
            <a:off x="7726680" y="4023360"/>
            <a:ext cx="0" cy="137160"/>
          </a:xfrm>
          <a:prstGeom prst="line">
            <a:avLst/>
          </a:prstGeom>
          <a:noFill/>
          <a:ln w="19050">
            <a:solidFill>
              <a:srgbClr val="8A9AA8"/>
            </a:solidFill>
            <a:prstDash val="solid"/>
            <a:tailEnd type="triangle"/>
          </a:ln>
        </p:spPr>
        <p:txBody>
          <a:bodyPr/>
          <a:p/>
        </p:txBody>
      </p:sp>
      <p:sp>
        <p:nvSpPr>
          <p:cNvPr id="67" name="Shape 55"/>
          <p:cNvSpPr/>
          <p:nvPr/>
        </p:nvSpPr>
        <p:spPr>
          <a:xfrm>
            <a:off x="7726680" y="4818888"/>
            <a:ext cx="0" cy="137160"/>
          </a:xfrm>
          <a:prstGeom prst="line">
            <a:avLst/>
          </a:prstGeom>
          <a:noFill/>
          <a:ln w="19050">
            <a:solidFill>
              <a:srgbClr val="8A9AA8"/>
            </a:solidFill>
            <a:prstDash val="solid"/>
            <a:tailEnd type="triangle"/>
          </a:ln>
        </p:spPr>
        <p:txBody>
          <a:bodyPr/>
          <a:p/>
        </p:txBody>
      </p:sp>
      <p:sp>
        <p:nvSpPr>
          <p:cNvPr id="68" name="Shape 56"/>
          <p:cNvSpPr/>
          <p:nvPr/>
        </p:nvSpPr>
        <p:spPr>
          <a:xfrm>
            <a:off x="10012680" y="1938528"/>
            <a:ext cx="1554480" cy="731520"/>
          </a:xfrm>
          <a:prstGeom prst="roundRect">
            <a:avLst>
              <a:gd name="adj" fmla="val 8750"/>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69" name="Shape 57"/>
          <p:cNvSpPr/>
          <p:nvPr/>
        </p:nvSpPr>
        <p:spPr>
          <a:xfrm>
            <a:off x="10122408" y="2011680"/>
            <a:ext cx="256032" cy="256032"/>
          </a:xfrm>
          <a:prstGeom prst="ellipse">
            <a:avLst/>
          </a:prstGeom>
          <a:solidFill>
            <a:srgbClr val="50708C"/>
          </a:solidFill>
          <a:ln/>
          <a:effectLst>
            <a:outerShdw sx="100000" sy="100000" kx="0" ky="0" algn="bl" rotWithShape="0" blurRad="127000" dist="38100" dir="5400000">
              <a:srgbClr val="1A2027">
                <a:alpha val="22000"/>
              </a:srgbClr>
            </a:outerShdw>
          </a:effectLst>
        </p:spPr>
        <p:txBody>
          <a:bodyPr/>
          <a:p/>
        </p:txBody>
      </p:sp>
      <p:pic>
        <p:nvPicPr>
          <p:cNvPr id="70" name="Image 10" descr="preencoded.png">    </p:cNvPr>
          <p:cNvPicPr>
            <a:picLocks noChangeAspect="1"/>
          </p:cNvPicPr>
          <p:nvPr/>
        </p:nvPicPr>
        <p:blipFill>
          <a:blip r:embed="rId11"/>
          <a:stretch>
            <a:fillRect/>
          </a:stretch>
        </p:blipFill>
        <p:spPr>
          <a:xfrm>
            <a:off x="10183856" y="2073128"/>
            <a:ext cx="133137" cy="133137"/>
          </a:xfrm>
          <a:prstGeom prst="rect">
            <a:avLst/>
          </a:prstGeom>
        </p:spPr>
      </p:pic>
      <p:sp>
        <p:nvSpPr>
          <p:cNvPr id="71" name="Text 58"/>
          <p:cNvSpPr/>
          <p:nvPr/>
        </p:nvSpPr>
        <p:spPr>
          <a:xfrm>
            <a:off x="10469880" y="1975104"/>
            <a:ext cx="1005840" cy="274320"/>
          </a:xfrm>
          <a:prstGeom prst="rect">
            <a:avLst/>
          </a:prstGeom>
          <a:noFill/>
          <a:ln/>
        </p:spPr>
        <p:txBody>
          <a:bodyPr wrap="square" lIns="0" tIns="0" rIns="0" bIns="0" rtlCol="0" anchor="ctr"/>
          <a:lstStyle/>
          <a:p>
            <a:pPr indent="0" marL="0">
              <a:buNone/>
            </a:pPr>
            <a:r>
              <a:rPr lang="en-US" sz="950" b="1" dirty="0">
                <a:solidFill>
                  <a:srgbClr val="212933"/>
                </a:solidFill>
                <a:latin typeface="Calibri" pitchFamily="34" charset="0"/>
                <a:ea typeface="Calibri" pitchFamily="34" charset="-122"/>
                <a:cs typeface="Calibri" pitchFamily="34" charset="-120"/>
              </a:rPr>
              <a:t>Deepgram</a:t>
            </a:r>
            <a:endParaRPr lang="en-US" sz="950" dirty="0"/>
          </a:p>
        </p:txBody>
      </p:sp>
      <p:sp>
        <p:nvSpPr>
          <p:cNvPr id="72" name="Text 59"/>
          <p:cNvSpPr/>
          <p:nvPr/>
        </p:nvSpPr>
        <p:spPr>
          <a:xfrm>
            <a:off x="10140696" y="2249424"/>
            <a:ext cx="1316736" cy="402336"/>
          </a:xfrm>
          <a:prstGeom prst="rect">
            <a:avLst/>
          </a:prstGeom>
          <a:noFill/>
          <a:ln/>
        </p:spPr>
        <p:txBody>
          <a:bodyPr wrap="square" lIns="0" tIns="0" rIns="0" bIns="0" rtlCol="0" anchor="ctr"/>
          <a:lstStyle/>
          <a:p>
            <a:pPr indent="0" marL="0">
              <a:lnSpc>
                <a:spcPct val="98000"/>
              </a:lnSpc>
              <a:buNone/>
            </a:pPr>
            <a:r>
              <a:rPr lang="en-US" sz="750" dirty="0">
                <a:solidFill>
                  <a:srgbClr val="5C6B7A"/>
                </a:solidFill>
                <a:latin typeface="Calibri" pitchFamily="34" charset="0"/>
                <a:ea typeface="Calibri" pitchFamily="34" charset="-122"/>
                <a:cs typeface="Calibri" pitchFamily="34" charset="-120"/>
              </a:rPr>
              <a:t>streaming STT — both call tracks</a:t>
            </a:r>
            <a:endParaRPr lang="en-US" sz="750" dirty="0"/>
          </a:p>
        </p:txBody>
      </p:sp>
      <p:sp>
        <p:nvSpPr>
          <p:cNvPr id="73" name="Shape 60"/>
          <p:cNvSpPr/>
          <p:nvPr/>
        </p:nvSpPr>
        <p:spPr>
          <a:xfrm>
            <a:off x="10012680" y="2761488"/>
            <a:ext cx="1554480" cy="685800"/>
          </a:xfrm>
          <a:prstGeom prst="roundRect">
            <a:avLst>
              <a:gd name="adj" fmla="val 9333"/>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74" name="Shape 61"/>
          <p:cNvSpPr/>
          <p:nvPr/>
        </p:nvSpPr>
        <p:spPr>
          <a:xfrm>
            <a:off x="10122408" y="2834640"/>
            <a:ext cx="256032" cy="256032"/>
          </a:xfrm>
          <a:prstGeom prst="ellipse">
            <a:avLst/>
          </a:prstGeom>
          <a:solidFill>
            <a:srgbClr val="C0392B"/>
          </a:solidFill>
          <a:ln/>
          <a:effectLst>
            <a:outerShdw sx="100000" sy="100000" kx="0" ky="0" algn="bl" rotWithShape="0" blurRad="127000" dist="38100" dir="5400000">
              <a:srgbClr val="1A2027">
                <a:alpha val="22000"/>
              </a:srgbClr>
            </a:outerShdw>
          </a:effectLst>
        </p:spPr>
        <p:txBody>
          <a:bodyPr/>
          <a:p/>
        </p:txBody>
      </p:sp>
      <p:pic>
        <p:nvPicPr>
          <p:cNvPr id="75" name="Image 11" descr="preencoded.png">    </p:cNvPr>
          <p:cNvPicPr>
            <a:picLocks noChangeAspect="1"/>
          </p:cNvPicPr>
          <p:nvPr/>
        </p:nvPicPr>
        <p:blipFill>
          <a:blip r:embed="rId12"/>
          <a:stretch>
            <a:fillRect/>
          </a:stretch>
        </p:blipFill>
        <p:spPr>
          <a:xfrm>
            <a:off x="10183856" y="2896088"/>
            <a:ext cx="133137" cy="133137"/>
          </a:xfrm>
          <a:prstGeom prst="rect">
            <a:avLst/>
          </a:prstGeom>
        </p:spPr>
      </p:pic>
      <p:sp>
        <p:nvSpPr>
          <p:cNvPr id="76" name="Text 62"/>
          <p:cNvSpPr/>
          <p:nvPr/>
        </p:nvSpPr>
        <p:spPr>
          <a:xfrm>
            <a:off x="10469880" y="2798064"/>
            <a:ext cx="1005840" cy="274320"/>
          </a:xfrm>
          <a:prstGeom prst="rect">
            <a:avLst/>
          </a:prstGeom>
          <a:noFill/>
          <a:ln/>
        </p:spPr>
        <p:txBody>
          <a:bodyPr wrap="square" lIns="0" tIns="0" rIns="0" bIns="0" rtlCol="0" anchor="ctr"/>
          <a:lstStyle/>
          <a:p>
            <a:pPr indent="0" marL="0">
              <a:buNone/>
            </a:pPr>
            <a:r>
              <a:rPr lang="en-US" sz="950" b="1" dirty="0">
                <a:solidFill>
                  <a:srgbClr val="212933"/>
                </a:solidFill>
                <a:latin typeface="Calibri" pitchFamily="34" charset="0"/>
                <a:ea typeface="Calibri" pitchFamily="34" charset="-122"/>
                <a:cs typeface="Calibri" pitchFamily="34" charset="-120"/>
              </a:rPr>
              <a:t>OpenRouter</a:t>
            </a:r>
            <a:endParaRPr lang="en-US" sz="950" dirty="0"/>
          </a:p>
        </p:txBody>
      </p:sp>
      <p:sp>
        <p:nvSpPr>
          <p:cNvPr id="77" name="Text 63"/>
          <p:cNvSpPr/>
          <p:nvPr/>
        </p:nvSpPr>
        <p:spPr>
          <a:xfrm>
            <a:off x="10140696" y="3072384"/>
            <a:ext cx="1316736" cy="356616"/>
          </a:xfrm>
          <a:prstGeom prst="rect">
            <a:avLst/>
          </a:prstGeom>
          <a:noFill/>
          <a:ln/>
        </p:spPr>
        <p:txBody>
          <a:bodyPr wrap="square" lIns="0" tIns="0" rIns="0" bIns="0" rtlCol="0" anchor="ctr"/>
          <a:lstStyle/>
          <a:p>
            <a:pPr indent="0" marL="0">
              <a:lnSpc>
                <a:spcPct val="98000"/>
              </a:lnSpc>
              <a:buNone/>
            </a:pPr>
            <a:r>
              <a:rPr lang="en-US" sz="750" dirty="0">
                <a:solidFill>
                  <a:srgbClr val="5C6B7A"/>
                </a:solidFill>
                <a:latin typeface="Calibri" pitchFamily="34" charset="0"/>
                <a:ea typeface="Calibri" pitchFamily="34" charset="-122"/>
                <a:cs typeface="Calibri" pitchFamily="34" charset="-120"/>
              </a:rPr>
              <a:t>Claude Haiku / Opus — LLM calls</a:t>
            </a:r>
            <a:endParaRPr lang="en-US" sz="750" dirty="0"/>
          </a:p>
        </p:txBody>
      </p:sp>
      <p:sp>
        <p:nvSpPr>
          <p:cNvPr id="78" name="Shape 64"/>
          <p:cNvSpPr/>
          <p:nvPr/>
        </p:nvSpPr>
        <p:spPr>
          <a:xfrm>
            <a:off x="10012680" y="4041648"/>
            <a:ext cx="1554480" cy="530352"/>
          </a:xfrm>
          <a:prstGeom prst="roundRect">
            <a:avLst>
              <a:gd name="adj" fmla="val 12069"/>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79" name="Shape 65"/>
          <p:cNvSpPr/>
          <p:nvPr/>
        </p:nvSpPr>
        <p:spPr>
          <a:xfrm>
            <a:off x="10122408" y="4114800"/>
            <a:ext cx="256032" cy="256032"/>
          </a:xfrm>
          <a:prstGeom prst="ellipse">
            <a:avLst/>
          </a:prstGeom>
          <a:solidFill>
            <a:srgbClr val="3C4857"/>
          </a:solidFill>
          <a:ln/>
          <a:effectLst>
            <a:outerShdw sx="100000" sy="100000" kx="0" ky="0" algn="bl" rotWithShape="0" blurRad="127000" dist="38100" dir="5400000">
              <a:srgbClr val="1A2027">
                <a:alpha val="22000"/>
              </a:srgbClr>
            </a:outerShdw>
          </a:effectLst>
        </p:spPr>
        <p:txBody>
          <a:bodyPr/>
          <a:p/>
        </p:txBody>
      </p:sp>
      <p:pic>
        <p:nvPicPr>
          <p:cNvPr id="80" name="Image 12" descr="preencoded.png">    </p:cNvPr>
          <p:cNvPicPr>
            <a:picLocks noChangeAspect="1"/>
          </p:cNvPicPr>
          <p:nvPr/>
        </p:nvPicPr>
        <p:blipFill>
          <a:blip r:embed="rId13"/>
          <a:stretch>
            <a:fillRect/>
          </a:stretch>
        </p:blipFill>
        <p:spPr>
          <a:xfrm>
            <a:off x="10183856" y="4176248"/>
            <a:ext cx="133137" cy="133137"/>
          </a:xfrm>
          <a:prstGeom prst="rect">
            <a:avLst/>
          </a:prstGeom>
        </p:spPr>
      </p:pic>
      <p:sp>
        <p:nvSpPr>
          <p:cNvPr id="81" name="Text 66"/>
          <p:cNvSpPr/>
          <p:nvPr/>
        </p:nvSpPr>
        <p:spPr>
          <a:xfrm>
            <a:off x="10469880" y="4078224"/>
            <a:ext cx="1005840" cy="274320"/>
          </a:xfrm>
          <a:prstGeom prst="rect">
            <a:avLst/>
          </a:prstGeom>
          <a:noFill/>
          <a:ln/>
        </p:spPr>
        <p:txBody>
          <a:bodyPr wrap="square" lIns="0" tIns="0" rIns="0" bIns="0" rtlCol="0" anchor="ctr"/>
          <a:lstStyle/>
          <a:p>
            <a:pPr indent="0" marL="0">
              <a:buNone/>
            </a:pPr>
            <a:r>
              <a:rPr lang="en-US" sz="950" b="1" dirty="0">
                <a:solidFill>
                  <a:srgbClr val="212933"/>
                </a:solidFill>
                <a:latin typeface="Calibri" pitchFamily="34" charset="0"/>
                <a:ea typeface="Calibri" pitchFamily="34" charset="-122"/>
                <a:cs typeface="Calibri" pitchFamily="34" charset="-120"/>
              </a:rPr>
              <a:t>Ollama embedder</a:t>
            </a:r>
            <a:endParaRPr lang="en-US" sz="950" dirty="0"/>
          </a:p>
        </p:txBody>
      </p:sp>
      <p:sp>
        <p:nvSpPr>
          <p:cNvPr id="82" name="Text 67"/>
          <p:cNvSpPr/>
          <p:nvPr/>
        </p:nvSpPr>
        <p:spPr>
          <a:xfrm>
            <a:off x="10140696" y="4352544"/>
            <a:ext cx="1316736" cy="201168"/>
          </a:xfrm>
          <a:prstGeom prst="rect">
            <a:avLst/>
          </a:prstGeom>
          <a:noFill/>
          <a:ln/>
        </p:spPr>
        <p:txBody>
          <a:bodyPr wrap="square" lIns="0" tIns="0" rIns="0" bIns="0" rtlCol="0" anchor="ctr"/>
          <a:lstStyle/>
          <a:p>
            <a:pPr indent="0" marL="0">
              <a:lnSpc>
                <a:spcPct val="98000"/>
              </a:lnSpc>
              <a:buNone/>
            </a:pPr>
            <a:r>
              <a:rPr lang="en-US" sz="750" dirty="0">
                <a:solidFill>
                  <a:srgbClr val="5C6B7A"/>
                </a:solidFill>
                <a:latin typeface="Calibri" pitchFamily="34" charset="0"/>
                <a:ea typeface="Calibri" pitchFamily="34" charset="-122"/>
                <a:cs typeface="Calibri" pitchFamily="34" charset="-120"/>
              </a:rPr>
              <a:t>nomic-embed-text · 768-d</a:t>
            </a:r>
            <a:endParaRPr lang="en-US" sz="750" dirty="0"/>
          </a:p>
        </p:txBody>
      </p:sp>
      <p:sp>
        <p:nvSpPr>
          <p:cNvPr id="83" name="Shape 68"/>
          <p:cNvSpPr/>
          <p:nvPr/>
        </p:nvSpPr>
        <p:spPr>
          <a:xfrm>
            <a:off x="10012680" y="4663440"/>
            <a:ext cx="1554480" cy="530352"/>
          </a:xfrm>
          <a:prstGeom prst="roundRect">
            <a:avLst>
              <a:gd name="adj" fmla="val 12069"/>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84" name="Shape 69"/>
          <p:cNvSpPr/>
          <p:nvPr/>
        </p:nvSpPr>
        <p:spPr>
          <a:xfrm>
            <a:off x="10122408" y="4736592"/>
            <a:ext cx="256032" cy="256032"/>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85" name="Image 13" descr="preencoded.png">    </p:cNvPr>
          <p:cNvPicPr>
            <a:picLocks noChangeAspect="1"/>
          </p:cNvPicPr>
          <p:nvPr/>
        </p:nvPicPr>
        <p:blipFill>
          <a:blip r:embed="rId14"/>
          <a:stretch>
            <a:fillRect/>
          </a:stretch>
        </p:blipFill>
        <p:spPr>
          <a:xfrm>
            <a:off x="10183856" y="4798040"/>
            <a:ext cx="133137" cy="133137"/>
          </a:xfrm>
          <a:prstGeom prst="rect">
            <a:avLst/>
          </a:prstGeom>
        </p:spPr>
      </p:pic>
      <p:sp>
        <p:nvSpPr>
          <p:cNvPr id="86" name="Text 70"/>
          <p:cNvSpPr/>
          <p:nvPr/>
        </p:nvSpPr>
        <p:spPr>
          <a:xfrm>
            <a:off x="10469880" y="4700016"/>
            <a:ext cx="1005840" cy="274320"/>
          </a:xfrm>
          <a:prstGeom prst="rect">
            <a:avLst/>
          </a:prstGeom>
          <a:noFill/>
          <a:ln/>
        </p:spPr>
        <p:txBody>
          <a:bodyPr wrap="square" lIns="0" tIns="0" rIns="0" bIns="0" rtlCol="0" anchor="ctr"/>
          <a:lstStyle/>
          <a:p>
            <a:pPr indent="0" marL="0">
              <a:buNone/>
            </a:pPr>
            <a:r>
              <a:rPr lang="en-US" sz="950" b="1" dirty="0">
                <a:solidFill>
                  <a:srgbClr val="212933"/>
                </a:solidFill>
                <a:latin typeface="Calibri" pitchFamily="34" charset="0"/>
                <a:ea typeface="Calibri" pitchFamily="34" charset="-122"/>
                <a:cs typeface="Calibri" pitchFamily="34" charset="-120"/>
              </a:rPr>
              <a:t>Qdrant vector DB</a:t>
            </a:r>
            <a:endParaRPr lang="en-US" sz="950" dirty="0"/>
          </a:p>
        </p:txBody>
      </p:sp>
      <p:sp>
        <p:nvSpPr>
          <p:cNvPr id="87" name="Text 71"/>
          <p:cNvSpPr/>
          <p:nvPr/>
        </p:nvSpPr>
        <p:spPr>
          <a:xfrm>
            <a:off x="10140696" y="4974336"/>
            <a:ext cx="1316736" cy="201168"/>
          </a:xfrm>
          <a:prstGeom prst="rect">
            <a:avLst/>
          </a:prstGeom>
          <a:noFill/>
          <a:ln/>
        </p:spPr>
        <p:txBody>
          <a:bodyPr wrap="square" lIns="0" tIns="0" rIns="0" bIns="0" rtlCol="0" anchor="ctr"/>
          <a:lstStyle/>
          <a:p>
            <a:pPr indent="0" marL="0">
              <a:lnSpc>
                <a:spcPct val="98000"/>
              </a:lnSpc>
              <a:buNone/>
            </a:pPr>
            <a:r>
              <a:rPr lang="en-US" sz="750" dirty="0">
                <a:solidFill>
                  <a:srgbClr val="5C6B7A"/>
                </a:solidFill>
                <a:latin typeface="Calibri" pitchFamily="34" charset="0"/>
                <a:ea typeface="Calibri" pitchFamily="34" charset="-122"/>
                <a:cs typeface="Calibri" pitchFamily="34" charset="-120"/>
              </a:rPr>
              <a:t>Docker · 5 collections · hybrid</a:t>
            </a:r>
            <a:endParaRPr lang="en-US" sz="750" dirty="0"/>
          </a:p>
        </p:txBody>
      </p:sp>
      <p:sp>
        <p:nvSpPr>
          <p:cNvPr id="88" name="Shape 72"/>
          <p:cNvSpPr/>
          <p:nvPr/>
        </p:nvSpPr>
        <p:spPr>
          <a:xfrm>
            <a:off x="10012680" y="5285232"/>
            <a:ext cx="1554480" cy="530352"/>
          </a:xfrm>
          <a:prstGeom prst="roundRect">
            <a:avLst>
              <a:gd name="adj" fmla="val 12069"/>
            </a:avLst>
          </a:prstGeom>
          <a:solidFill>
            <a:srgbClr val="FFFFFF"/>
          </a:solidFill>
          <a:ln w="12700">
            <a:solidFill>
              <a:srgbClr val="E0E5EA"/>
            </a:solidFill>
            <a:prstDash val="solid"/>
          </a:ln>
          <a:effectLst>
            <a:outerShdw sx="100000" sy="100000" kx="0" ky="0" algn="bl" rotWithShape="0" blurRad="76200" dist="25400" dir="5400000">
              <a:srgbClr val="1A2027">
                <a:alpha val="10000"/>
              </a:srgbClr>
            </a:outerShdw>
          </a:effectLst>
        </p:spPr>
        <p:txBody>
          <a:bodyPr/>
          <a:p/>
        </p:txBody>
      </p:sp>
      <p:sp>
        <p:nvSpPr>
          <p:cNvPr id="89" name="Shape 73"/>
          <p:cNvSpPr/>
          <p:nvPr/>
        </p:nvSpPr>
        <p:spPr>
          <a:xfrm>
            <a:off x="10122408" y="5358384"/>
            <a:ext cx="256032" cy="256032"/>
          </a:xfrm>
          <a:prstGeom prst="ellipse">
            <a:avLst/>
          </a:prstGeom>
          <a:solidFill>
            <a:srgbClr val="2FA36B"/>
          </a:solidFill>
          <a:ln/>
          <a:effectLst>
            <a:outerShdw sx="100000" sy="100000" kx="0" ky="0" algn="bl" rotWithShape="0" blurRad="127000" dist="38100" dir="5400000">
              <a:srgbClr val="1A2027">
                <a:alpha val="22000"/>
              </a:srgbClr>
            </a:outerShdw>
          </a:effectLst>
        </p:spPr>
        <p:txBody>
          <a:bodyPr/>
          <a:p/>
        </p:txBody>
      </p:sp>
      <p:pic>
        <p:nvPicPr>
          <p:cNvPr id="90" name="Image 14" descr="preencoded.png">    </p:cNvPr>
          <p:cNvPicPr>
            <a:picLocks noChangeAspect="1"/>
          </p:cNvPicPr>
          <p:nvPr/>
        </p:nvPicPr>
        <p:blipFill>
          <a:blip r:embed="rId15"/>
          <a:stretch>
            <a:fillRect/>
          </a:stretch>
        </p:blipFill>
        <p:spPr>
          <a:xfrm>
            <a:off x="10183856" y="5419832"/>
            <a:ext cx="133137" cy="133137"/>
          </a:xfrm>
          <a:prstGeom prst="rect">
            <a:avLst/>
          </a:prstGeom>
        </p:spPr>
      </p:pic>
      <p:sp>
        <p:nvSpPr>
          <p:cNvPr id="91" name="Text 74"/>
          <p:cNvSpPr/>
          <p:nvPr/>
        </p:nvSpPr>
        <p:spPr>
          <a:xfrm>
            <a:off x="10469880" y="5321808"/>
            <a:ext cx="1005840" cy="274320"/>
          </a:xfrm>
          <a:prstGeom prst="rect">
            <a:avLst/>
          </a:prstGeom>
          <a:noFill/>
          <a:ln/>
        </p:spPr>
        <p:txBody>
          <a:bodyPr wrap="square" lIns="0" tIns="0" rIns="0" bIns="0" rtlCol="0" anchor="ctr"/>
          <a:lstStyle/>
          <a:p>
            <a:pPr indent="0" marL="0">
              <a:buNone/>
            </a:pPr>
            <a:r>
              <a:rPr lang="en-US" sz="950" b="1" dirty="0">
                <a:solidFill>
                  <a:srgbClr val="212933"/>
                </a:solidFill>
                <a:latin typeface="Calibri" pitchFamily="34" charset="0"/>
                <a:ea typeface="Calibri" pitchFamily="34" charset="-122"/>
                <a:cs typeface="Calibri" pitchFamily="34" charset="-120"/>
              </a:rPr>
              <a:t>MongoDB</a:t>
            </a:r>
            <a:endParaRPr lang="en-US" sz="950" dirty="0"/>
          </a:p>
        </p:txBody>
      </p:sp>
      <p:sp>
        <p:nvSpPr>
          <p:cNvPr id="92" name="Text 75"/>
          <p:cNvSpPr/>
          <p:nvPr/>
        </p:nvSpPr>
        <p:spPr>
          <a:xfrm>
            <a:off x="10140696" y="5596128"/>
            <a:ext cx="1316736" cy="201168"/>
          </a:xfrm>
          <a:prstGeom prst="rect">
            <a:avLst/>
          </a:prstGeom>
          <a:noFill/>
          <a:ln/>
        </p:spPr>
        <p:txBody>
          <a:bodyPr wrap="square" lIns="0" tIns="0" rIns="0" bIns="0" rtlCol="0" anchor="ctr"/>
          <a:lstStyle/>
          <a:p>
            <a:pPr indent="0" marL="0">
              <a:lnSpc>
                <a:spcPct val="98000"/>
              </a:lnSpc>
              <a:buNone/>
            </a:pPr>
            <a:r>
              <a:rPr lang="en-US" sz="750" dirty="0">
                <a:solidFill>
                  <a:srgbClr val="5C6B7A"/>
                </a:solidFill>
                <a:latin typeface="Calibri" pitchFamily="34" charset="0"/>
                <a:ea typeface="Calibri" pitchFamily="34" charset="-122"/>
                <a:cs typeface="Calibri" pitchFamily="34" charset="-120"/>
              </a:rPr>
              <a:t>Docker · app + reference DBs</a:t>
            </a:r>
            <a:endParaRPr lang="en-US" sz="750" dirty="0"/>
          </a:p>
        </p:txBody>
      </p:sp>
      <p:sp>
        <p:nvSpPr>
          <p:cNvPr id="93" name="Shape 76"/>
          <p:cNvSpPr/>
          <p:nvPr/>
        </p:nvSpPr>
        <p:spPr>
          <a:xfrm>
            <a:off x="2670048" y="2331720"/>
            <a:ext cx="694944" cy="0"/>
          </a:xfrm>
          <a:prstGeom prst="line">
            <a:avLst/>
          </a:prstGeom>
          <a:noFill/>
          <a:ln w="19050">
            <a:solidFill>
              <a:srgbClr val="8A9AA8"/>
            </a:solidFill>
            <a:prstDash val="solid"/>
            <a:tailEnd type="triangle"/>
          </a:ln>
        </p:spPr>
        <p:txBody>
          <a:bodyPr/>
          <a:p/>
        </p:txBody>
      </p:sp>
      <p:sp>
        <p:nvSpPr>
          <p:cNvPr id="94" name="Text 77"/>
          <p:cNvSpPr/>
          <p:nvPr/>
        </p:nvSpPr>
        <p:spPr>
          <a:xfrm>
            <a:off x="2560320" y="2084832"/>
            <a:ext cx="91440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HTTPS · SSE</a:t>
            </a:r>
            <a:endParaRPr lang="en-US" sz="750" dirty="0"/>
          </a:p>
        </p:txBody>
      </p:sp>
      <p:sp>
        <p:nvSpPr>
          <p:cNvPr id="95" name="Shape 78"/>
          <p:cNvSpPr/>
          <p:nvPr/>
        </p:nvSpPr>
        <p:spPr>
          <a:xfrm flipV="1">
            <a:off x="2670048" y="2926080"/>
            <a:ext cx="694944" cy="365760"/>
          </a:xfrm>
          <a:prstGeom prst="line">
            <a:avLst/>
          </a:prstGeom>
          <a:noFill/>
          <a:ln w="19050">
            <a:solidFill>
              <a:srgbClr val="8A9AA8"/>
            </a:solidFill>
            <a:prstDash val="solid"/>
            <a:tailEnd type="triangle"/>
          </a:ln>
        </p:spPr>
        <p:txBody>
          <a:bodyPr/>
          <a:p/>
        </p:txBody>
      </p:sp>
      <p:sp>
        <p:nvSpPr>
          <p:cNvPr id="96" name="Shape 79"/>
          <p:cNvSpPr/>
          <p:nvPr/>
        </p:nvSpPr>
        <p:spPr>
          <a:xfrm>
            <a:off x="2670048" y="3611880"/>
            <a:ext cx="694944" cy="365760"/>
          </a:xfrm>
          <a:prstGeom prst="line">
            <a:avLst/>
          </a:prstGeom>
          <a:noFill/>
          <a:ln w="19050">
            <a:solidFill>
              <a:srgbClr val="8A9AA8"/>
            </a:solidFill>
            <a:prstDash val="solid"/>
            <a:tailEnd type="triangle"/>
          </a:ln>
        </p:spPr>
        <p:txBody>
          <a:bodyPr/>
          <a:p/>
        </p:txBody>
      </p:sp>
      <p:sp>
        <p:nvSpPr>
          <p:cNvPr id="97" name="Text 80"/>
          <p:cNvSpPr/>
          <p:nvPr/>
        </p:nvSpPr>
        <p:spPr>
          <a:xfrm>
            <a:off x="2487168" y="3913632"/>
            <a:ext cx="91440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WebRTC audio</a:t>
            </a:r>
            <a:endParaRPr lang="en-US" sz="750" dirty="0"/>
          </a:p>
        </p:txBody>
      </p:sp>
      <p:sp>
        <p:nvSpPr>
          <p:cNvPr id="98" name="Shape 81"/>
          <p:cNvSpPr/>
          <p:nvPr/>
        </p:nvSpPr>
        <p:spPr>
          <a:xfrm>
            <a:off x="2670048" y="4498848"/>
            <a:ext cx="694944" cy="0"/>
          </a:xfrm>
          <a:prstGeom prst="line">
            <a:avLst/>
          </a:prstGeom>
          <a:noFill/>
          <a:ln w="19050">
            <a:solidFill>
              <a:srgbClr val="8A9AA8"/>
            </a:solidFill>
            <a:prstDash val="solid"/>
            <a:tailEnd type="triangle"/>
          </a:ln>
        </p:spPr>
        <p:txBody>
          <a:bodyPr/>
          <a:p/>
        </p:txBody>
      </p:sp>
      <p:sp>
        <p:nvSpPr>
          <p:cNvPr id="99" name="Text 82"/>
          <p:cNvSpPr/>
          <p:nvPr/>
        </p:nvSpPr>
        <p:spPr>
          <a:xfrm>
            <a:off x="2615184" y="4261104"/>
            <a:ext cx="82296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PSTN</a:t>
            </a:r>
            <a:endParaRPr lang="en-US" sz="750" dirty="0"/>
          </a:p>
        </p:txBody>
      </p:sp>
      <p:sp>
        <p:nvSpPr>
          <p:cNvPr id="100" name="Shape 83"/>
          <p:cNvSpPr/>
          <p:nvPr/>
        </p:nvSpPr>
        <p:spPr>
          <a:xfrm>
            <a:off x="4407408" y="3154680"/>
            <a:ext cx="0" cy="411480"/>
          </a:xfrm>
          <a:prstGeom prst="line">
            <a:avLst/>
          </a:prstGeom>
          <a:noFill/>
          <a:ln w="19050">
            <a:solidFill>
              <a:srgbClr val="8A9AA8"/>
            </a:solidFill>
            <a:prstDash val="solid"/>
            <a:headEnd type="triangle"/>
            <a:tailEnd type="none"/>
          </a:ln>
        </p:spPr>
        <p:txBody>
          <a:bodyPr/>
          <a:p/>
        </p:txBody>
      </p:sp>
      <p:sp>
        <p:nvSpPr>
          <p:cNvPr id="101" name="Text 84"/>
          <p:cNvSpPr/>
          <p:nvPr/>
        </p:nvSpPr>
        <p:spPr>
          <a:xfrm>
            <a:off x="4480560" y="3218688"/>
            <a:ext cx="105156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webhooks · media WS</a:t>
            </a:r>
            <a:endParaRPr lang="en-US" sz="750" dirty="0"/>
          </a:p>
        </p:txBody>
      </p:sp>
      <p:sp>
        <p:nvSpPr>
          <p:cNvPr id="102" name="Shape 85"/>
          <p:cNvSpPr/>
          <p:nvPr/>
        </p:nvSpPr>
        <p:spPr>
          <a:xfrm flipV="1">
            <a:off x="5458968" y="2240280"/>
            <a:ext cx="694944" cy="228600"/>
          </a:xfrm>
          <a:prstGeom prst="line">
            <a:avLst/>
          </a:prstGeom>
          <a:noFill/>
          <a:ln w="19050">
            <a:solidFill>
              <a:srgbClr val="8A9AA8"/>
            </a:solidFill>
            <a:prstDash val="solid"/>
            <a:tailEnd type="triangle"/>
          </a:ln>
        </p:spPr>
        <p:txBody>
          <a:bodyPr/>
          <a:p/>
        </p:txBody>
      </p:sp>
      <p:sp>
        <p:nvSpPr>
          <p:cNvPr id="103" name="Text 86"/>
          <p:cNvSpPr/>
          <p:nvPr/>
        </p:nvSpPr>
        <p:spPr>
          <a:xfrm>
            <a:off x="5394960" y="1956816"/>
            <a:ext cx="86868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tunnel</a:t>
            </a:r>
            <a:endParaRPr lang="en-US" sz="750" dirty="0"/>
          </a:p>
        </p:txBody>
      </p:sp>
      <p:sp>
        <p:nvSpPr>
          <p:cNvPr id="104" name="Shape 87"/>
          <p:cNvSpPr/>
          <p:nvPr/>
        </p:nvSpPr>
        <p:spPr>
          <a:xfrm flipV="1">
            <a:off x="9299448" y="2331720"/>
            <a:ext cx="685800" cy="1143000"/>
          </a:xfrm>
          <a:prstGeom prst="line">
            <a:avLst/>
          </a:prstGeom>
          <a:noFill/>
          <a:ln w="19050">
            <a:solidFill>
              <a:srgbClr val="8A9AA8"/>
            </a:solidFill>
            <a:prstDash val="solid"/>
            <a:tailEnd type="triangle"/>
          </a:ln>
        </p:spPr>
        <p:txBody>
          <a:bodyPr/>
          <a:p/>
        </p:txBody>
      </p:sp>
      <p:sp>
        <p:nvSpPr>
          <p:cNvPr id="105" name="Text 88"/>
          <p:cNvSpPr/>
          <p:nvPr/>
        </p:nvSpPr>
        <p:spPr>
          <a:xfrm>
            <a:off x="9235440" y="2724912"/>
            <a:ext cx="77724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WSS audio</a:t>
            </a:r>
            <a:endParaRPr lang="en-US" sz="750" dirty="0"/>
          </a:p>
        </p:txBody>
      </p:sp>
      <p:sp>
        <p:nvSpPr>
          <p:cNvPr id="106" name="Shape 89"/>
          <p:cNvSpPr/>
          <p:nvPr/>
        </p:nvSpPr>
        <p:spPr>
          <a:xfrm flipV="1">
            <a:off x="9299448" y="3127248"/>
            <a:ext cx="685800" cy="1124712"/>
          </a:xfrm>
          <a:prstGeom prst="line">
            <a:avLst/>
          </a:prstGeom>
          <a:noFill/>
          <a:ln w="19050">
            <a:solidFill>
              <a:srgbClr val="8A9AA8"/>
            </a:solidFill>
            <a:prstDash val="solid"/>
            <a:tailEnd type="triangle"/>
          </a:ln>
        </p:spPr>
        <p:txBody>
          <a:bodyPr/>
          <a:p/>
        </p:txBody>
      </p:sp>
      <p:sp>
        <p:nvSpPr>
          <p:cNvPr id="107" name="Text 90"/>
          <p:cNvSpPr/>
          <p:nvPr/>
        </p:nvSpPr>
        <p:spPr>
          <a:xfrm>
            <a:off x="9217152" y="3520440"/>
            <a:ext cx="77724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LLM calls</a:t>
            </a:r>
            <a:endParaRPr lang="en-US" sz="750" dirty="0"/>
          </a:p>
        </p:txBody>
      </p:sp>
      <p:sp>
        <p:nvSpPr>
          <p:cNvPr id="108" name="Shape 91"/>
          <p:cNvSpPr/>
          <p:nvPr/>
        </p:nvSpPr>
        <p:spPr>
          <a:xfrm flipV="1">
            <a:off x="9299448" y="4306824"/>
            <a:ext cx="685800" cy="128016"/>
          </a:xfrm>
          <a:prstGeom prst="line">
            <a:avLst/>
          </a:prstGeom>
          <a:noFill/>
          <a:ln w="19050">
            <a:solidFill>
              <a:srgbClr val="8A9AA8"/>
            </a:solidFill>
            <a:prstDash val="solid"/>
            <a:tailEnd type="triangle"/>
          </a:ln>
        </p:spPr>
        <p:txBody>
          <a:bodyPr/>
          <a:p/>
        </p:txBody>
      </p:sp>
      <p:sp>
        <p:nvSpPr>
          <p:cNvPr id="109" name="Text 92"/>
          <p:cNvSpPr/>
          <p:nvPr/>
        </p:nvSpPr>
        <p:spPr>
          <a:xfrm>
            <a:off x="9454896" y="4059936"/>
            <a:ext cx="54864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embed</a:t>
            </a:r>
            <a:endParaRPr lang="en-US" sz="750" dirty="0"/>
          </a:p>
        </p:txBody>
      </p:sp>
      <p:sp>
        <p:nvSpPr>
          <p:cNvPr id="110" name="Shape 93"/>
          <p:cNvSpPr/>
          <p:nvPr/>
        </p:nvSpPr>
        <p:spPr>
          <a:xfrm>
            <a:off x="9299448" y="4645152"/>
            <a:ext cx="685800" cy="283464"/>
          </a:xfrm>
          <a:prstGeom prst="line">
            <a:avLst/>
          </a:prstGeom>
          <a:noFill/>
          <a:ln w="19050">
            <a:solidFill>
              <a:srgbClr val="8A9AA8"/>
            </a:solidFill>
            <a:prstDash val="solid"/>
            <a:tailEnd type="triangle"/>
          </a:ln>
        </p:spPr>
        <p:txBody>
          <a:bodyPr/>
          <a:p/>
        </p:txBody>
      </p:sp>
      <p:sp>
        <p:nvSpPr>
          <p:cNvPr id="111" name="Text 94"/>
          <p:cNvSpPr/>
          <p:nvPr/>
        </p:nvSpPr>
        <p:spPr>
          <a:xfrm>
            <a:off x="9345168" y="4901184"/>
            <a:ext cx="59436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RAG</a:t>
            </a:r>
            <a:endParaRPr lang="en-US" sz="750" dirty="0"/>
          </a:p>
        </p:txBody>
      </p:sp>
      <p:sp>
        <p:nvSpPr>
          <p:cNvPr id="112" name="Shape 95"/>
          <p:cNvSpPr/>
          <p:nvPr/>
        </p:nvSpPr>
        <p:spPr>
          <a:xfrm>
            <a:off x="9299448" y="5413248"/>
            <a:ext cx="685800" cy="137160"/>
          </a:xfrm>
          <a:prstGeom prst="line">
            <a:avLst/>
          </a:prstGeom>
          <a:noFill/>
          <a:ln w="19050">
            <a:solidFill>
              <a:srgbClr val="8A9AA8"/>
            </a:solidFill>
            <a:prstDash val="solid"/>
            <a:tailEnd type="triangle"/>
          </a:ln>
        </p:spPr>
        <p:txBody>
          <a:bodyPr/>
          <a:p/>
        </p:txBody>
      </p:sp>
      <p:sp>
        <p:nvSpPr>
          <p:cNvPr id="113" name="Text 96"/>
          <p:cNvSpPr/>
          <p:nvPr/>
        </p:nvSpPr>
        <p:spPr>
          <a:xfrm>
            <a:off x="9272016" y="5157216"/>
            <a:ext cx="731520" cy="219456"/>
          </a:xfrm>
          <a:prstGeom prst="rect">
            <a:avLst/>
          </a:prstGeom>
          <a:noFill/>
          <a:ln/>
        </p:spPr>
        <p:txBody>
          <a:bodyPr wrap="square" lIns="0" tIns="0" rIns="0" bIns="0" rtlCol="0" anchor="ctr"/>
          <a:lstStyle/>
          <a:p>
            <a:pPr algn="ctr" indent="0" marL="0">
              <a:buNone/>
            </a:pPr>
            <a:r>
              <a:rPr lang="en-US" sz="750" b="1" dirty="0">
                <a:solidFill>
                  <a:srgbClr val="5C6B7A"/>
                </a:solidFill>
                <a:latin typeface="Calibri" pitchFamily="34" charset="0"/>
                <a:ea typeface="Calibri" pitchFamily="34" charset="-122"/>
                <a:cs typeface="Calibri" pitchFamily="34" charset="-120"/>
              </a:rPr>
              <a:t>persist</a:t>
            </a:r>
            <a:endParaRPr lang="en-US" sz="750" dirty="0"/>
          </a:p>
        </p:txBody>
      </p:sp>
    </p:spTree>
  </p:cSld>
  <p:clrMapOvr>
    <a:masterClrMapping/>
  </p:clrMapOvr>
</p:sld>
</file>

<file path=ppt/theme/theme1.xml><?xml version="1.0" encoding="utf-8"?>
<a:theme xmlns:a="http://schemas.openxmlformats.org/drawingml/2006/main" name="1_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3" id="{75DB2D68-EB8A-4D47-9097-25EC9E13C876}" vid="{0310C97A-7711-40A4-A3F2-58B78CFBECD1}"/>
    </a:ext>
  </a:extLst>
</a:theme>
</file>

<file path=ppt/theme/theme1_b.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XL">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XL" id="{68B02986-82C5-4061-A57C-C8B87125180A}" vid="{4677AF4B-9B33-4684-B6BB-99EE4D7BDE7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465</Words>
  <Application>Microsoft Office PowerPoint</Application>
  <PresentationFormat>Widescreen</PresentationFormat>
  <Paragraphs>86</Paragraphs>
  <Slides>7</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Arial</vt:lpstr>
      <vt:lpstr>Calibri</vt:lpstr>
      <vt:lpstr>Calibri Light</vt:lpstr>
      <vt:lpstr>System Font Regular</vt:lpstr>
      <vt:lpstr>1_Office Theme</vt:lpstr>
      <vt:lpstr>EXL</vt:lpstr>
      <vt:lpstr>Reference Deck - [Solution Name]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Vinayak Chopra</dc:creator>
  <cp:lastModifiedBy>Vinayak Chopra</cp:lastModifiedBy>
  <cp:revision>1</cp:revision>
  <dcterms:created xsi:type="dcterms:W3CDTF">2026-08-12T10:03:27Z</dcterms:created>
  <dcterms:modified xsi:type="dcterms:W3CDTF">2026-08-12T13:29:26Z</dcterms:modified>
</cp:coreProperties>
</file>