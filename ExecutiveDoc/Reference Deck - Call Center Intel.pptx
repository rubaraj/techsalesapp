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81" r:id="rId2"/>
  </p:sldMasterIdLst>
  <p:notesMasterIdLst>
    <p:notesMasterId r:id="rId10"/>
  </p:notesMasterIdLst>
  <p:sldIdLst>
    <p:sldId id="2147474090" r:id="rId3"/>
    <p:sldId id="257" r:id="rId4"/>
    <p:sldId id="259" r:id="rId5"/>
    <p:sldId id="260" r:id="rId6"/>
    <p:sldId id="262" r:id="rId7"/>
    <p:sldId id="263" r:id="rId8"/>
    <p:sldId id="264"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1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4CC805-E335-4D58-8E28-345773987620}" v="8" dt="2026-08-12T10:25:20.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ak Chopra" userId="ae75b830-3825-4053-b001-31c1e484de6e" providerId="ADAL" clId="{07E23E91-0C82-4FE9-B4F0-00D6CE322762}"/>
    <pc:docChg chg="custSel addSld delSld modSld modMainMaster">
      <pc:chgData name="Vinayak Chopra" userId="ae75b830-3825-4053-b001-31c1e484de6e" providerId="ADAL" clId="{07E23E91-0C82-4FE9-B4F0-00D6CE322762}" dt="2026-08-12T13:29:21.713" v="104" actId="20577"/>
      <pc:docMkLst>
        <pc:docMk/>
      </pc:docMkLst>
      <pc:sldChg chg="del">
        <pc:chgData name="Vinayak Chopra" userId="ae75b830-3825-4053-b001-31c1e484de6e" providerId="ADAL" clId="{07E23E91-0C82-4FE9-B4F0-00D6CE322762}" dt="2026-08-12T10:06:43.806" v="30" actId="47"/>
        <pc:sldMkLst>
          <pc:docMk/>
          <pc:sldMk cId="0" sldId="256"/>
        </pc:sldMkLst>
      </pc:sldChg>
      <pc:sldChg chg="delSp modSp mod">
        <pc:chgData name="Vinayak Chopra" userId="ae75b830-3825-4053-b001-31c1e484de6e" providerId="ADAL" clId="{07E23E91-0C82-4FE9-B4F0-00D6CE322762}" dt="2026-08-12T13:29:21.713" v="104" actId="20577"/>
        <pc:sldMkLst>
          <pc:docMk/>
          <pc:sldMk cId="0" sldId="257"/>
        </pc:sldMkLst>
        <pc:spChg chg="mod">
          <ac:chgData name="Vinayak Chopra" userId="ae75b830-3825-4053-b001-31c1e484de6e" providerId="ADAL" clId="{07E23E91-0C82-4FE9-B4F0-00D6CE322762}" dt="2026-08-12T13:29:21.713" v="104" actId="20577"/>
          <ac:spMkLst>
            <pc:docMk/>
            <pc:sldMk cId="0" sldId="257"/>
            <ac:spMk id="9" creationId="{00000000-0000-0000-0000-000000000000}"/>
          </ac:spMkLst>
        </pc:spChg>
        <pc:spChg chg="del">
          <ac:chgData name="Vinayak Chopra" userId="ae75b830-3825-4053-b001-31c1e484de6e" providerId="ADAL" clId="{07E23E91-0C82-4FE9-B4F0-00D6CE322762}" dt="2026-08-12T10:07:38.355" v="54" actId="478"/>
          <ac:spMkLst>
            <pc:docMk/>
            <pc:sldMk cId="0" sldId="257"/>
            <ac:spMk id="14" creationId="{00000000-0000-0000-0000-000000000000}"/>
          </ac:spMkLst>
        </pc:spChg>
      </pc:sldChg>
      <pc:sldChg chg="delSp del mod modShow">
        <pc:chgData name="Vinayak Chopra" userId="ae75b830-3825-4053-b001-31c1e484de6e" providerId="ADAL" clId="{07E23E91-0C82-4FE9-B4F0-00D6CE322762}" dt="2026-08-12T11:27:30.020" v="69" actId="2696"/>
        <pc:sldMkLst>
          <pc:docMk/>
          <pc:sldMk cId="0" sldId="258"/>
        </pc:sldMkLst>
        <pc:spChg chg="del">
          <ac:chgData name="Vinayak Chopra" userId="ae75b830-3825-4053-b001-31c1e484de6e" providerId="ADAL" clId="{07E23E91-0C82-4FE9-B4F0-00D6CE322762}" dt="2026-08-12T10:07:53.507" v="56" actId="478"/>
          <ac:spMkLst>
            <pc:docMk/>
            <pc:sldMk cId="0" sldId="258"/>
            <ac:spMk id="16" creationId="{00000000-0000-0000-0000-000000000000}"/>
          </ac:spMkLst>
        </pc:spChg>
      </pc:sldChg>
      <pc:sldChg chg="delSp modSp mod">
        <pc:chgData name="Vinayak Chopra" userId="ae75b830-3825-4053-b001-31c1e484de6e" providerId="ADAL" clId="{07E23E91-0C82-4FE9-B4F0-00D6CE322762}" dt="2026-08-12T11:27:35.882" v="71" actId="20577"/>
        <pc:sldMkLst>
          <pc:docMk/>
          <pc:sldMk cId="0" sldId="259"/>
        </pc:sldMkLst>
        <pc:spChg chg="mod">
          <ac:chgData name="Vinayak Chopra" userId="ae75b830-3825-4053-b001-31c1e484de6e" providerId="ADAL" clId="{07E23E91-0C82-4FE9-B4F0-00D6CE322762}" dt="2026-08-12T11:27:35.882" v="71" actId="20577"/>
          <ac:spMkLst>
            <pc:docMk/>
            <pc:sldMk cId="0" sldId="259"/>
            <ac:spMk id="2" creationId="{00000000-0000-0000-0000-000000000000}"/>
          </ac:spMkLst>
        </pc:spChg>
        <pc:spChg chg="del">
          <ac:chgData name="Vinayak Chopra" userId="ae75b830-3825-4053-b001-31c1e484de6e" providerId="ADAL" clId="{07E23E91-0C82-4FE9-B4F0-00D6CE322762}" dt="2026-08-12T10:07:58.762" v="57" actId="478"/>
          <ac:spMkLst>
            <pc:docMk/>
            <pc:sldMk cId="0" sldId="259"/>
            <ac:spMk id="26" creationId="{00000000-0000-0000-0000-000000000000}"/>
          </ac:spMkLst>
        </pc:spChg>
      </pc:sldChg>
      <pc:sldChg chg="delSp modSp mod">
        <pc:chgData name="Vinayak Chopra" userId="ae75b830-3825-4053-b001-31c1e484de6e" providerId="ADAL" clId="{07E23E91-0C82-4FE9-B4F0-00D6CE322762}" dt="2026-08-12T11:27:39.431" v="73" actId="20577"/>
        <pc:sldMkLst>
          <pc:docMk/>
          <pc:sldMk cId="0" sldId="260"/>
        </pc:sldMkLst>
        <pc:spChg chg="mod">
          <ac:chgData name="Vinayak Chopra" userId="ae75b830-3825-4053-b001-31c1e484de6e" providerId="ADAL" clId="{07E23E91-0C82-4FE9-B4F0-00D6CE322762}" dt="2026-08-12T11:27:39.431" v="73" actId="20577"/>
          <ac:spMkLst>
            <pc:docMk/>
            <pc:sldMk cId="0" sldId="260"/>
            <ac:spMk id="2" creationId="{00000000-0000-0000-0000-000000000000}"/>
          </ac:spMkLst>
        </pc:spChg>
        <pc:spChg chg="del">
          <ac:chgData name="Vinayak Chopra" userId="ae75b830-3825-4053-b001-31c1e484de6e" providerId="ADAL" clId="{07E23E91-0C82-4FE9-B4F0-00D6CE322762}" dt="2026-08-12T10:08:07.795" v="58" actId="478"/>
          <ac:spMkLst>
            <pc:docMk/>
            <pc:sldMk cId="0" sldId="260"/>
            <ac:spMk id="18" creationId="{00000000-0000-0000-0000-000000000000}"/>
          </ac:spMkLst>
        </pc:spChg>
      </pc:sldChg>
      <pc:sldChg chg="delSp del mod modShow">
        <pc:chgData name="Vinayak Chopra" userId="ae75b830-3825-4053-b001-31c1e484de6e" providerId="ADAL" clId="{07E23E91-0C82-4FE9-B4F0-00D6CE322762}" dt="2026-08-12T11:27:26.448" v="68" actId="2696"/>
        <pc:sldMkLst>
          <pc:docMk/>
          <pc:sldMk cId="0" sldId="261"/>
        </pc:sldMkLst>
        <pc:spChg chg="del">
          <ac:chgData name="Vinayak Chopra" userId="ae75b830-3825-4053-b001-31c1e484de6e" providerId="ADAL" clId="{07E23E91-0C82-4FE9-B4F0-00D6CE322762}" dt="2026-08-12T10:08:16.783" v="59" actId="478"/>
          <ac:spMkLst>
            <pc:docMk/>
            <pc:sldMk cId="0" sldId="261"/>
            <ac:spMk id="24" creationId="{00000000-0000-0000-0000-000000000000}"/>
          </ac:spMkLst>
        </pc:spChg>
      </pc:sldChg>
      <pc:sldChg chg="delSp modSp mod">
        <pc:chgData name="Vinayak Chopra" userId="ae75b830-3825-4053-b001-31c1e484de6e" providerId="ADAL" clId="{07E23E91-0C82-4FE9-B4F0-00D6CE322762}" dt="2026-08-12T11:27:57.023" v="90" actId="20577"/>
        <pc:sldMkLst>
          <pc:docMk/>
          <pc:sldMk cId="0" sldId="262"/>
        </pc:sldMkLst>
        <pc:spChg chg="mod">
          <ac:chgData name="Vinayak Chopra" userId="ae75b830-3825-4053-b001-31c1e484de6e" providerId="ADAL" clId="{07E23E91-0C82-4FE9-B4F0-00D6CE322762}" dt="2026-08-12T11:27:57.023" v="90" actId="20577"/>
          <ac:spMkLst>
            <pc:docMk/>
            <pc:sldMk cId="0" sldId="262"/>
            <ac:spMk id="2" creationId="{00000000-0000-0000-0000-000000000000}"/>
          </ac:spMkLst>
        </pc:spChg>
        <pc:spChg chg="del">
          <ac:chgData name="Vinayak Chopra" userId="ae75b830-3825-4053-b001-31c1e484de6e" providerId="ADAL" clId="{07E23E91-0C82-4FE9-B4F0-00D6CE322762}" dt="2026-08-12T10:08:24.221" v="60" actId="478"/>
          <ac:spMkLst>
            <pc:docMk/>
            <pc:sldMk cId="0" sldId="262"/>
            <ac:spMk id="20" creationId="{00000000-0000-0000-0000-000000000000}"/>
          </ac:spMkLst>
        </pc:spChg>
      </pc:sldChg>
      <pc:sldChg chg="delSp modSp mod">
        <pc:chgData name="Vinayak Chopra" userId="ae75b830-3825-4053-b001-31c1e484de6e" providerId="ADAL" clId="{07E23E91-0C82-4FE9-B4F0-00D6CE322762}" dt="2026-08-12T11:28:19.805" v="96" actId="20577"/>
        <pc:sldMkLst>
          <pc:docMk/>
          <pc:sldMk cId="0" sldId="263"/>
        </pc:sldMkLst>
        <pc:spChg chg="mod">
          <ac:chgData name="Vinayak Chopra" userId="ae75b830-3825-4053-b001-31c1e484de6e" providerId="ADAL" clId="{07E23E91-0C82-4FE9-B4F0-00D6CE322762}" dt="2026-08-12T11:28:19.805" v="96" actId="20577"/>
          <ac:spMkLst>
            <pc:docMk/>
            <pc:sldMk cId="0" sldId="263"/>
            <ac:spMk id="2" creationId="{00000000-0000-0000-0000-000000000000}"/>
          </ac:spMkLst>
        </pc:spChg>
        <pc:spChg chg="del">
          <ac:chgData name="Vinayak Chopra" userId="ae75b830-3825-4053-b001-31c1e484de6e" providerId="ADAL" clId="{07E23E91-0C82-4FE9-B4F0-00D6CE322762}" dt="2026-08-12T10:08:38.026" v="62" actId="478"/>
          <ac:spMkLst>
            <pc:docMk/>
            <pc:sldMk cId="0" sldId="263"/>
            <ac:spMk id="16" creationId="{00000000-0000-0000-0000-000000000000}"/>
          </ac:spMkLst>
        </pc:spChg>
      </pc:sldChg>
      <pc:sldChg chg="delSp modSp mod">
        <pc:chgData name="Vinayak Chopra" userId="ae75b830-3825-4053-b001-31c1e484de6e" providerId="ADAL" clId="{07E23E91-0C82-4FE9-B4F0-00D6CE322762}" dt="2026-08-12T11:28:23.952" v="98" actId="20577"/>
        <pc:sldMkLst>
          <pc:docMk/>
          <pc:sldMk cId="0" sldId="264"/>
        </pc:sldMkLst>
        <pc:spChg chg="mod">
          <ac:chgData name="Vinayak Chopra" userId="ae75b830-3825-4053-b001-31c1e484de6e" providerId="ADAL" clId="{07E23E91-0C82-4FE9-B4F0-00D6CE322762}" dt="2026-08-12T11:28:23.952" v="98" actId="20577"/>
          <ac:spMkLst>
            <pc:docMk/>
            <pc:sldMk cId="0" sldId="264"/>
            <ac:spMk id="2" creationId="{00000000-0000-0000-0000-000000000000}"/>
          </ac:spMkLst>
        </pc:spChg>
        <pc:spChg chg="del">
          <ac:chgData name="Vinayak Chopra" userId="ae75b830-3825-4053-b001-31c1e484de6e" providerId="ADAL" clId="{07E23E91-0C82-4FE9-B4F0-00D6CE322762}" dt="2026-08-12T10:08:31.210" v="61" actId="478"/>
          <ac:spMkLst>
            <pc:docMk/>
            <pc:sldMk cId="0" sldId="264"/>
            <ac:spMk id="17" creationId="{00000000-0000-0000-0000-000000000000}"/>
          </ac:spMkLst>
        </pc:spChg>
      </pc:sldChg>
      <pc:sldChg chg="delSp del mod modShow">
        <pc:chgData name="Vinayak Chopra" userId="ae75b830-3825-4053-b001-31c1e484de6e" providerId="ADAL" clId="{07E23E91-0C82-4FE9-B4F0-00D6CE322762}" dt="2026-08-12T11:27:21.849" v="67" actId="2696"/>
        <pc:sldMkLst>
          <pc:docMk/>
          <pc:sldMk cId="0" sldId="265"/>
        </pc:sldMkLst>
        <pc:spChg chg="del">
          <ac:chgData name="Vinayak Chopra" userId="ae75b830-3825-4053-b001-31c1e484de6e" providerId="ADAL" clId="{07E23E91-0C82-4FE9-B4F0-00D6CE322762}" dt="2026-08-12T10:08:45.159" v="63" actId="478"/>
          <ac:spMkLst>
            <pc:docMk/>
            <pc:sldMk cId="0" sldId="265"/>
            <ac:spMk id="38" creationId="{00000000-0000-0000-0000-000000000000}"/>
          </ac:spMkLst>
        </pc:spChg>
      </pc:sldChg>
      <pc:sldChg chg="modSp del">
        <pc:chgData name="Vinayak Chopra" userId="ae75b830-3825-4053-b001-31c1e484de6e" providerId="ADAL" clId="{07E23E91-0C82-4FE9-B4F0-00D6CE322762}" dt="2026-08-12T10:07:40.433" v="55" actId="47"/>
        <pc:sldMkLst>
          <pc:docMk/>
          <pc:sldMk cId="3118879877" sldId="2147474089"/>
        </pc:sldMkLst>
        <pc:spChg chg="mod">
          <ac:chgData name="Vinayak Chopra" userId="ae75b830-3825-4053-b001-31c1e484de6e" providerId="ADAL" clId="{07E23E91-0C82-4FE9-B4F0-00D6CE322762}" dt="2026-08-12T10:07:11.461" v="52"/>
          <ac:spMkLst>
            <pc:docMk/>
            <pc:sldMk cId="3118879877" sldId="2147474089"/>
            <ac:spMk id="4" creationId="{48B3C534-FAED-A1BA-A35B-47B2B09ACDAE}"/>
          </ac:spMkLst>
        </pc:spChg>
      </pc:sldChg>
      <pc:sldChg chg="modSp new mod">
        <pc:chgData name="Vinayak Chopra" userId="ae75b830-3825-4053-b001-31c1e484de6e" providerId="ADAL" clId="{07E23E91-0C82-4FE9-B4F0-00D6CE322762}" dt="2026-08-12T10:06:50.530" v="51" actId="20577"/>
        <pc:sldMkLst>
          <pc:docMk/>
          <pc:sldMk cId="2226253077" sldId="2147474090"/>
        </pc:sldMkLst>
        <pc:spChg chg="mod">
          <ac:chgData name="Vinayak Chopra" userId="ae75b830-3825-4053-b001-31c1e484de6e" providerId="ADAL" clId="{07E23E91-0C82-4FE9-B4F0-00D6CE322762}" dt="2026-08-12T10:06:50.530" v="51" actId="20577"/>
          <ac:spMkLst>
            <pc:docMk/>
            <pc:sldMk cId="2226253077" sldId="2147474090"/>
            <ac:spMk id="2" creationId="{B164B619-41E6-3EC5-BED3-4E431A370388}"/>
          </ac:spMkLst>
        </pc:spChg>
        <pc:spChg chg="mod">
          <ac:chgData name="Vinayak Chopra" userId="ae75b830-3825-4053-b001-31c1e484de6e" providerId="ADAL" clId="{07E23E91-0C82-4FE9-B4F0-00D6CE322762}" dt="2026-08-12T10:06:34.369" v="29" actId="20577"/>
          <ac:spMkLst>
            <pc:docMk/>
            <pc:sldMk cId="2226253077" sldId="2147474090"/>
            <ac:spMk id="3" creationId="{E9188A95-265D-6486-662A-193FF82B051E}"/>
          </ac:spMkLst>
        </pc:spChg>
      </pc:sldChg>
      <pc:sldMasterChg chg="modSldLayout">
        <pc:chgData name="Vinayak Chopra" userId="ae75b830-3825-4053-b001-31c1e484de6e" providerId="ADAL" clId="{07E23E91-0C82-4FE9-B4F0-00D6CE322762}" dt="2026-08-12T10:07:24.603" v="53" actId="22"/>
        <pc:sldMasterMkLst>
          <pc:docMk/>
          <pc:sldMasterMk cId="4062608439" sldId="2147483681"/>
        </pc:sldMasterMkLst>
        <pc:sldLayoutChg chg="addSp mod">
          <pc:chgData name="Vinayak Chopra" userId="ae75b830-3825-4053-b001-31c1e484de6e" providerId="ADAL" clId="{07E23E91-0C82-4FE9-B4F0-00D6CE322762}" dt="2026-08-12T10:07:24.603" v="53" actId="22"/>
          <pc:sldLayoutMkLst>
            <pc:docMk/>
            <pc:sldMasterMk cId="4062608439" sldId="2147483681"/>
            <pc:sldLayoutMk cId="4043130791" sldId="2147483712"/>
          </pc:sldLayoutMkLst>
          <pc:spChg chg="add">
            <ac:chgData name="Vinayak Chopra" userId="ae75b830-3825-4053-b001-31c1e484de6e" providerId="ADAL" clId="{07E23E91-0C82-4FE9-B4F0-00D6CE322762}" dt="2026-08-12T10:07:24.603" v="53" actId="22"/>
            <ac:spMkLst>
              <pc:docMk/>
              <pc:sldMasterMk cId="4062608439" sldId="2147483681"/>
              <pc:sldLayoutMk cId="4043130791" sldId="2147483712"/>
              <ac:spMk id="5" creationId="{C4170704-99A4-6D39-B6D4-ACC22B80E6A6}"/>
            </ac:spMkLst>
          </pc:spChg>
          <pc:spChg chg="add">
            <ac:chgData name="Vinayak Chopra" userId="ae75b830-3825-4053-b001-31c1e484de6e" providerId="ADAL" clId="{07E23E91-0C82-4FE9-B4F0-00D6CE322762}" dt="2026-08-12T10:07:24.603" v="53" actId="22"/>
            <ac:spMkLst>
              <pc:docMk/>
              <pc:sldMasterMk cId="4062608439" sldId="2147483681"/>
              <pc:sldLayoutMk cId="4043130791" sldId="2147483712"/>
              <ac:spMk id="7" creationId="{0B89C1DE-9F44-FEE0-CEC9-2F039E22727D}"/>
            </ac:spMkLst>
          </pc:spChg>
          <pc:picChg chg="add">
            <ac:chgData name="Vinayak Chopra" userId="ae75b830-3825-4053-b001-31c1e484de6e" providerId="ADAL" clId="{07E23E91-0C82-4FE9-B4F0-00D6CE322762}" dt="2026-08-12T10:07:24.603" v="53" actId="22"/>
            <ac:picMkLst>
              <pc:docMk/>
              <pc:sldMasterMk cId="4062608439" sldId="2147483681"/>
              <pc:sldLayoutMk cId="4043130791" sldId="2147483712"/>
              <ac:picMk id="3" creationId="{E0AC088D-5C3F-38FC-2F05-0274CDA25FF8}"/>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345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23841095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388102093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7590883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  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76254011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10936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81164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37624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2328487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9935956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33523650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024852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726571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51077146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54845337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48924486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702511"/>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95136151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509938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585882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519653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1530276"/>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193487972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67426723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403843713"/>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114469299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340399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82936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6}"/>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304700343"/>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6}"/>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168738129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5"/>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639860"/>
            <a:ext cx="6376317" cy="182358"/>
          </a:xfrm>
        </p:spPr>
        <p:txBody>
          <a:bodyPr>
            <a:noAutofit/>
          </a:bodyPr>
          <a:lstStyle>
            <a:lvl1pPr algn="r">
              <a:defRPr sz="800"/>
            </a:lvl1pPr>
          </a:lstStyle>
          <a:p>
            <a:r>
              <a:rPr lang="en-US"/>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0"/>
            <a:ext cx="481556" cy="182358"/>
          </a:xfrm>
        </p:spPr>
        <p:txBody>
          <a:bodyPr>
            <a:noAutofit/>
          </a:bodyPr>
          <a:lstStyle>
            <a:lvl1pPr algn="l">
              <a:defRPr sz="800"/>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373631029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100802301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250185509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35440438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35567414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018554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580031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2116188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94198458"/>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4652385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0493619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099235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8682982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882113361"/>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68844469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5189913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512228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81322873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173160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3713271"/>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6503373"/>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985244"/>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264141858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2218573677"/>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547814993"/>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p:nvSpPr>
        <p:spPr>
          <a:xfrm>
            <a:off x="8955344" y="645799"/>
            <a:ext cx="2945230" cy="769441"/>
          </a:xfrm>
          <a:prstGeom prst="rect">
            <a:avLst/>
          </a:prstGeom>
          <a:noFill/>
        </p:spPr>
        <p:txBody>
          <a:bodyPr wrap="none" rtlCol="0">
            <a:spAutoFit/>
          </a:bodyPr>
          <a:lstStyle/>
          <a:p>
            <a:r>
              <a:rPr lang="en-US" sz="440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3695503537"/>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184950696"/>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0904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734556920"/>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409063596"/>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66B39-7429-FECB-C856-10FBD328EB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45EA5A-4D9B-B37D-0C28-EF9CEDFB47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ABD9EA-7C74-6F64-4C57-6A986327CEF9}"/>
              </a:ext>
            </a:extLst>
          </p:cNvPr>
          <p:cNvSpPr>
            <a:spLocks noGrp="1"/>
          </p:cNvSpPr>
          <p:nvPr>
            <p:ph type="dt" sz="half" idx="10"/>
          </p:nvPr>
        </p:nvSpPr>
        <p:spPr/>
        <p:txBody>
          <a:bodyPr/>
          <a:lstStyle/>
          <a:p>
            <a:fld id="{2761D5B2-7168-4F15-A039-2A61F3B5166B}" type="datetimeFigureOut">
              <a:rPr lang="en-IN" smtClean="0"/>
              <a:t>12-08-2026</a:t>
            </a:fld>
            <a:endParaRPr lang="en-IN"/>
          </a:p>
        </p:txBody>
      </p:sp>
      <p:sp>
        <p:nvSpPr>
          <p:cNvPr id="5" name="Footer Placeholder 4">
            <a:extLst>
              <a:ext uri="{FF2B5EF4-FFF2-40B4-BE49-F238E27FC236}">
                <a16:creationId xmlns:a16="http://schemas.microsoft.com/office/drawing/2014/main" id="{7A496A33-4108-EAE0-DD74-E71ECDA53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CF3A5-A999-88AE-5B87-B6481FA3E3E7}"/>
              </a:ext>
            </a:extLst>
          </p:cNvPr>
          <p:cNvSpPr>
            <a:spLocks noGrp="1"/>
          </p:cNvSpPr>
          <p:nvPr>
            <p:ph type="sldNum" sz="quarter" idx="12"/>
          </p:nvPr>
        </p:nvSpPr>
        <p:spPr/>
        <p:txBody>
          <a:bodyPr/>
          <a:lstStyle/>
          <a:p>
            <a:fld id="{F0DA1BE7-A8B1-4AA5-8C20-D4EAC50DEC72}" type="slidenum">
              <a:rPr lang="en-IN" smtClean="0"/>
              <a:t>‹#›</a:t>
            </a:fld>
            <a:endParaRPr lang="en-IN"/>
          </a:p>
        </p:txBody>
      </p:sp>
    </p:spTree>
    <p:extLst>
      <p:ext uri="{BB962C8B-B14F-4D97-AF65-F5344CB8AC3E}">
        <p14:creationId xmlns:p14="http://schemas.microsoft.com/office/powerpoint/2010/main" val="1348559668"/>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AC088D-5C3F-38FC-2F05-0274CDA25FF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Box 4">
            <a:extLst>
              <a:ext uri="{FF2B5EF4-FFF2-40B4-BE49-F238E27FC236}">
                <a16:creationId xmlns:a16="http://schemas.microsoft.com/office/drawing/2014/main" id="{C4170704-99A4-6D39-B6D4-ACC22B80E6A6}"/>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7" name="TextBox 6">
            <a:extLst>
              <a:ext uri="{FF2B5EF4-FFF2-40B4-BE49-F238E27FC236}">
                <a16:creationId xmlns:a16="http://schemas.microsoft.com/office/drawing/2014/main" id="{0B89C1DE-9F44-FEE0-CEC9-2F039E22727D}"/>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40431307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8/12/2026</a:t>
            </a:fld>
            <a:endParaRPr lang="en-US"/>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a:t>©2026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354780300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2761D5B2-7168-4F15-A039-2A61F3B5166B}" type="datetimeFigureOut">
              <a:rPr lang="en-IN" smtClean="0"/>
              <a:t>12-08-2026</a:t>
            </a:fld>
            <a:endParaRPr lang="en-IN"/>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endParaRPr lang="en-IN"/>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F0DA1BE7-A8B1-4AA5-8C20-D4EAC50DEC72}" type="slidenum">
              <a:rPr lang="en-IN" smtClean="0"/>
              <a:t>‹#›</a:t>
            </a:fld>
            <a:endParaRPr lang="en-IN"/>
          </a:p>
        </p:txBody>
      </p:sp>
    </p:spTree>
    <p:extLst>
      <p:ext uri="{BB962C8B-B14F-4D97-AF65-F5344CB8AC3E}">
        <p14:creationId xmlns:p14="http://schemas.microsoft.com/office/powerpoint/2010/main" val="406260843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B619-41E6-3EC5-BED3-4E431A370388}"/>
              </a:ext>
            </a:extLst>
          </p:cNvPr>
          <p:cNvSpPr>
            <a:spLocks noGrp="1"/>
          </p:cNvSpPr>
          <p:nvPr>
            <p:ph type="ctrTitle"/>
          </p:nvPr>
        </p:nvSpPr>
        <p:spPr/>
        <p:txBody>
          <a:bodyPr/>
          <a:lstStyle/>
          <a:p>
            <a:r>
              <a:rPr lang="en-IN"/>
              <a:t>Call Center Intel</a:t>
            </a:r>
          </a:p>
        </p:txBody>
      </p:sp>
      <p:sp>
        <p:nvSpPr>
          <p:cNvPr id="3" name="Subtitle 2">
            <a:extLst>
              <a:ext uri="{FF2B5EF4-FFF2-40B4-BE49-F238E27FC236}">
                <a16:creationId xmlns:a16="http://schemas.microsoft.com/office/drawing/2014/main" id="{E9188A95-265D-6486-662A-193FF82B051E}"/>
              </a:ext>
            </a:extLst>
          </p:cNvPr>
          <p:cNvSpPr>
            <a:spLocks noGrp="1"/>
          </p:cNvSpPr>
          <p:nvPr>
            <p:ph type="subTitle" idx="1"/>
          </p:nvPr>
        </p:nvSpPr>
        <p:spPr/>
        <p:txBody>
          <a:bodyPr/>
          <a:lstStyle/>
          <a:p>
            <a:r>
              <a:rPr lang="en-IN"/>
              <a:t>Reference Deck  ·  Idea Title: Call Center Intel — Agentic AI for Sales &amp; Service Conversations</a:t>
            </a:r>
          </a:p>
          <a:p>
            <a:r>
              <a:rPr lang="en-IN"/>
              <a:t>Working prototype, running today on a Medicare tele-sales reference implementation</a:t>
            </a:r>
          </a:p>
        </p:txBody>
      </p:sp>
    </p:spTree>
    <p:extLst>
      <p:ext uri="{BB962C8B-B14F-4D97-AF65-F5344CB8AC3E}">
        <p14:creationId xmlns:p14="http://schemas.microsoft.com/office/powerpoint/2010/main" val="2226253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a:solidFill>
                  <a:srgbClr val="FB4E0B"/>
                </a:solidFill>
                <a:latin typeface="Calibri" pitchFamily="34" charset="0"/>
                <a:ea typeface="Calibri" pitchFamily="34" charset="-122"/>
                <a:cs typeface="Calibri" pitchFamily="34" charset="-120"/>
              </a:rPr>
              <a:t>01  ·  THE OPPORTUNITY</a:t>
            </a:r>
            <a:endParaRPr lang="en-US" sz="1200"/>
          </a:p>
        </p:txBody>
      </p:sp>
      <p:sp>
        <p:nvSpPr>
          <p:cNvPr id="3" name="Text 1"/>
          <p:cNvSpPr/>
          <p:nvPr/>
        </p:nvSpPr>
        <p:spPr>
          <a:xfrm>
            <a:off x="502920" y="658368"/>
            <a:ext cx="11155680" cy="640080"/>
          </a:xfrm>
          <a:prstGeom prst="rect">
            <a:avLst/>
          </a:prstGeom>
          <a:noFill/>
          <a:ln/>
        </p:spPr>
        <p:txBody>
          <a:bodyPr wrap="square" rtlCol="0" anchor="ctr"/>
          <a:lstStyle/>
          <a:p>
            <a:pPr marL="0" indent="0">
              <a:spcAft>
                <a:spcPts val="300"/>
              </a:spcAft>
              <a:buNone/>
            </a:pPr>
            <a:r>
              <a:rPr lang="en-US" sz="2800" b="1" i="0">
                <a:solidFill>
                  <a:srgbClr val="005071"/>
                </a:solidFill>
                <a:latin typeface="Calibri Light" pitchFamily="34" charset="0"/>
                <a:ea typeface="Calibri Light" pitchFamily="34" charset="-122"/>
                <a:cs typeface="Calibri Light" pitchFamily="34" charset="-120"/>
              </a:rPr>
              <a:t>The Opportunity</a:t>
            </a:r>
            <a:endParaRPr lang="en-US" sz="2800"/>
          </a:p>
        </p:txBody>
      </p:sp>
      <p:sp>
        <p:nvSpPr>
          <p:cNvPr id="4" name="Shape 2"/>
          <p:cNvSpPr/>
          <p:nvPr/>
        </p:nvSpPr>
        <p:spPr>
          <a:xfrm>
            <a:off x="502920" y="1508760"/>
            <a:ext cx="11183112" cy="2606040"/>
          </a:xfrm>
          <a:prstGeom prst="roundRect">
            <a:avLst>
              <a:gd name="adj" fmla="val 3871"/>
            </a:avLst>
          </a:prstGeom>
          <a:solidFill>
            <a:srgbClr val="DCF3FA"/>
          </a:solidFill>
          <a:ln w="12700">
            <a:solidFill>
              <a:srgbClr val="ACB6BE"/>
            </a:solidFill>
            <a:prstDash val="solid"/>
          </a:ln>
        </p:spPr>
        <p:txBody>
          <a:bodyPr/>
          <a:lstStyle/>
          <a:p>
            <a:endParaRPr lang="en-US"/>
          </a:p>
        </p:txBody>
      </p:sp>
      <p:sp>
        <p:nvSpPr>
          <p:cNvPr id="6" name="Text 4"/>
          <p:cNvSpPr/>
          <p:nvPr/>
        </p:nvSpPr>
        <p:spPr>
          <a:xfrm>
            <a:off x="685800" y="1691640"/>
            <a:ext cx="10789920" cy="2286000"/>
          </a:xfrm>
          <a:prstGeom prst="rect">
            <a:avLst/>
          </a:prstGeom>
          <a:noFill/>
          <a:ln/>
        </p:spPr>
        <p:txBody>
          <a:bodyPr wrap="square" lIns="0" tIns="0" rIns="0" bIns="0" rtlCol="0" anchor="t"/>
          <a:lstStyle/>
          <a:p>
            <a:pPr marL="0" indent="0">
              <a:spcAft>
                <a:spcPts val="1200"/>
              </a:spcAft>
              <a:buNone/>
            </a:pPr>
            <a:r>
              <a:rPr lang="en-US" sz="1500" i="0">
                <a:solidFill>
                  <a:srgbClr val="6C727B"/>
                </a:solidFill>
                <a:latin typeface="Calibri" pitchFamily="34" charset="0"/>
                <a:ea typeface="Calibri" pitchFamily="34" charset="-122"/>
                <a:cs typeface="Calibri" pitchFamily="34" charset="-120"/>
              </a:rPr>
              <a:t>Contact centres have every tool to sell and serve — but nothing watches the conversation itself.</a:t>
            </a:r>
            <a:endParaRPr lang="en-US" sz="1400"/>
          </a:p>
          <a:p>
            <a:pPr marL="0" indent="0">
              <a:spcAft>
                <a:spcPts val="1200"/>
              </a:spcAft>
              <a:buNone/>
            </a:pPr>
            <a:r>
              <a:rPr lang="en-US" sz="1500" i="0">
                <a:solidFill>
                  <a:srgbClr val="6C727B"/>
                </a:solidFill>
                <a:latin typeface="Calibri" pitchFamily="34" charset="0"/>
                <a:ea typeface="Calibri" pitchFamily="34" charset="-122"/>
                <a:cs typeface="Calibri" pitchFamily="34" charset="-120"/>
              </a:rPr>
              <a:t>Compliance is reviewed weeks after the words were said. QA covers only a sampled handful of calls. New agents ramp on live prospects. Missed calls quietly become lost leads. And AI spend arrives as one untraceable invoice.</a:t>
            </a:r>
          </a:p>
          <a:p>
            <a:pPr marL="0" indent="0">
              <a:spcAft>
                <a:spcPts val="1200"/>
              </a:spcAft>
              <a:buNone/>
            </a:pPr>
            <a:r>
              <a:rPr lang="en-US" sz="1500" i="0">
                <a:solidFill>
                  <a:srgbClr val="6C727B"/>
                </a:solidFill>
                <a:latin typeface="Calibri" pitchFamily="34" charset="0"/>
                <a:ea typeface="Calibri" pitchFamily="34" charset="-122"/>
                <a:cs typeface="Calibri" pitchFamily="34" charset="-120"/>
              </a:rPr>
              <a:t>Call Center Intel puts a real-time AI layer on every conversation — enforcing compliance in the moment, coaching while the agent is still talking, scoring every call, and attributing the cost of doing so.</a:t>
            </a:r>
          </a:p>
          <a:p>
            <a:pPr marL="0" indent="0">
              <a:spcAft>
                <a:spcPts val="1200"/>
              </a:spcAft>
              <a:buNone/>
            </a:pPr>
            <a:r>
              <a:rPr lang="en-US" sz="1500" i="0">
                <a:solidFill>
                  <a:srgbClr val="6C727B"/>
                </a:solidFill>
                <a:latin typeface="Calibri" pitchFamily="34" charset="0"/>
                <a:ea typeface="Calibri" pitchFamily="34" charset="-122"/>
                <a:cs typeface="Calibri" pitchFamily="34" charset="-120"/>
              </a:rPr>
              <a:t>Built on an Insurance &amp; Healthcare application, but suited to any contact centre whose agents speak directly to prospects or members.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02  ·  SOLUTION</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spcAft>
                <a:spcPts val="300"/>
              </a:spcAft>
              <a:buNone/>
            </a:pPr>
            <a:r>
              <a:rPr lang="en-US" sz="2800" b="1" i="0">
                <a:solidFill>
                  <a:srgbClr val="005071"/>
                </a:solidFill>
                <a:latin typeface="Calibri Light" pitchFamily="34" charset="0"/>
                <a:ea typeface="Calibri Light" pitchFamily="34" charset="-122"/>
                <a:cs typeface="Calibri Light" pitchFamily="34" charset="-120"/>
              </a:rPr>
              <a:t>The Solution — Four Pillars, One Pipeline</a:t>
            </a:r>
            <a:endParaRPr lang="en-US" sz="2800"/>
          </a:p>
        </p:txBody>
      </p:sp>
      <p:sp>
        <p:nvSpPr>
          <p:cNvPr id="4" name="Text 2"/>
          <p:cNvSpPr/>
          <p:nvPr/>
        </p:nvSpPr>
        <p:spPr>
          <a:xfrm>
            <a:off x="502920" y="1463040"/>
            <a:ext cx="11155680" cy="548640"/>
          </a:xfrm>
          <a:prstGeom prst="rect">
            <a:avLst/>
          </a:prstGeom>
          <a:noFill/>
          <a:ln/>
        </p:spPr>
        <p:txBody>
          <a:bodyPr wrap="square" rtlCol="0" anchor="t"/>
          <a:lstStyle/>
          <a:p>
            <a:pPr marL="0" indent="0">
              <a:spcAft>
                <a:spcPts val="300"/>
              </a:spcAft>
              <a:buNone/>
            </a:pPr>
            <a:r>
              <a:rPr lang="en-US" sz="1300" i="0">
                <a:solidFill>
                  <a:srgbClr val="6C727B"/>
                </a:solidFill>
                <a:latin typeface="Calibri" pitchFamily="34" charset="0"/>
                <a:ea typeface="Calibri" pitchFamily="34" charset="-122"/>
                <a:cs typeface="Calibri" pitchFamily="34" charset="-120"/>
              </a:rPr>
              <a:t>One real-time pipeline over the live conversation. The AI listens, assists and measures; the licensed human advises and closes.</a:t>
            </a:r>
            <a:endParaRPr lang="en-US" sz="1400"/>
          </a:p>
        </p:txBody>
      </p:sp>
      <p:sp>
        <p:nvSpPr>
          <p:cNvPr id="5" name="Shape 3"/>
          <p:cNvSpPr/>
          <p:nvPr/>
        </p:nvSpPr>
        <p:spPr>
          <a:xfrm>
            <a:off x="502920"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6" name="Shape 4"/>
          <p:cNvSpPr/>
          <p:nvPr/>
        </p:nvSpPr>
        <p:spPr>
          <a:xfrm>
            <a:off x="1527048" y="2468880"/>
            <a:ext cx="640080" cy="640080"/>
          </a:xfrm>
          <a:prstGeom prst="ellipse">
            <a:avLst/>
          </a:prstGeom>
          <a:solidFill>
            <a:srgbClr val="FB4E0B"/>
          </a:solidFill>
          <a:ln/>
        </p:spPr>
        <p:txBody>
          <a:bodyPr/>
          <a:lstStyle/>
          <a:p>
            <a:endParaRPr lang="en-US"/>
          </a:p>
        </p:txBody>
      </p:sp>
      <p:sp>
        <p:nvSpPr>
          <p:cNvPr id="7" name="Text 5"/>
          <p:cNvSpPr/>
          <p:nvPr/>
        </p:nvSpPr>
        <p:spPr>
          <a:xfrm>
            <a:off x="1527048"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1</a:t>
            </a:r>
            <a:endParaRPr lang="en-US" sz="2400"/>
          </a:p>
        </p:txBody>
      </p:sp>
      <p:sp>
        <p:nvSpPr>
          <p:cNvPr id="8" name="Text 6"/>
          <p:cNvSpPr/>
          <p:nvPr/>
        </p:nvSpPr>
        <p:spPr>
          <a:xfrm>
            <a:off x="640080"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Agentic Copilot</a:t>
            </a:r>
            <a:endParaRPr lang="en-US" sz="1500"/>
          </a:p>
        </p:txBody>
      </p:sp>
      <p:sp>
        <p:nvSpPr>
          <p:cNvPr id="9" name="Text 7"/>
          <p:cNvSpPr/>
          <p:nvPr/>
        </p:nvSpPr>
        <p:spPr>
          <a:xfrm>
            <a:off x="685800"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Works symbiotically with the application, not as a chatbot pushing text back: 23 governed tools that read live business data, drive the screens, draft emails and record updates for one-click approval, and place calls from natural language.</a:t>
            </a:r>
            <a:endParaRPr lang="en-US" sz="1150"/>
          </a:p>
        </p:txBody>
      </p:sp>
      <p:sp>
        <p:nvSpPr>
          <p:cNvPr id="10" name="Shape 8"/>
          <p:cNvSpPr/>
          <p:nvPr/>
        </p:nvSpPr>
        <p:spPr>
          <a:xfrm>
            <a:off x="3364992"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11" name="Shape 9"/>
          <p:cNvSpPr/>
          <p:nvPr/>
        </p:nvSpPr>
        <p:spPr>
          <a:xfrm>
            <a:off x="4389120" y="2468880"/>
            <a:ext cx="640080" cy="640080"/>
          </a:xfrm>
          <a:prstGeom prst="ellipse">
            <a:avLst/>
          </a:prstGeom>
          <a:solidFill>
            <a:srgbClr val="FB4E0B"/>
          </a:solidFill>
          <a:ln/>
        </p:spPr>
        <p:txBody>
          <a:bodyPr/>
          <a:lstStyle/>
          <a:p>
            <a:endParaRPr lang="en-US"/>
          </a:p>
        </p:txBody>
      </p:sp>
      <p:sp>
        <p:nvSpPr>
          <p:cNvPr id="12" name="Text 10"/>
          <p:cNvSpPr/>
          <p:nvPr/>
        </p:nvSpPr>
        <p:spPr>
          <a:xfrm>
            <a:off x="4389120"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2</a:t>
            </a:r>
            <a:endParaRPr lang="en-US" sz="2400"/>
          </a:p>
        </p:txBody>
      </p:sp>
      <p:sp>
        <p:nvSpPr>
          <p:cNvPr id="13" name="Text 11"/>
          <p:cNvSpPr/>
          <p:nvPr/>
        </p:nvSpPr>
        <p:spPr>
          <a:xfrm>
            <a:off x="3502152"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Conversation Intelligence</a:t>
            </a:r>
            <a:endParaRPr lang="en-US" sz="1500"/>
          </a:p>
        </p:txBody>
      </p:sp>
      <p:sp>
        <p:nvSpPr>
          <p:cNvPr id="14" name="Text 12"/>
          <p:cNvSpPr/>
          <p:nvPr/>
        </p:nvSpPr>
        <p:spPr>
          <a:xfrm>
            <a:off x="3547872"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Live transcription with two-layer compliance — deterministic rules in under a second, plus an AI layer that catches paraphrased violations — alongside emotion-shift detection and proactive coaching on every call.</a:t>
            </a:r>
            <a:endParaRPr lang="en-US" sz="1150"/>
          </a:p>
        </p:txBody>
      </p:sp>
      <p:sp>
        <p:nvSpPr>
          <p:cNvPr id="15" name="Shape 13"/>
          <p:cNvSpPr/>
          <p:nvPr/>
        </p:nvSpPr>
        <p:spPr>
          <a:xfrm>
            <a:off x="6227064"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16" name="Shape 14"/>
          <p:cNvSpPr/>
          <p:nvPr/>
        </p:nvSpPr>
        <p:spPr>
          <a:xfrm>
            <a:off x="7251192" y="2468880"/>
            <a:ext cx="640080" cy="640080"/>
          </a:xfrm>
          <a:prstGeom prst="ellipse">
            <a:avLst/>
          </a:prstGeom>
          <a:solidFill>
            <a:srgbClr val="FB4E0B"/>
          </a:solidFill>
          <a:ln/>
        </p:spPr>
        <p:txBody>
          <a:bodyPr/>
          <a:lstStyle/>
          <a:p>
            <a:endParaRPr lang="en-US"/>
          </a:p>
        </p:txBody>
      </p:sp>
      <p:sp>
        <p:nvSpPr>
          <p:cNvPr id="17" name="Text 15"/>
          <p:cNvSpPr/>
          <p:nvPr/>
        </p:nvSpPr>
        <p:spPr>
          <a:xfrm>
            <a:off x="7251192"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3</a:t>
            </a:r>
            <a:endParaRPr lang="en-US" sz="2400"/>
          </a:p>
        </p:txBody>
      </p:sp>
      <p:sp>
        <p:nvSpPr>
          <p:cNvPr id="18" name="Text 16"/>
          <p:cNvSpPr/>
          <p:nvPr/>
        </p:nvSpPr>
        <p:spPr>
          <a:xfrm>
            <a:off x="6364224"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Supervisor &amp; Governance</a:t>
            </a:r>
            <a:endParaRPr lang="en-US" sz="1500"/>
          </a:p>
        </p:txBody>
      </p:sp>
      <p:sp>
        <p:nvSpPr>
          <p:cNvPr id="19" name="Text 17"/>
          <p:cNvSpPr/>
          <p:nvPr/>
        </p:nvSpPr>
        <p:spPr>
          <a:xfrm>
            <a:off x="6409944"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Live monitoring with every alert pinned to the line that triggered it. Business users edit compliance rules, coaching rules and QA scoring criteria themselves — effective on the very next call, with no deployment.</a:t>
            </a:r>
            <a:endParaRPr lang="en-US" sz="1150"/>
          </a:p>
        </p:txBody>
      </p:sp>
      <p:sp>
        <p:nvSpPr>
          <p:cNvPr id="20" name="Shape 18"/>
          <p:cNvSpPr/>
          <p:nvPr/>
        </p:nvSpPr>
        <p:spPr>
          <a:xfrm>
            <a:off x="9089136"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21" name="Shape 19"/>
          <p:cNvSpPr/>
          <p:nvPr/>
        </p:nvSpPr>
        <p:spPr>
          <a:xfrm>
            <a:off x="10113264" y="2468880"/>
            <a:ext cx="640080" cy="640080"/>
          </a:xfrm>
          <a:prstGeom prst="ellipse">
            <a:avLst/>
          </a:prstGeom>
          <a:solidFill>
            <a:srgbClr val="FB4E0B"/>
          </a:solidFill>
          <a:ln/>
        </p:spPr>
        <p:txBody>
          <a:bodyPr/>
          <a:lstStyle/>
          <a:p>
            <a:endParaRPr lang="en-US"/>
          </a:p>
        </p:txBody>
      </p:sp>
      <p:sp>
        <p:nvSpPr>
          <p:cNvPr id="22" name="Text 20"/>
          <p:cNvSpPr/>
          <p:nvPr/>
        </p:nvSpPr>
        <p:spPr>
          <a:xfrm>
            <a:off x="10113264"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4</a:t>
            </a:r>
            <a:endParaRPr lang="en-US" sz="2400"/>
          </a:p>
        </p:txBody>
      </p:sp>
      <p:sp>
        <p:nvSpPr>
          <p:cNvPr id="23" name="Text 21"/>
          <p:cNvSpPr/>
          <p:nvPr/>
        </p:nvSpPr>
        <p:spPr>
          <a:xfrm>
            <a:off x="9226296"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Cost Transparency</a:t>
            </a:r>
            <a:endParaRPr lang="en-US" sz="1500"/>
          </a:p>
        </p:txBody>
      </p:sp>
      <p:sp>
        <p:nvSpPr>
          <p:cNvPr id="24" name="Text 22"/>
          <p:cNvSpPr/>
          <p:nvPr/>
        </p:nvSpPr>
        <p:spPr>
          <a:xfrm>
            <a:off x="9272016"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Per-call and per-agent AI cost from real usage logs, split by feature and drillable to the transcript behind any figure — instead of one opaque vendor invoice at the end of the month.</a:t>
            </a:r>
            <a:endParaRPr lang="en-US" sz="11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03  ·  ARCHITECTURE</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Technical Architecture</a:t>
            </a:r>
            <a:endParaRPr lang="en-US" sz="2800"/>
          </a:p>
        </p:txBody>
      </p:sp>
      <p:sp>
        <p:nvSpPr>
          <p:cNvPr id="4" name="Shape 2"/>
          <p:cNvSpPr/>
          <p:nvPr/>
        </p:nvSpPr>
        <p:spPr>
          <a:xfrm>
            <a:off x="502920" y="1600200"/>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728216"/>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AI &amp; agent layer</a:t>
            </a:r>
            <a:endParaRPr lang="en-US" sz="1500"/>
          </a:p>
        </p:txBody>
      </p:sp>
      <p:sp>
        <p:nvSpPr>
          <p:cNvPr id="6" name="Text 4"/>
          <p:cNvSpPr/>
          <p:nvPr/>
        </p:nvSpPr>
        <p:spPr>
          <a:xfrm>
            <a:off x="4846320" y="1728216"/>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LangGraph copilot agent with 23 governed tools · QA evaluator · Claude via OpenRouter for reasoning · Deepgram streaming speech-to-text on both call tracks · live compliance, emotion and coaching analysis over the running transcript</a:t>
            </a:r>
            <a:endParaRPr lang="en-US" sz="1250"/>
          </a:p>
        </p:txBody>
      </p:sp>
      <p:sp>
        <p:nvSpPr>
          <p:cNvPr id="7" name="Shape 5"/>
          <p:cNvSpPr/>
          <p:nvPr/>
        </p:nvSpPr>
        <p:spPr>
          <a:xfrm>
            <a:off x="502920" y="2770632"/>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731520" y="2898648"/>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Data &amp; retrieval</a:t>
            </a:r>
            <a:endParaRPr lang="en-US" sz="1500"/>
          </a:p>
        </p:txBody>
      </p:sp>
      <p:sp>
        <p:nvSpPr>
          <p:cNvPr id="9" name="Text 7"/>
          <p:cNvSpPr/>
          <p:nvPr/>
        </p:nvSpPr>
        <p:spPr>
          <a:xfrm>
            <a:off x="4846320" y="2898648"/>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Qdrant vector database (5 collections, nomic-embed-text 768-d via Ollama) · hybrid keyword + vector retrieval · MongoDB for application and reference data · hot-reloaded, versioned rule and QA-criteria sets · audit and cost telemetry per AI interaction</a:t>
            </a:r>
            <a:endParaRPr lang="en-US" sz="1250"/>
          </a:p>
        </p:txBody>
      </p:sp>
      <p:sp>
        <p:nvSpPr>
          <p:cNvPr id="10" name="Shape 8"/>
          <p:cNvSpPr/>
          <p:nvPr/>
        </p:nvSpPr>
        <p:spPr>
          <a:xfrm>
            <a:off x="502920" y="3941064"/>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731520" y="4069080"/>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Voice, edge &amp; platform</a:t>
            </a:r>
            <a:endParaRPr lang="en-US" sz="1500"/>
          </a:p>
        </p:txBody>
      </p:sp>
      <p:sp>
        <p:nvSpPr>
          <p:cNvPr id="12" name="Text 10"/>
          <p:cNvSpPr/>
          <p:nvPr/>
        </p:nvSpPr>
        <p:spPr>
          <a:xfrm>
            <a:off x="4846320" y="4069080"/>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Twilio programmable voice (PSTN inbound &amp; outbound, bidirectional media streams, signed webhooks) · Cloudflare edge with named tunnel · Caddy reverse proxy · Node 20 / Express 5 (TypeScript) API, containerised and cloud-portable</a:t>
            </a:r>
            <a:endParaRPr lang="en-US" sz="1250"/>
          </a:p>
        </p:txBody>
      </p:sp>
      <p:sp>
        <p:nvSpPr>
          <p:cNvPr id="13" name="Shape 11"/>
          <p:cNvSpPr/>
          <p:nvPr/>
        </p:nvSpPr>
        <p:spPr>
          <a:xfrm>
            <a:off x="502920" y="5111496"/>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731520" y="5239512"/>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Application &amp; delivery</a:t>
            </a:r>
            <a:endParaRPr lang="en-US" sz="1500"/>
          </a:p>
        </p:txBody>
      </p:sp>
      <p:sp>
        <p:nvSpPr>
          <p:cNvPr id="15" name="Text 13"/>
          <p:cNvSpPr/>
          <p:nvPr/>
        </p:nvSpPr>
        <p:spPr>
          <a:xfrm>
            <a:off x="4846320" y="5239512"/>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React 19 / Vite single-page app with Twilio Voice SDK — agent workspace, call panel and copilot · supervisor command centre with live alert feed and mid-call transcript backfill · no-code admin for compliance, coaching and QA scoring criteria · RBAC</a:t>
            </a:r>
            <a:endParaRPr lang="en-US" sz="1250"/>
          </a:p>
        </p:txBody>
      </p:sp>
      <p:sp>
        <p:nvSpPr>
          <p:cNvPr id="16" name="Text 14"/>
          <p:cNvSpPr/>
          <p:nvPr/>
        </p:nvSpPr>
        <p:spPr>
          <a:xfrm>
            <a:off x="502920" y="6300216"/>
            <a:ext cx="10972800" cy="274320"/>
          </a:xfrm>
          <a:prstGeom prst="rect">
            <a:avLst/>
          </a:prstGeom>
          <a:noFill/>
          <a:ln/>
        </p:spPr>
        <p:txBody>
          <a:bodyPr wrap="square" rtlCol="0" anchor="ctr"/>
          <a:lstStyle/>
          <a:p>
            <a:pPr marL="0" indent="0">
              <a:spcAft>
                <a:spcPts val="300"/>
              </a:spcAft>
              <a:buNone/>
            </a:pPr>
            <a:r>
              <a:rPr lang="en-US" sz="1000" i="0">
                <a:solidFill>
                  <a:srgbClr val="6C727B"/>
                </a:solidFill>
                <a:latin typeface="Calibri" pitchFamily="34" charset="0"/>
                <a:ea typeface="Calibri" pitchFamily="34" charset="-122"/>
                <a:cs typeface="Calibri" pitchFamily="34" charset="-120"/>
              </a:rPr>
              <a:t>A full end-to-end deployment diagram is maintained alongside this deck and available on request.</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04  ·  DEPLOYMENT PLAN</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How &amp; Where It Will Be Deployed</a:t>
            </a:r>
            <a:endParaRPr lang="en-US" sz="2800"/>
          </a:p>
        </p:txBody>
      </p:sp>
      <p:sp>
        <p:nvSpPr>
          <p:cNvPr id="4" name="Shape 2"/>
          <p:cNvSpPr/>
          <p:nvPr/>
        </p:nvSpPr>
        <p:spPr>
          <a:xfrm>
            <a:off x="502920" y="160020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69164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Environment</a:t>
            </a:r>
            <a:endParaRPr lang="en-US" sz="1400"/>
          </a:p>
        </p:txBody>
      </p:sp>
      <p:sp>
        <p:nvSpPr>
          <p:cNvPr id="6" name="Text 4"/>
          <p:cNvSpPr/>
          <p:nvPr/>
        </p:nvSpPr>
        <p:spPr>
          <a:xfrm>
            <a:off x="4297680" y="169164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Containerised and horizontally scalable — cloud-portable by design. Deployable to any major cloud, hosted independently per client, or on client premises where data residency requires it. The data and AI layers can also run natively on platforms the client already owns, such as Databricks or Snowflake, so the solution sits where their data already lives.</a:t>
            </a:r>
            <a:endParaRPr lang="en-US" sz="1250"/>
          </a:p>
        </p:txBody>
      </p:sp>
      <p:sp>
        <p:nvSpPr>
          <p:cNvPr id="7" name="Shape 5"/>
          <p:cNvSpPr/>
          <p:nvPr/>
        </p:nvSpPr>
        <p:spPr>
          <a:xfrm>
            <a:off x="502920" y="256032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731520" y="265176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Integration</a:t>
            </a:r>
            <a:endParaRPr lang="en-US" sz="1400"/>
          </a:p>
        </p:txBody>
      </p:sp>
      <p:sp>
        <p:nvSpPr>
          <p:cNvPr id="9" name="Text 7"/>
          <p:cNvSpPr/>
          <p:nvPr/>
        </p:nvSpPr>
        <p:spPr>
          <a:xfrm>
            <a:off x="4297680" y="265176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Every layer is distinct and swappable — this stack is a reference implementation, not a dependency. React could be Angular; MongoDB could be SQL Server or Postgres; the telephony and speech vendors can change without touching the AI layer. REST + SSE surfaces over a governed tool layer front the client's existing CRM, telephony and master data, so it retro-fits onto what they already run.</a:t>
            </a:r>
            <a:endParaRPr lang="en-US" sz="1250"/>
          </a:p>
        </p:txBody>
      </p:sp>
      <p:sp>
        <p:nvSpPr>
          <p:cNvPr id="10" name="Shape 8"/>
          <p:cNvSpPr/>
          <p:nvPr/>
        </p:nvSpPr>
        <p:spPr>
          <a:xfrm>
            <a:off x="502920" y="352044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731520" y="361188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Security &amp; compliance</a:t>
            </a:r>
            <a:endParaRPr lang="en-US" sz="1400"/>
          </a:p>
        </p:txBody>
      </p:sp>
      <p:sp>
        <p:nvSpPr>
          <p:cNvPr id="12" name="Text 10"/>
          <p:cNvSpPr/>
          <p:nvPr/>
        </p:nvSpPr>
        <p:spPr>
          <a:xfrm>
            <a:off x="4297680" y="361188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No sensitive identifiers requested, by design. Disabled capabilities are withheld from the model rather than discouraged in a prompt. Mandatory automated-call disclosure. Every AI interaction fully audited; PII handling and retention configured per client regulation.</a:t>
            </a:r>
            <a:endParaRPr lang="en-US" sz="1250"/>
          </a:p>
        </p:txBody>
      </p:sp>
      <p:sp>
        <p:nvSpPr>
          <p:cNvPr id="13" name="Shape 11"/>
          <p:cNvSpPr/>
          <p:nvPr/>
        </p:nvSpPr>
        <p:spPr>
          <a:xfrm>
            <a:off x="502920" y="448056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731520" y="457200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Rollout approach</a:t>
            </a:r>
            <a:endParaRPr lang="en-US" sz="1400"/>
          </a:p>
        </p:txBody>
      </p:sp>
      <p:sp>
        <p:nvSpPr>
          <p:cNvPr id="15" name="Text 13"/>
          <p:cNvSpPr/>
          <p:nvPr/>
        </p:nvSpPr>
        <p:spPr>
          <a:xfrm>
            <a:off x="4297680" y="457200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The four pillars are modular — a client takes what the business needs and leaves the rest. Copilot alone, compliance monitoring alone, or the full platform; each runs without the others. The usual path is to pilot one campaign or queue in shadow mode, switch on the pillars that matter most, then scale across queues and geographies — with the client's own business users tuning rules and QA criteria at every stage.</a:t>
            </a:r>
            <a:endParaRPr lang="en-US" sz="1250"/>
          </a:p>
        </p:txBody>
      </p:sp>
      <p:sp>
        <p:nvSpPr>
          <p:cNvPr id="16" name="Shape 14"/>
          <p:cNvSpPr/>
          <p:nvPr/>
        </p:nvSpPr>
        <p:spPr>
          <a:xfrm>
            <a:off x="502920" y="544068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7" name="Text 15"/>
          <p:cNvSpPr/>
          <p:nvPr/>
        </p:nvSpPr>
        <p:spPr>
          <a:xfrm>
            <a:off x="731520" y="553212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Ownership &amp; support</a:t>
            </a:r>
            <a:endParaRPr lang="en-US" sz="1400"/>
          </a:p>
        </p:txBody>
      </p:sp>
      <p:sp>
        <p:nvSpPr>
          <p:cNvPr id="18" name="Text 16"/>
          <p:cNvSpPr/>
          <p:nvPr/>
        </p:nvSpPr>
        <p:spPr>
          <a:xfrm>
            <a:off x="4297680" y="553212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EXL Services owns build, deployment, run and support. The client owns the data and the infrastructure it runs on, along with monitoring, latency thresholds and the escalation matrix. Rule and QA-criteria content stays with the client's own business users, who maintain it without a release cycle.</a:t>
            </a:r>
            <a:endParaRPr lang="en-US" sz="12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05  ·  IDENTIFIED CLIENT</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Where We Will Deploy &amp; Sell</a:t>
            </a:r>
            <a:endParaRPr lang="en-US" sz="2800"/>
          </a:p>
        </p:txBody>
      </p:sp>
      <p:sp>
        <p:nvSpPr>
          <p:cNvPr id="4" name="Shape 2"/>
          <p:cNvSpPr/>
          <p:nvPr/>
        </p:nvSpPr>
        <p:spPr>
          <a:xfrm>
            <a:off x="502920" y="155448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664208"/>
            <a:ext cx="10789920" cy="640080"/>
          </a:xfrm>
          <a:prstGeom prst="rect">
            <a:avLst/>
          </a:prstGeom>
          <a:noFill/>
          <a:ln/>
        </p:spPr>
        <p:txBody>
          <a:bodyPr wrap="square" lIns="0" tIns="0" rIns="0" bIns="0" rtlCol="0" anchor="ctr"/>
          <a:lstStyle/>
          <a:p>
            <a:pPr marL="0" indent="0">
              <a:spcAft>
                <a:spcPts val="300"/>
              </a:spcAft>
              <a:buNone/>
            </a:pPr>
            <a:r>
              <a:rPr lang="en-US" sz="1300" b="1" i="0">
                <a:solidFill>
                  <a:srgbClr val="005071"/>
                </a:solidFill>
                <a:latin typeface="Calibri" pitchFamily="34" charset="0"/>
                <a:ea typeface="Calibri" pitchFamily="34" charset="-122"/>
                <a:cs typeface="Calibri" pitchFamily="34" charset="-120"/>
              </a:rPr>
              <a:t>Deployment reach — </a:t>
            </a:r>
            <a:r>
              <a:rPr lang="en-US" sz="1300" b="1" i="0">
                <a:solidFill>
                  <a:srgbClr val="005071"/>
                </a:solidFill>
                <a:latin typeface="Calibri" pitchFamily="34" charset="0"/>
                <a:ea typeface="Calibri" pitchFamily="34" charset="-122"/>
                <a:cs typeface="Calibri" pitchFamily="34" charset="-120"/>
              </a:rPr>
              <a:t>EXL already supports the tele-sales departments of clients across regulated industries; the solution can be deployed into any number of them, and into new pursuits, with no client-specific rebuild</a:t>
            </a:r>
            <a:endParaRPr lang="en-US" sz="1400"/>
          </a:p>
        </p:txBody>
      </p:sp>
      <p:sp>
        <p:nvSpPr>
          <p:cNvPr id="6" name="Shape 4"/>
          <p:cNvSpPr/>
          <p:nvPr/>
        </p:nvSpPr>
        <p:spPr>
          <a:xfrm>
            <a:off x="502920"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7" name="Text 5"/>
          <p:cNvSpPr/>
          <p:nvPr/>
        </p:nvSpPr>
        <p:spPr>
          <a:xfrm>
            <a:off x="640080"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Where EXL already operates</a:t>
            </a:r>
            <a:endParaRPr lang="en-US" sz="1500"/>
          </a:p>
        </p:txBody>
      </p:sp>
      <p:sp>
        <p:nvSpPr>
          <p:cNvPr id="8" name="Text 6"/>
          <p:cNvSpPr/>
          <p:nvPr/>
        </p:nvSpPr>
        <p:spPr>
          <a:xfrm>
            <a:off x="685800"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b="1">
                <a:solidFill>
                  <a:srgbClr val="6C727B"/>
                </a:solidFill>
                <a:latin typeface="Calibri" pitchFamily="34" charset="0"/>
                <a:ea typeface="Calibri" pitchFamily="34" charset="-122"/>
                <a:cs typeface="Calibri" pitchFamily="34" charset="-120"/>
              </a:rPr>
              <a:t>Tele-sales departments of existing clients</a:t>
            </a:r>
            <a:r>
              <a:rPr lang="en-US" sz="1150" i="0">
                <a:solidFill>
                  <a:srgbClr val="6C727B"/>
                </a:solidFill>
                <a:latin typeface="Calibri" pitchFamily="34" charset="0"/>
                <a:ea typeface="Calibri" pitchFamily="34" charset="-122"/>
                <a:cs typeface="Calibri" pitchFamily="34" charset="-120"/>
              </a:rPr>
              <a:t> — the fastest path, because the operation, the data and the compliance obligations are already understood</a:t>
            </a:r>
            <a:endParaRPr lang="en-US" sz="1250"/>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Health-plan tele-sales and service desks</a:t>
            </a:r>
            <a:r>
              <a:rPr lang="en-US" sz="1150" i="0">
                <a:solidFill>
                  <a:srgbClr val="6C727B"/>
                </a:solidFill>
                <a:latin typeface="Calibri" pitchFamily="34" charset="0"/>
                <a:ea typeface="Calibri" pitchFamily="34" charset="-122"/>
                <a:cs typeface="Calibri" pitchFamily="34" charset="-120"/>
              </a:rPr>
              <a:t> — the domain the prototype already models end to end</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Account teams</a:t>
            </a:r>
            <a:r>
              <a:rPr lang="en-US" sz="1150" i="0">
                <a:solidFill>
                  <a:srgbClr val="6C727B"/>
                </a:solidFill>
                <a:latin typeface="Calibri" pitchFamily="34" charset="0"/>
                <a:ea typeface="Calibri" pitchFamily="34" charset="-122"/>
                <a:cs typeface="Calibri" pitchFamily="34" charset="-120"/>
              </a:rPr>
              <a:t> — to identify and confirm the first target department</a:t>
            </a:r>
          </a:p>
        </p:txBody>
      </p:sp>
      <p:sp>
        <p:nvSpPr>
          <p:cNvPr id="9" name="Shape 7"/>
          <p:cNvSpPr/>
          <p:nvPr/>
        </p:nvSpPr>
        <p:spPr>
          <a:xfrm>
            <a:off x="4261104"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10" name="Text 8"/>
          <p:cNvSpPr/>
          <p:nvPr/>
        </p:nvSpPr>
        <p:spPr>
          <a:xfrm>
            <a:off x="4398264"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New logos / pipeline</a:t>
            </a:r>
            <a:endParaRPr lang="en-US" sz="1500"/>
          </a:p>
        </p:txBody>
      </p:sp>
      <p:sp>
        <p:nvSpPr>
          <p:cNvPr id="11" name="Text 9"/>
          <p:cNvSpPr/>
          <p:nvPr/>
        </p:nvSpPr>
        <p:spPr>
          <a:xfrm>
            <a:off x="4443984"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b="1">
                <a:solidFill>
                  <a:srgbClr val="6C727B"/>
                </a:solidFill>
                <a:latin typeface="Calibri" pitchFamily="34" charset="0"/>
                <a:ea typeface="Calibri" pitchFamily="34" charset="-122"/>
                <a:cs typeface="Calibri" pitchFamily="34" charset="-120"/>
              </a:rPr>
              <a:t>US health plans</a:t>
            </a:r>
            <a:r>
              <a:rPr lang="en-US" sz="1150" i="0">
                <a:solidFill>
                  <a:srgbClr val="6C727B"/>
                </a:solidFill>
                <a:latin typeface="Calibri" pitchFamily="34" charset="0"/>
                <a:ea typeface="Calibri" pitchFamily="34" charset="-122"/>
                <a:cs typeface="Calibri" pitchFamily="34" charset="-120"/>
              </a:rPr>
              <a:t> — Medicare Advantage &amp; ACA tele-sales desks</a:t>
            </a:r>
            <a:endParaRPr lang="en-US" sz="1250"/>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Banking &amp; insurance</a:t>
            </a:r>
            <a:r>
              <a:rPr lang="en-US" sz="1150" i="0">
                <a:solidFill>
                  <a:srgbClr val="6C727B"/>
                </a:solidFill>
                <a:latin typeface="Calibri" pitchFamily="34" charset="0"/>
                <a:ea typeface="Calibri" pitchFamily="34" charset="-122"/>
                <a:cs typeface="Calibri" pitchFamily="34" charset="-120"/>
              </a:rPr>
              <a:t> — tele-sales desks operating under conduct rules</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Collections &amp; outreach BPOs</a:t>
            </a:r>
            <a:r>
              <a:rPr lang="en-US" sz="1150" i="0">
                <a:solidFill>
                  <a:srgbClr val="6C727B"/>
                </a:solidFill>
                <a:latin typeface="Calibri" pitchFamily="34" charset="0"/>
                <a:ea typeface="Calibri" pitchFamily="34" charset="-122"/>
                <a:cs typeface="Calibri" pitchFamily="34" charset="-120"/>
              </a:rPr>
              <a:t> — contact-practice and disclosure obligations</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Retail &amp; telecom</a:t>
            </a:r>
            <a:r>
              <a:rPr lang="en-US" sz="1150" i="0">
                <a:solidFill>
                  <a:srgbClr val="6C727B"/>
                </a:solidFill>
                <a:latin typeface="Calibri" pitchFamily="34" charset="0"/>
                <a:ea typeface="Calibri" pitchFamily="34" charset="-122"/>
                <a:cs typeface="Calibri" pitchFamily="34" charset="-120"/>
              </a:rPr>
              <a:t> — offer and claims compliance, churn-save coaching</a:t>
            </a:r>
          </a:p>
        </p:txBody>
      </p:sp>
      <p:sp>
        <p:nvSpPr>
          <p:cNvPr id="12" name="Shape 10"/>
          <p:cNvSpPr/>
          <p:nvPr/>
        </p:nvSpPr>
        <p:spPr>
          <a:xfrm>
            <a:off x="8019288"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13" name="Text 11"/>
          <p:cNvSpPr/>
          <p:nvPr/>
        </p:nvSpPr>
        <p:spPr>
          <a:xfrm>
            <a:off x="8156448"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Partnerships</a:t>
            </a:r>
            <a:endParaRPr lang="en-US" sz="1500"/>
          </a:p>
        </p:txBody>
      </p:sp>
      <p:sp>
        <p:nvSpPr>
          <p:cNvPr id="14" name="Text 12"/>
          <p:cNvSpPr/>
          <p:nvPr/>
        </p:nvSpPr>
        <p:spPr>
          <a:xfrm>
            <a:off x="8202168"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a:solidFill>
                  <a:srgbClr val="6C727B"/>
                </a:solidFill>
                <a:latin typeface="Calibri" pitchFamily="34" charset="0"/>
                <a:ea typeface="Calibri" pitchFamily="34" charset="-122"/>
                <a:cs typeface="Calibri" pitchFamily="34" charset="-120"/>
              </a:rPr>
              <a:t/>
            </a:r>
            <a:endParaRPr lang="en-US" sz="12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06  ·  GO-TO-MARKET</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GTM Strategy</a:t>
            </a:r>
            <a:endParaRPr lang="en-US" sz="2800"/>
          </a:p>
        </p:txBody>
      </p:sp>
      <p:sp>
        <p:nvSpPr>
          <p:cNvPr id="4" name="Shape 2"/>
          <p:cNvSpPr/>
          <p:nvPr/>
        </p:nvSpPr>
        <p:spPr>
          <a:xfrm>
            <a:off x="502920" y="164592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685800" y="178308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Positioning</a:t>
            </a:r>
            <a:endParaRPr lang="en-US" sz="1600"/>
          </a:p>
        </p:txBody>
      </p:sp>
      <p:sp>
        <p:nvSpPr>
          <p:cNvPr id="6" name="Text 4"/>
          <p:cNvSpPr/>
          <p:nvPr/>
        </p:nvSpPr>
        <p:spPr>
          <a:xfrm>
            <a:off x="685800" y="224028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The AI layer for regulated conversations — not a new contact centre, an add-on over the one the client already runs. EXL consults on, builds and runs systems for some of the largest enterprises in the world; this is a complete end-to-end implementation, not a concept deck, so it can be demonstrated as-is from the first meeting of a pursuit.</a:t>
            </a:r>
            <a:endParaRPr lang="en-US" sz="1300"/>
          </a:p>
        </p:txBody>
      </p:sp>
      <p:sp>
        <p:nvSpPr>
          <p:cNvPr id="7" name="Shape 5"/>
          <p:cNvSpPr/>
          <p:nvPr/>
        </p:nvSpPr>
        <p:spPr>
          <a:xfrm>
            <a:off x="6199632" y="164592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6382512" y="178308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Sales &amp; channel</a:t>
            </a:r>
            <a:endParaRPr lang="en-US" sz="1600"/>
          </a:p>
        </p:txBody>
      </p:sp>
      <p:sp>
        <p:nvSpPr>
          <p:cNvPr id="9" name="Text 7"/>
          <p:cNvSpPr/>
          <p:nvPr/>
        </p:nvSpPr>
        <p:spPr>
          <a:xfrm>
            <a:off x="6382512" y="224028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Expansion first: open new lines of business with organisations whose core operation is the contact centre, use this as living proof of what AI can do for them, then implement across the rest of their operation. Lead through existing account teams and attach to renewals; the live demo is the primary sales asset.</a:t>
            </a:r>
            <a:endParaRPr lang="en-US" sz="1300"/>
          </a:p>
        </p:txBody>
      </p:sp>
      <p:sp>
        <p:nvSpPr>
          <p:cNvPr id="10" name="Shape 8"/>
          <p:cNvSpPr/>
          <p:nvPr/>
        </p:nvSpPr>
        <p:spPr>
          <a:xfrm>
            <a:off x="502920" y="397764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685800" y="411480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Pricing</a:t>
            </a:r>
            <a:endParaRPr lang="en-US" sz="1600"/>
          </a:p>
        </p:txBody>
      </p:sp>
      <p:sp>
        <p:nvSpPr>
          <p:cNvPr id="12" name="Text 10"/>
          <p:cNvSpPr/>
          <p:nvPr/>
        </p:nvSpPr>
        <p:spPr>
          <a:xfrm>
            <a:off x="685800" y="457200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Per-agent-seat subscription for copilot + conversation intelligence · per-minute pricing for automated inbound handling · outcome-linked tier for QA and compliance coverage · bundled into managed-operations pricing on BPaaS deals. Per-call cost telemetry keeps margin predictable.</a:t>
            </a:r>
            <a:endParaRPr lang="en-US" sz="1300"/>
          </a:p>
        </p:txBody>
      </p:sp>
      <p:sp>
        <p:nvSpPr>
          <p:cNvPr id="13" name="Shape 11"/>
          <p:cNvSpPr/>
          <p:nvPr/>
        </p:nvSpPr>
        <p:spPr>
          <a:xfrm>
            <a:off x="6199632" y="397764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6382512" y="411480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Launch &amp; marketing</a:t>
            </a:r>
            <a:endParaRPr lang="en-US" sz="1600"/>
          </a:p>
        </p:txBody>
      </p:sp>
      <p:sp>
        <p:nvSpPr>
          <p:cNvPr id="15" name="Text 13"/>
          <p:cNvSpPr/>
          <p:nvPr/>
        </p:nvSpPr>
        <p:spPr>
          <a:xfrm>
            <a:off x="6382512" y="457200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Internal launch at the prototype showcase → reference case study from the first pilot → webinars on real-time compliance for regulated sales → thought leadership on human-in-the-loop AI → demo presence at payer and contact-centre industry events.</a:t>
            </a:r>
            <a:endParaRPr lang="en-US" sz="1300"/>
          </a:p>
        </p:txBody>
      </p:sp>
    </p:spTree>
  </p:cSld>
  <p:clrMapOvr>
    <a:masterClrMapping/>
  </p:clrMapOvr>
</p:sld>
</file>

<file path=ppt/theme/theme1.xml><?xml version="1.0" encoding="utf-8"?>
<a:theme xmlns:a="http://schemas.openxmlformats.org/drawingml/2006/main" name="1_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3" id="{75DB2D68-EB8A-4D47-9097-25EC9E13C876}" vid="{0310C97A-7711-40A4-A3F2-58B78CFBECD1}"/>
    </a:ext>
  </a:extLst>
</a:theme>
</file>

<file path=ppt/theme/theme2.xml><?xml version="1.0" encoding="utf-8"?>
<a:theme xmlns:a="http://schemas.openxmlformats.org/drawingml/2006/main" name="EXL">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XL" id="{68B02986-82C5-4061-A57C-C8B87125180A}" vid="{4677AF4B-9B33-4684-B6BB-99EE4D7BDE7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465</Words>
  <Application>Microsoft Office PowerPoint</Application>
  <PresentationFormat>Widescreen</PresentationFormat>
  <Paragraphs>86</Paragraphs>
  <Slides>7</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Arial</vt:lpstr>
      <vt:lpstr>Calibri</vt:lpstr>
      <vt:lpstr>Calibri Light</vt:lpstr>
      <vt:lpstr>System Font Regular</vt:lpstr>
      <vt:lpstr>1_Office Theme</vt:lpstr>
      <vt:lpstr>EXL</vt:lpstr>
      <vt:lpstr>Reference Deck - [Solution Name]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Vinayak Chopra</dc:creator>
  <cp:lastModifiedBy>Vinayak Chopra</cp:lastModifiedBy>
  <cp:revision>1</cp:revision>
  <dcterms:created xsi:type="dcterms:W3CDTF">2026-08-12T10:03:27Z</dcterms:created>
  <dcterms:modified xsi:type="dcterms:W3CDTF">2026-08-12T13:29:26Z</dcterms:modified>
</cp:coreProperties>
</file>