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IQ Copilot layers three AI capabilities on top of TechSalesApp, a working Medicare tele-sales platform: a live call co-pilot for agents, ambient supervision for managers, and autonomous QA. All built on a real telephony + transcription pipeline, self-hosted on a Raspberry Pi behind Cloudflare.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Medicare tele-sales is uniquely high-stakes. CMS marketing rules govern language on every call, supervisors can't listen to everything, and QA is manual and after-the-fact. This POC puts AI on the conversation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pillars, one pipeline. The key trust message: AI assists and proposes; humans stay in control of every write and every compliance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1 is the live co-pilot. It transcribes both speakers, flags CMS violations with severity, tracks the prospect's emotion, auto-fills the lead form from what's said, and hosts Atlas, an agentic assistant with 19 tools that can see the live transcript. Writes require human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2 gives supervisors an ambient live feed of all active calls with streaming compliance alerts, click-through to tagged transcripts, and a rule engine they edit themselves — changes take effect on the next call with no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3 records and tags every call, auto-flagging violations into a review queue. A supervisor (or Atlas) triggers an on-demand LLM scorecard grading four dimensions with evidence, coaching points, and a disclosure checklist. Every LLM call is logged with token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earns trust with a management audience. AI never overwrites the agent, never bypasses the supervisor's rules, and never files QA without a human asking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stack runs on a Raspberry Pi at home, exposed through a Cloudflare named tunnel at api.rubarajan.dev, with MongoDB in Docker and the LLM served via OpenRouter. The pipeline is wire-stable: swapping the rule-based analyzer for a LangGraph LLM agent needs zero front-end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modern open-source stack: React front end, Node/Express back end with SSE and WebSockets, Twilio + Deepgram for voice, Claude via OpenRouter for the LLM work, MongoDB for data, all self-hosted. No per-seat licensing.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Near term: link call records to the lead. Next: real session auth. Later: scale to multiple specialized agents and a member-facing RAG assistant. The pipeline is already wire-stable for the LLM swap.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agenda: (1) live call co-pilot with autofill, compliance, emotion and Atlas; (2) supervisor live feed and rule editing; (3) autonomous QA scorecard on the bad call vs the clean call. Backend is live at api.rubarajan.dev.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312C2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312C2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4297680" cy="384048"/>
          </a:xfrm>
          <a:prstGeom prst="roundRect">
            <a:avLst>
              <a:gd name="adj" fmla="val 50000"/>
            </a:avLst>
          </a:prstGeom>
          <a:solidFill>
            <a:srgbClr val="FB4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TELE-SALES  ·  AGENTIC AI POC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IQ Copilot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B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on top of a live Medicare tele-sales platform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530352" cy="530352"/>
          </a:xfrm>
          <a:prstGeom prst="ellipse">
            <a:avLst/>
          </a:prstGeom>
          <a:solidFill>
            <a:srgbClr val="453E3F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3835908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37033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call co-pilot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3886200" y="3703320"/>
            <a:ext cx="530352" cy="530352"/>
          </a:xfrm>
          <a:prstGeom prst="ellipse">
            <a:avLst/>
          </a:prstGeom>
          <a:solidFill>
            <a:srgbClr val="453E3F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788" y="3835908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07992" y="37033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supervision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949440" y="3703320"/>
            <a:ext cx="530352" cy="530352"/>
          </a:xfrm>
          <a:prstGeom prst="ellipse">
            <a:avLst/>
          </a:prstGeom>
          <a:solidFill>
            <a:srgbClr val="453E3F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028" y="3835908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71232" y="37033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QA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9646920" y="2331720"/>
            <a:ext cx="1737360" cy="1737360"/>
          </a:xfrm>
          <a:prstGeom prst="ellipse">
            <a:avLst/>
          </a:prstGeom>
          <a:solidFill>
            <a:srgbClr val="FB4E0B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1260" y="2766060"/>
            <a:ext cx="868680" cy="8686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9050">
            <a:solidFill>
              <a:srgbClr val="453E3F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22960" y="5943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Adhithya Rubarajan</a:t>
            </a:r>
            <a:pPr indent="0" marL="0">
              <a:buNone/>
            </a:pPr>
            <a:r>
              <a:rPr lang="en-US" sz="1400" dirty="0">
                <a:solidFill>
                  <a:srgbClr val="EB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Medicare Sales Platform · Hackathon Demo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686800" y="59436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8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api.rubarajan.dev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 meets coaching gaps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Medicare sales call is governed by CMS marketing rules — but supervisors can't hear them all, and QA is manual, sampled, and days late.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3401568" cy="3246120"/>
          </a:xfrm>
          <a:prstGeom prst="roundRect">
            <a:avLst>
              <a:gd name="adj" fmla="val 3099"/>
            </a:avLst>
          </a:prstGeom>
          <a:solidFill>
            <a:srgbClr val="FFFFFF"/>
          </a:solidFill>
          <a:ln w="12700">
            <a:solidFill>
              <a:srgbClr val="E7E0D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4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88136" y="2935224"/>
            <a:ext cx="841248" cy="841248"/>
          </a:xfrm>
          <a:prstGeom prst="ellipse">
            <a:avLst/>
          </a:prstGeom>
          <a:solidFill>
            <a:srgbClr val="C62828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3145536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8136" y="3904488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exposure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088136" y="4389120"/>
            <a:ext cx="2779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E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“guaranteed” or “best plan” on a recorded line is a CMS violation. Enforcement is real, and it happens live — not in a report.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89704" y="2606040"/>
            <a:ext cx="3401568" cy="3246120"/>
          </a:xfrm>
          <a:prstGeom prst="roundRect">
            <a:avLst>
              <a:gd name="adj" fmla="val 3099"/>
            </a:avLst>
          </a:prstGeom>
          <a:solidFill>
            <a:srgbClr val="FFFFFF"/>
          </a:solidFill>
          <a:ln w="12700">
            <a:solidFill>
              <a:srgbClr val="E7E0D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43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2935224"/>
            <a:ext cx="841248" cy="841248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3145536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0600" y="3904488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blind spots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4800600" y="4389120"/>
            <a:ext cx="2779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E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can't monitor every active call. Problems surface after the damage is done, if they surface at all.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202168" y="2606040"/>
            <a:ext cx="3401568" cy="3246120"/>
          </a:xfrm>
          <a:prstGeom prst="roundRect">
            <a:avLst>
              <a:gd name="adj" fmla="val 3099"/>
            </a:avLst>
          </a:prstGeom>
          <a:solidFill>
            <a:srgbClr val="FFFFFF"/>
          </a:solidFill>
          <a:ln w="12700">
            <a:solidFill>
              <a:srgbClr val="E7E0D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433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13064" y="2935224"/>
            <a:ext cx="841248" cy="841248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76" y="3145536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13064" y="3904488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sampled QA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8513064" y="4389120"/>
            <a:ext cx="2779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E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covers a handful of calls. New agents wait days for feedback, and coaching arrives long after the moment.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77240" y="605332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exist to sell. Nothing watches the conversation itself.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B4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three AI pillars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664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run on the same real-time call pipeline — diarized transcript in, actions and insight 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3401568" cy="3063240"/>
          </a:xfrm>
          <a:prstGeom prst="roundRect">
            <a:avLst>
              <a:gd name="adj" fmla="val 3284"/>
            </a:avLst>
          </a:prstGeom>
          <a:solidFill>
            <a:srgbClr val="312C2D"/>
          </a:solidFill>
          <a:ln w="12700">
            <a:solidFill>
              <a:srgbClr val="453E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" y="2688336"/>
            <a:ext cx="822960" cy="822960"/>
          </a:xfrm>
          <a:prstGeom prst="ellipse">
            <a:avLst/>
          </a:prstGeom>
          <a:solidFill>
            <a:srgbClr val="FB4E0B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2894076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27248" y="25968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453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1088136" y="3657600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Co-Pilot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88136" y="4160520"/>
            <a:ext cx="27797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B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help on the live call: transcription, compliance alerts, emotion, coaching, autofill, and an agentic assistant.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89704" y="2377440"/>
            <a:ext cx="3401568" cy="3063240"/>
          </a:xfrm>
          <a:prstGeom prst="roundRect">
            <a:avLst>
              <a:gd name="adj" fmla="val 3284"/>
            </a:avLst>
          </a:prstGeom>
          <a:solidFill>
            <a:srgbClr val="312C2D"/>
          </a:solidFill>
          <a:ln w="12700">
            <a:solidFill>
              <a:srgbClr val="453E3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2688336"/>
            <a:ext cx="822960" cy="82296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894076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39712" y="25968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453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600" dirty="0"/>
          </a:p>
        </p:txBody>
      </p:sp>
      <p:sp>
        <p:nvSpPr>
          <p:cNvPr id="15" name="Text 11"/>
          <p:cNvSpPr/>
          <p:nvPr/>
        </p:nvSpPr>
        <p:spPr>
          <a:xfrm>
            <a:off x="4800600" y="3657600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CoPilot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800600" y="4160520"/>
            <a:ext cx="27797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B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oversight: every active call, live emotion, and compliance alerts streaming in — with a rule engine supervisors control.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202168" y="2377440"/>
            <a:ext cx="3401568" cy="3063240"/>
          </a:xfrm>
          <a:prstGeom prst="roundRect">
            <a:avLst>
              <a:gd name="adj" fmla="val 3284"/>
            </a:avLst>
          </a:prstGeom>
          <a:solidFill>
            <a:srgbClr val="312C2D"/>
          </a:solidFill>
          <a:ln w="12700">
            <a:solidFill>
              <a:srgbClr val="453E3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513064" y="2688336"/>
            <a:ext cx="822960" cy="82296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804" y="2894076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52176" y="25968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453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600" dirty="0"/>
          </a:p>
        </p:txBody>
      </p:sp>
      <p:sp>
        <p:nvSpPr>
          <p:cNvPr id="21" name="Text 16"/>
          <p:cNvSpPr/>
          <p:nvPr/>
        </p:nvSpPr>
        <p:spPr>
          <a:xfrm>
            <a:off x="8513064" y="3657600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QA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513064" y="4160520"/>
            <a:ext cx="27797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B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recorded, tagged, and flagged; an on-demand LLM scorecard grades compliance, discovery, communication, and next steps.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77240" y="5715000"/>
            <a:ext cx="10634472" cy="749808"/>
          </a:xfrm>
          <a:prstGeom prst="roundRect">
            <a:avLst>
              <a:gd name="adj" fmla="val 12195"/>
            </a:avLst>
          </a:prstGeom>
          <a:solidFill>
            <a:srgbClr val="FB4E0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91616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571500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by design:  </a:t>
            </a:r>
            <a:pPr indent="0" marL="0">
              <a:buNone/>
            </a:pPr>
            <a:r>
              <a:rPr lang="en-US" sz="14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proposes, the agent approves. QA runs on demand — never autonomously.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oundRect">
            <a:avLst/>
          </a:prstGeom>
          <a:solidFill>
            <a:srgbClr val="231F2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371600"/>
            <a:ext cx="2468880" cy="2468880"/>
          </a:xfrm>
          <a:prstGeom prst="ellipse">
            <a:avLst/>
          </a:prstGeom>
          <a:solidFill>
            <a:srgbClr val="312C2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858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B4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1097280"/>
          </a:xfrm>
          <a:prstGeom prst="ellipse">
            <a:avLst/>
          </a:prstGeom>
          <a:solidFill>
            <a:srgbClr val="FB4E0B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974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Co-Pilot on live calls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434340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B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ambient assistant that watches the conversation and acts on the UI in real time — not a chatbot the agent has to babysit.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617720" y="566928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3385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93208" y="1033272"/>
            <a:ext cx="6565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diarized transcription (Deepgram) with highlighted terms + Medicare glossary cards — CSNP, IRMAA, DSNP…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892808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93208" y="1792224"/>
            <a:ext cx="6565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CMS compliance alerts with severity — supervisor-editable, no redeploy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651760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93208" y="2551176"/>
            <a:ext cx="6565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prospect emotion tracking + AI coaching tips on violations &amp; mood shifts</a:t>
            </a:r>
            <a:endParaRPr lang="en-US" sz="14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410712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93208" y="3310128"/>
            <a:ext cx="6565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auto-extraction (zip, meds, providers) fills the lead form as they speak</a:t>
            </a:r>
            <a:endParaRPr lang="en-US" sz="14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169664"/>
            <a:ext cx="310896" cy="31089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93208" y="4069080"/>
            <a:ext cx="6565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agentic assistant (19 tools, approval-gated writes) aware of the live call</a:t>
            </a:r>
            <a:endParaRPr lang="en-US" sz="1450" dirty="0"/>
          </a:p>
        </p:txBody>
      </p:sp>
      <p:sp>
        <p:nvSpPr>
          <p:cNvPr id="20" name="Shape 12"/>
          <p:cNvSpPr/>
          <p:nvPr/>
        </p:nvSpPr>
        <p:spPr>
          <a:xfrm>
            <a:off x="4617720" y="5038344"/>
            <a:ext cx="7040880" cy="1170432"/>
          </a:xfrm>
          <a:prstGeom prst="roundRect">
            <a:avLst>
              <a:gd name="adj" fmla="val 7813"/>
            </a:avLst>
          </a:prstGeom>
          <a:solidFill>
            <a:srgbClr val="F8F5F2"/>
          </a:solidFill>
          <a:ln w="15875">
            <a:solidFill>
              <a:srgbClr val="FB4E0B"/>
            </a:solidFill>
            <a:prstDash val="solid"/>
          </a:ln>
          <a:effectLst>
            <a:outerShdw sx="100000" sy="100000" kx="0" ky="0" algn="bl" rotWithShape="0" blurRad="101600" dist="38100" dir="5400000">
              <a:srgbClr val="1A2433">
                <a:alpha val="1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4837176" y="5330952"/>
            <a:ext cx="585216" cy="585216"/>
          </a:xfrm>
          <a:prstGeom prst="ellipse">
            <a:avLst/>
          </a:prstGeom>
          <a:solidFill>
            <a:srgbClr val="FB4E0B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5184" y="5488960"/>
            <a:ext cx="269199" cy="269199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577840" y="5202936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MOMENT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5577840" y="545896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plan is completely free and guaranteed” → two red CMS alerts fire instantly, on the agent's screen and the supervisor's.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oundRect">
            <a:avLst/>
          </a:prstGeom>
          <a:solidFill>
            <a:srgbClr val="231F2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371600"/>
            <a:ext cx="2468880" cy="2468880"/>
          </a:xfrm>
          <a:prstGeom prst="ellipse">
            <a:avLst/>
          </a:prstGeom>
          <a:solidFill>
            <a:srgbClr val="312C2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858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50708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109728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974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Supervisor CoPilot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434340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B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oversight of the whole floor — and the controls to shape how the AI enforces compliance.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617720" y="566928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5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3385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93208" y="1033272"/>
            <a:ext cx="6565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of every active call — agent, direction, ticking duration, live emotion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892808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93208" y="1792224"/>
            <a:ext cx="6565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alerts stream in real time, the moment a phrase trips a rule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651760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93208" y="2551176"/>
            <a:ext cx="6565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alert → full transcript, tagged inline (compliance, emotion, coaching)</a:t>
            </a:r>
            <a:endParaRPr lang="en-US" sz="14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410712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93208" y="3310128"/>
            <a:ext cx="6565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Admin-editable compliance rule engine — add phrases, flip severity, disable rules</a:t>
            </a:r>
            <a:endParaRPr lang="en-US" sz="14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169664"/>
            <a:ext cx="310896" cy="31089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93208" y="4069080"/>
            <a:ext cx="6565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call obeys new rules instantly — no deploy; supervisors control the AI</a:t>
            </a:r>
            <a:endParaRPr lang="en-US" sz="1450" dirty="0"/>
          </a:p>
        </p:txBody>
      </p:sp>
      <p:sp>
        <p:nvSpPr>
          <p:cNvPr id="20" name="Shape 12"/>
          <p:cNvSpPr/>
          <p:nvPr/>
        </p:nvSpPr>
        <p:spPr>
          <a:xfrm>
            <a:off x="4617720" y="5038344"/>
            <a:ext cx="7040880" cy="1170432"/>
          </a:xfrm>
          <a:prstGeom prst="roundRect">
            <a:avLst>
              <a:gd name="adj" fmla="val 7813"/>
            </a:avLst>
          </a:prstGeom>
          <a:solidFill>
            <a:srgbClr val="F8F5F2"/>
          </a:solidFill>
          <a:ln w="15875">
            <a:solidFill>
              <a:srgbClr val="50708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433">
                <a:alpha val="1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4837176" y="5330952"/>
            <a:ext cx="585216" cy="585216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5184" y="5488960"/>
            <a:ext cx="269199" cy="269199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577840" y="5202936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MOMENT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5577840" y="545896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“special deal” to the rule engine mid-demo → the very next call flags it as a warning, live.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oundRect">
            <a:avLst/>
          </a:prstGeom>
          <a:solidFill>
            <a:srgbClr val="231F2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371600"/>
            <a:ext cx="2468880" cy="2468880"/>
          </a:xfrm>
          <a:prstGeom prst="ellipse">
            <a:avLst/>
          </a:prstGeom>
          <a:solidFill>
            <a:srgbClr val="312C2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858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109728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974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Call QA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434340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B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captured and triaged automatically; a deep LLM scorecard on demand — not autonomously.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617720" y="566928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3385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93208" y="1033272"/>
            <a:ext cx="6565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auto-recorded &amp; tagged; any violation auto-flags it into a review queue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892808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93208" y="1792224"/>
            <a:ext cx="6565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LLM scorecard: overall + compliance, discovery, communication, next steps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651760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93208" y="2551176"/>
            <a:ext cx="6565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points and a CMS disclosure checklist, each with transcript evidence</a:t>
            </a:r>
            <a:endParaRPr lang="en-US" sz="14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410712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93208" y="3310128"/>
            <a:ext cx="6565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from the dashboard — or just ask Atlas to review a call</a:t>
            </a:r>
            <a:endParaRPr lang="en-US" sz="14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169664"/>
            <a:ext cx="310896" cy="31089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93208" y="4069080"/>
            <a:ext cx="6565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stats strip (flagged %, avg score) + full LLM audit trail with token costs</a:t>
            </a:r>
            <a:endParaRPr lang="en-US" sz="1450" dirty="0"/>
          </a:p>
        </p:txBody>
      </p:sp>
      <p:sp>
        <p:nvSpPr>
          <p:cNvPr id="20" name="Shape 12"/>
          <p:cNvSpPr/>
          <p:nvPr/>
        </p:nvSpPr>
        <p:spPr>
          <a:xfrm>
            <a:off x="4617720" y="5038344"/>
            <a:ext cx="7040880" cy="1170432"/>
          </a:xfrm>
          <a:prstGeom prst="roundRect">
            <a:avLst>
              <a:gd name="adj" fmla="val 7813"/>
            </a:avLst>
          </a:prstGeom>
          <a:solidFill>
            <a:srgbClr val="F8F5F2"/>
          </a:solidFill>
          <a:ln w="15875">
            <a:solidFill>
              <a:srgbClr val="2FA36B"/>
            </a:solidFill>
            <a:prstDash val="solid"/>
          </a:ln>
          <a:effectLst>
            <a:outerShdw sx="100000" sy="100000" kx="0" ky="0" algn="bl" rotWithShape="0" blurRad="101600" dist="38100" dir="5400000">
              <a:srgbClr val="1A2433">
                <a:alpha val="1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4837176" y="5330952"/>
            <a:ext cx="585216" cy="585216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5184" y="5488960"/>
            <a:ext cx="269199" cy="269199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577840" y="5202936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MOMENT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5577840" y="545896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bad call — 4 violations, frustrated prospect — hit Run QA, get a scored breakdown in seconds; contrast with the clean call.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3840480" cy="3840480"/>
          </a:xfrm>
          <a:prstGeom prst="ellipse">
            <a:avLst/>
          </a:prstGeom>
          <a:solidFill>
            <a:srgbClr val="312C2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B4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by design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fast and always-on, but never the final authority. Every consequential action routes through a person.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3401568" cy="3017520"/>
          </a:xfrm>
          <a:prstGeom prst="roundRect">
            <a:avLst>
              <a:gd name="adj" fmla="val 3333"/>
            </a:avLst>
          </a:prstGeom>
          <a:solidFill>
            <a:srgbClr val="312C2D"/>
          </a:solidFill>
          <a:ln w="12700">
            <a:solidFill>
              <a:srgbClr val="453E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" y="2843784"/>
            <a:ext cx="841248" cy="841248"/>
          </a:xfrm>
          <a:prstGeom prst="ellipse">
            <a:avLst/>
          </a:prstGeom>
          <a:solidFill>
            <a:srgbClr val="FB4E0B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3054096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88136" y="3831336"/>
            <a:ext cx="27797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proposes, agent approves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88136" y="4526280"/>
            <a:ext cx="27797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B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Autofill never overwrites a typed value; Atlas write actions surface an approval card. The agent keeps authority — AI just augments.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89704" y="2514600"/>
            <a:ext cx="3401568" cy="3017520"/>
          </a:xfrm>
          <a:prstGeom prst="roundRect">
            <a:avLst>
              <a:gd name="adj" fmla="val 3333"/>
            </a:avLst>
          </a:prstGeom>
          <a:solidFill>
            <a:srgbClr val="312C2D"/>
          </a:solidFill>
          <a:ln w="12700">
            <a:solidFill>
              <a:srgbClr val="453E3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2843784"/>
            <a:ext cx="841248" cy="841248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3054096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0600" y="3831336"/>
            <a:ext cx="27797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own the rules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800600" y="4526280"/>
            <a:ext cx="27797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B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rule engine is admin-editable. Humans decide what counts as a violation and how severe — the AI only enforces it.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02168" y="2514600"/>
            <a:ext cx="3401568" cy="3017520"/>
          </a:xfrm>
          <a:prstGeom prst="roundRect">
            <a:avLst>
              <a:gd name="adj" fmla="val 3333"/>
            </a:avLst>
          </a:prstGeom>
          <a:solidFill>
            <a:srgbClr val="312C2D"/>
          </a:solidFill>
          <a:ln w="12700">
            <a:solidFill>
              <a:srgbClr val="453E3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13064" y="2843784"/>
            <a:ext cx="841248" cy="841248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76" y="3054096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13064" y="3831336"/>
            <a:ext cx="27797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on demand, not autonomous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513064" y="4526280"/>
            <a:ext cx="27797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B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Scorecards run when a supervisor or Atlas asks. No call is silently graded and filed away — review stays a human decision.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8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to help mid-sentence. Governed enough to trust on a recorded line.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1F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phone call to the screen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telephony pipeline: audio in over Twilio, diarized transcription, an analysis layer, and Server-Sent Events out to the UI.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1650492" cy="1965960"/>
          </a:xfrm>
          <a:prstGeom prst="roundRect">
            <a:avLst>
              <a:gd name="adj" fmla="val 6094"/>
            </a:avLst>
          </a:prstGeom>
          <a:solidFill>
            <a:srgbClr val="FFFFFF"/>
          </a:solidFill>
          <a:ln w="12700">
            <a:solidFill>
              <a:srgbClr val="E7E0D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4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6726" y="2505456"/>
            <a:ext cx="731520" cy="731520"/>
          </a:xfrm>
          <a:prstGeom prst="ellipse">
            <a:avLst/>
          </a:prstGeom>
          <a:solidFill>
            <a:srgbClr val="FB4E0B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606" y="268833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2104" y="3291840"/>
            <a:ext cx="15407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+ Twilio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0392" y="3657600"/>
            <a:ext cx="15041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E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SDK dials / receives PSTN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409444" y="278892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53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574036" y="2286000"/>
            <a:ext cx="1650492" cy="1965960"/>
          </a:xfrm>
          <a:prstGeom prst="roundRect">
            <a:avLst>
              <a:gd name="adj" fmla="val 6094"/>
            </a:avLst>
          </a:prstGeom>
          <a:solidFill>
            <a:srgbClr val="FFFFFF"/>
          </a:solidFill>
          <a:ln w="12700">
            <a:solidFill>
              <a:srgbClr val="E7E0D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433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33522" y="2505456"/>
            <a:ext cx="731520" cy="731520"/>
          </a:xfrm>
          <a:prstGeom prst="ellipse">
            <a:avLst/>
          </a:prstGeom>
          <a:solidFill>
            <a:srgbClr val="FB4E0B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402" y="2688336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28900" y="3291840"/>
            <a:ext cx="15407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Stream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647188" y="3657600"/>
            <a:ext cx="15041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E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μ-law audio frames over WS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206240" y="278892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53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4370832" y="2286000"/>
            <a:ext cx="1650492" cy="1965960"/>
          </a:xfrm>
          <a:prstGeom prst="roundRect">
            <a:avLst>
              <a:gd name="adj" fmla="val 6094"/>
            </a:avLst>
          </a:prstGeom>
          <a:solidFill>
            <a:srgbClr val="FFFFFF"/>
          </a:solidFill>
          <a:ln w="12700">
            <a:solidFill>
              <a:srgbClr val="E7E0D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433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30318" y="2505456"/>
            <a:ext cx="731520" cy="73152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198" y="2688336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25696" y="3291840"/>
            <a:ext cx="15407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443984" y="3657600"/>
            <a:ext cx="15041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E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diarized streams (agent / prospect)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003036" y="278892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53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6167628" y="2286000"/>
            <a:ext cx="1650492" cy="1965960"/>
          </a:xfrm>
          <a:prstGeom prst="roundRect">
            <a:avLst>
              <a:gd name="adj" fmla="val 6094"/>
            </a:avLst>
          </a:prstGeom>
          <a:solidFill>
            <a:srgbClr val="FFFFFF"/>
          </a:solidFill>
          <a:ln w="12700">
            <a:solidFill>
              <a:srgbClr val="E7E0D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433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27114" y="2505456"/>
            <a:ext cx="731520" cy="73152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994" y="2688336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22492" y="3291840"/>
            <a:ext cx="15407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pipeline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240780" y="3657600"/>
            <a:ext cx="15041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E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· entities · emotion · coaching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7799832" y="278892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53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7964424" y="2286000"/>
            <a:ext cx="1650492" cy="1965960"/>
          </a:xfrm>
          <a:prstGeom prst="roundRect">
            <a:avLst>
              <a:gd name="adj" fmla="val 6094"/>
            </a:avLst>
          </a:prstGeom>
          <a:solidFill>
            <a:srgbClr val="FFFFFF"/>
          </a:solidFill>
          <a:ln w="12700">
            <a:solidFill>
              <a:srgbClr val="E7E0D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433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423910" y="2505456"/>
            <a:ext cx="731520" cy="731520"/>
          </a:xfrm>
          <a:prstGeom prst="ellipse">
            <a:avLst/>
          </a:prstGeom>
          <a:solidFill>
            <a:srgbClr val="C62828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6790" y="2688336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019288" y="3291840"/>
            <a:ext cx="15407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bridge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8037576" y="3657600"/>
            <a:ext cx="15041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E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actions &amp; insight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9596628" y="278892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53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5" name="Shape 28"/>
          <p:cNvSpPr/>
          <p:nvPr/>
        </p:nvSpPr>
        <p:spPr>
          <a:xfrm>
            <a:off x="9761220" y="2286000"/>
            <a:ext cx="1650492" cy="1965960"/>
          </a:xfrm>
          <a:prstGeom prst="roundRect">
            <a:avLst>
              <a:gd name="adj" fmla="val 6094"/>
            </a:avLst>
          </a:prstGeom>
          <a:solidFill>
            <a:srgbClr val="FFFFFF"/>
          </a:solidFill>
          <a:ln w="12700">
            <a:solidFill>
              <a:srgbClr val="E7E0D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433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10220706" y="2505456"/>
            <a:ext cx="731520" cy="73152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3586" y="2688336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816084" y="3291840"/>
            <a:ext cx="15407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9834372" y="3657600"/>
            <a:ext cx="15041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E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panel + supervisor feed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777240" y="4617720"/>
            <a:ext cx="10634472" cy="1600200"/>
          </a:xfrm>
          <a:prstGeom prst="roundRect">
            <a:avLst>
              <a:gd name="adj" fmla="val 6286"/>
            </a:avLst>
          </a:prstGeom>
          <a:solidFill>
            <a:srgbClr val="231F20"/>
          </a:solidFill>
          <a:ln/>
          <a:effectLst>
            <a:outerShdw sx="100000" sy="100000" kx="0" ky="0" algn="bl" rotWithShape="0" blurRad="127000" dist="38100" dir="5400000">
              <a:srgbClr val="1A2433">
                <a:alpha val="15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1097280" y="5074920"/>
            <a:ext cx="731520" cy="731520"/>
          </a:xfrm>
          <a:prstGeom prst="ellipse">
            <a:avLst/>
          </a:prstGeom>
          <a:solidFill>
            <a:srgbClr val="FB4E0B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2845" y="5250485"/>
            <a:ext cx="380390" cy="38039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2011680" y="487375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Home-lab to cloud</a:t>
            </a:r>
            <a:endParaRPr lang="en-US" sz="1800" dirty="0"/>
          </a:p>
        </p:txBody>
      </p:sp>
      <p:sp>
        <p:nvSpPr>
          <p:cNvPr id="44" name="Text 35"/>
          <p:cNvSpPr/>
          <p:nvPr/>
        </p:nvSpPr>
        <p:spPr>
          <a:xfrm>
            <a:off x="2011680" y="5312664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B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on a Raspberry Pi → Caddy gateway → Cloudflare named tunnel →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8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api.rubarajan.dev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B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MongoDB in Docker; LLM via OpenRouter (Claude).</a:t>
            </a:r>
            <a:endParaRPr lang="en-US" sz="1300" dirty="0"/>
          </a:p>
        </p:txBody>
      </p:sp>
      <p:sp>
        <p:nvSpPr>
          <p:cNvPr id="45" name="Shape 36"/>
          <p:cNvSpPr/>
          <p:nvPr/>
        </p:nvSpPr>
        <p:spPr>
          <a:xfrm>
            <a:off x="8686800" y="4937760"/>
            <a:ext cx="0" cy="960120"/>
          </a:xfrm>
          <a:prstGeom prst="line">
            <a:avLst/>
          </a:prstGeom>
          <a:noFill/>
          <a:ln w="19050">
            <a:solidFill>
              <a:srgbClr val="453E3F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8915400" y="4983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deploys anywhere.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B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 &amp; portability win — no cloud bill to run the demo.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30352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231F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4183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modern, open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3401568" cy="1783080"/>
          </a:xfrm>
          <a:prstGeom prst="roundRect">
            <a:avLst>
              <a:gd name="adj" fmla="val 5641"/>
            </a:avLst>
          </a:prstGeom>
          <a:solidFill>
            <a:srgbClr val="F8F5F2"/>
          </a:solidFill>
          <a:ln w="12700">
            <a:solidFill>
              <a:srgbClr val="E7E0D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4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76856"/>
            <a:ext cx="749808" cy="749808"/>
          </a:xfrm>
          <a:prstGeom prst="ellipse">
            <a:avLst/>
          </a:prstGeom>
          <a:solidFill>
            <a:srgbClr val="FB4E0B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12" y="246430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47672" y="227685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69848" y="3099816"/>
            <a:ext cx="2852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· Tailwind · TypeScript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89704" y="1965960"/>
            <a:ext cx="3401568" cy="1783080"/>
          </a:xfrm>
          <a:prstGeom prst="roundRect">
            <a:avLst>
              <a:gd name="adj" fmla="val 5641"/>
            </a:avLst>
          </a:prstGeom>
          <a:solidFill>
            <a:srgbClr val="F8F5F2"/>
          </a:solidFill>
          <a:ln w="12700">
            <a:solidFill>
              <a:srgbClr val="E7E0D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4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64024" y="2276856"/>
            <a:ext cx="749808" cy="749808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76" y="2464308"/>
            <a:ext cx="374904" cy="374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0136" y="227685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4782312" y="3099816"/>
            <a:ext cx="2852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 · Express 5 · SSE + WebSocket · TS strict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02168" y="1965960"/>
            <a:ext cx="3401568" cy="1783080"/>
          </a:xfrm>
          <a:prstGeom prst="roundRect">
            <a:avLst>
              <a:gd name="adj" fmla="val 5641"/>
            </a:avLst>
          </a:prstGeom>
          <a:solidFill>
            <a:srgbClr val="F8F5F2"/>
          </a:solidFill>
          <a:ln w="12700">
            <a:solidFill>
              <a:srgbClr val="E7E0D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4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76488" y="2276856"/>
            <a:ext cx="749808" cy="749808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940" y="2464308"/>
            <a:ext cx="374904" cy="374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72600" y="227685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Telephony &amp; voice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8494776" y="3099816"/>
            <a:ext cx="2852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Voice + Media Streams · Deepgram diarization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77240" y="4041648"/>
            <a:ext cx="3401568" cy="1783080"/>
          </a:xfrm>
          <a:prstGeom prst="roundRect">
            <a:avLst>
              <a:gd name="adj" fmla="val 5641"/>
            </a:avLst>
          </a:prstGeom>
          <a:solidFill>
            <a:srgbClr val="F8F5F2"/>
          </a:solidFill>
          <a:ln w="12700">
            <a:solidFill>
              <a:srgbClr val="E7E0D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4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51560" y="4352544"/>
            <a:ext cx="749808" cy="749808"/>
          </a:xfrm>
          <a:prstGeom prst="ellipse">
            <a:avLst/>
          </a:prstGeom>
          <a:solidFill>
            <a:srgbClr val="C62828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012" y="4539996"/>
            <a:ext cx="374904" cy="374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47672" y="435254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1069848" y="5175504"/>
            <a:ext cx="2852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via OpenRouter · LangGraph agent · CMS rule engine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89704" y="4041648"/>
            <a:ext cx="3401568" cy="1783080"/>
          </a:xfrm>
          <a:prstGeom prst="roundRect">
            <a:avLst>
              <a:gd name="adj" fmla="val 5641"/>
            </a:avLst>
          </a:prstGeom>
          <a:solidFill>
            <a:srgbClr val="F8F5F2"/>
          </a:solidFill>
          <a:ln w="12700">
            <a:solidFill>
              <a:srgbClr val="E7E0D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43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64024" y="4352544"/>
            <a:ext cx="749808" cy="749808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476" y="4539996"/>
            <a:ext cx="374904" cy="37490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60136" y="435254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750" dirty="0"/>
          </a:p>
        </p:txBody>
      </p:sp>
      <p:sp>
        <p:nvSpPr>
          <p:cNvPr id="28" name="Text 21"/>
          <p:cNvSpPr/>
          <p:nvPr/>
        </p:nvSpPr>
        <p:spPr>
          <a:xfrm>
            <a:off x="4782312" y="5175504"/>
            <a:ext cx="2852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8 · JSON &amp; Databricks options · Qdrant vectors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202168" y="4041648"/>
            <a:ext cx="3401568" cy="1783080"/>
          </a:xfrm>
          <a:prstGeom prst="roundRect">
            <a:avLst>
              <a:gd name="adj" fmla="val 5641"/>
            </a:avLst>
          </a:prstGeom>
          <a:solidFill>
            <a:srgbClr val="F8F5F2"/>
          </a:solidFill>
          <a:ln w="12700">
            <a:solidFill>
              <a:srgbClr val="E7E0D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433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76488" y="4352544"/>
            <a:ext cx="749808" cy="749808"/>
          </a:xfrm>
          <a:prstGeom prst="ellipse">
            <a:avLst/>
          </a:prstGeom>
          <a:solidFill>
            <a:srgbClr val="453E3F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3940" y="4539996"/>
            <a:ext cx="374904" cy="37490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72600" y="435254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750" dirty="0"/>
          </a:p>
        </p:txBody>
      </p:sp>
      <p:sp>
        <p:nvSpPr>
          <p:cNvPr id="33" name="Text 25"/>
          <p:cNvSpPr/>
          <p:nvPr/>
        </p:nvSpPr>
        <p:spPr>
          <a:xfrm>
            <a:off x="8494776" y="5175504"/>
            <a:ext cx="2852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· Caddy · Cloudflare Tunnel · systemd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777240" y="614476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In-house, no per-seat licensing, no vendor lock-in — full control of the roadmap and the data.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231F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3401568" cy="3566160"/>
          </a:xfrm>
          <a:prstGeom prst="roundRect">
            <a:avLst>
              <a:gd name="adj" fmla="val 2957"/>
            </a:avLst>
          </a:prstGeom>
          <a:solidFill>
            <a:srgbClr val="FFFFFF"/>
          </a:solidFill>
          <a:ln w="12700">
            <a:solidFill>
              <a:srgbClr val="E7E0D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4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3401568" cy="566928"/>
          </a:xfrm>
          <a:prstGeom prst="roundRect">
            <a:avLst>
              <a:gd name="adj" fmla="val 17742"/>
            </a:avLst>
          </a:prstGeom>
          <a:solidFill>
            <a:srgbClr val="FB4E0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13432"/>
            <a:ext cx="3401568" cy="219456"/>
          </a:xfrm>
          <a:prstGeom prst="rect">
            <a:avLst/>
          </a:prstGeom>
          <a:solidFill>
            <a:srgbClr val="FB4E0B"/>
          </a:solidFill>
          <a:ln/>
        </p:spPr>
      </p:sp>
      <p:sp>
        <p:nvSpPr>
          <p:cNvPr id="7" name="Text 5"/>
          <p:cNvSpPr/>
          <p:nvPr/>
        </p:nvSpPr>
        <p:spPr>
          <a:xfrm>
            <a:off x="1088136" y="196596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8136" y="2807208"/>
            <a:ext cx="786384" cy="786384"/>
          </a:xfrm>
          <a:prstGeom prst="ellipse">
            <a:avLst/>
          </a:prstGeom>
          <a:solidFill>
            <a:srgbClr val="FB4E0B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4732" y="3003804"/>
            <a:ext cx="393192" cy="3931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88136" y="3749040"/>
            <a:ext cx="2779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5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↔ transcript linking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088136" y="4480560"/>
            <a:ext cx="27797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full call records against the lead — transcript, tags, and QA scorecard living on the CRM record.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89704" y="1965960"/>
            <a:ext cx="3401568" cy="3566160"/>
          </a:xfrm>
          <a:prstGeom prst="roundRect">
            <a:avLst>
              <a:gd name="adj" fmla="val 2957"/>
            </a:avLst>
          </a:prstGeom>
          <a:solidFill>
            <a:srgbClr val="FFFFFF"/>
          </a:solidFill>
          <a:ln w="12700">
            <a:solidFill>
              <a:srgbClr val="E7E0D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433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9704" y="1965960"/>
            <a:ext cx="3401568" cy="566928"/>
          </a:xfrm>
          <a:prstGeom prst="roundRect">
            <a:avLst>
              <a:gd name="adj" fmla="val 17742"/>
            </a:avLst>
          </a:prstGeom>
          <a:solidFill>
            <a:srgbClr val="50708C"/>
          </a:solidFill>
          <a:ln/>
        </p:spPr>
      </p:sp>
      <p:sp>
        <p:nvSpPr>
          <p:cNvPr id="14" name="Shape 11"/>
          <p:cNvSpPr/>
          <p:nvPr/>
        </p:nvSpPr>
        <p:spPr>
          <a:xfrm>
            <a:off x="4489704" y="2313432"/>
            <a:ext cx="3401568" cy="219456"/>
          </a:xfrm>
          <a:prstGeom prst="rect">
            <a:avLst/>
          </a:prstGeom>
          <a:solidFill>
            <a:srgbClr val="50708C"/>
          </a:solidFill>
          <a:ln/>
        </p:spPr>
      </p:sp>
      <p:sp>
        <p:nvSpPr>
          <p:cNvPr id="15" name="Text 12"/>
          <p:cNvSpPr/>
          <p:nvPr/>
        </p:nvSpPr>
        <p:spPr>
          <a:xfrm>
            <a:off x="4800600" y="196596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800600" y="2807208"/>
            <a:ext cx="786384" cy="786384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196" y="3003804"/>
            <a:ext cx="393192" cy="3931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800600" y="3749040"/>
            <a:ext cx="2779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5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authentication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4800600" y="4480560"/>
            <a:ext cx="27797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POC's userId-in-query posture with real session auth and production access control.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202168" y="1965960"/>
            <a:ext cx="3401568" cy="3566160"/>
          </a:xfrm>
          <a:prstGeom prst="roundRect">
            <a:avLst>
              <a:gd name="adj" fmla="val 2957"/>
            </a:avLst>
          </a:prstGeom>
          <a:solidFill>
            <a:srgbClr val="FFFFFF"/>
          </a:solidFill>
          <a:ln w="12700">
            <a:solidFill>
              <a:srgbClr val="E7E0D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433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202168" y="1965960"/>
            <a:ext cx="3401568" cy="566928"/>
          </a:xfrm>
          <a:prstGeom prst="roundRect">
            <a:avLst>
              <a:gd name="adj" fmla="val 17742"/>
            </a:avLst>
          </a:prstGeom>
          <a:solidFill>
            <a:srgbClr val="2FA36B"/>
          </a:solidFill>
          <a:ln/>
        </p:spPr>
      </p:sp>
      <p:sp>
        <p:nvSpPr>
          <p:cNvPr id="22" name="Shape 18"/>
          <p:cNvSpPr/>
          <p:nvPr/>
        </p:nvSpPr>
        <p:spPr>
          <a:xfrm>
            <a:off x="8202168" y="2313432"/>
            <a:ext cx="3401568" cy="219456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23" name="Text 19"/>
          <p:cNvSpPr/>
          <p:nvPr/>
        </p:nvSpPr>
        <p:spPr>
          <a:xfrm>
            <a:off x="8513064" y="196596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8513064" y="2807208"/>
            <a:ext cx="786384" cy="786384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660" y="3003804"/>
            <a:ext cx="393192" cy="39319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513064" y="3749040"/>
            <a:ext cx="2779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5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scale</a:t>
            </a:r>
            <a:endParaRPr lang="en-US" sz="1850" dirty="0"/>
          </a:p>
        </p:txBody>
      </p:sp>
      <p:sp>
        <p:nvSpPr>
          <p:cNvPr id="27" name="Text 22"/>
          <p:cNvSpPr/>
          <p:nvPr/>
        </p:nvSpPr>
        <p:spPr>
          <a:xfrm>
            <a:off x="8513064" y="4480560"/>
            <a:ext cx="27797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ReAct agents, an “Explain my plan” RAG assistant for members, and any-line-of-business reuse.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023360" cy="4023360"/>
          </a:xfrm>
          <a:prstGeom prst="ellipse">
            <a:avLst/>
          </a:prstGeom>
          <a:solidFill>
            <a:srgbClr val="312C2D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312C2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B4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acts, one conversation — the co-pilot helps the agent, the supervisor watches live, QA grades the call.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337560"/>
            <a:ext cx="640080" cy="640080"/>
          </a:xfrm>
          <a:prstGeom prst="ellipse">
            <a:avLst/>
          </a:prstGeom>
          <a:solidFill>
            <a:srgbClr val="FB4E0B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34975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32918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Live call co-pilot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00200" y="36393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B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Autofill, compliance alerts, emotion &amp; coaching, Atlas on the live transcript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4233672"/>
            <a:ext cx="640080" cy="64008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439369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41879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Supervisor live feed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1600200" y="453542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B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Active-call dashboard, streaming alerts, edit a rule mid-call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5129784"/>
            <a:ext cx="640080" cy="64008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433">
                <a:alpha val="2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5289804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508406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Autonomous QA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600200" y="543153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B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scorecard on the bad call; contrast with the clean one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22960" y="6172200"/>
            <a:ext cx="10561320" cy="0"/>
          </a:xfrm>
          <a:prstGeom prst="line">
            <a:avLst/>
          </a:prstGeom>
          <a:noFill/>
          <a:ln w="19050">
            <a:solidFill>
              <a:srgbClr val="453E3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22960" y="6309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Adhithya Rubarajan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686800" y="63093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8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api.rubarajan.dev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IQ Copilot — Agentic AI for Medicare Tele-Sales</dc:title>
  <dc:subject>PptxGenJS Presentation</dc:subject>
  <dc:creator>Adhithya</dc:creator>
  <cp:lastModifiedBy>Adhithya</cp:lastModifiedBy>
  <cp:revision>1</cp:revision>
  <dcterms:created xsi:type="dcterms:W3CDTF">2026-07-20T03:21:06Z</dcterms:created>
  <dcterms:modified xsi:type="dcterms:W3CDTF">2026-07-20T03:21:06Z</dcterms:modified>
</cp:coreProperties>
</file>