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4F5BF9-9961-4768-84AB-1CDE9A0C6309}" v="159" dt="2026-04-29T01:35:20.4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7F9810-FF12-4FE8-9C39-7BFDB2AD56C4}" type="datetimeFigureOut">
              <a:t>4/28/2026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ADE907-1DFB-4638-8576-8EB333C0FD3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129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2D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463040"/>
            <a:ext cx="73152" cy="182880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8872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Enablement</a:t>
            </a:r>
            <a:endParaRPr lang="en-US" sz="42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77240" y="29260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to support scalable, multi-client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insurance sales operations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3749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April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0" y="43891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E85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EXL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E85C2B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&amp; Objectives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4709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85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Enablement Platform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051560"/>
            <a:ext cx="4023360" cy="3383280"/>
          </a:xfrm>
          <a:prstGeom prst="rect">
            <a:avLst/>
          </a:prstGeom>
          <a:solidFill>
            <a:srgbClr val="FAFA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51560"/>
            <a:ext cx="4023360" cy="41148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0789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Outline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1600200"/>
            <a:ext cx="3657600" cy="2651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>
                <a:solidFill>
                  <a:srgbClr val="555555"/>
                </a:solidFill>
                <a:latin typeface="Arial"/>
                <a:ea typeface="Arial" pitchFamily="34" charset="-122"/>
                <a:cs typeface="Arial"/>
              </a:rPr>
              <a:t>Agents rely on fragmented tools, resulting in inefficiencies and inconsistent member experiences</a:t>
            </a:r>
            <a:endParaRPr lang="en-US" sz="1050">
              <a:latin typeface="Arial"/>
              <a:ea typeface="Calibri" panose="020F0502020204030204"/>
              <a:cs typeface="Calibri" panose="020F0502020204030204"/>
            </a:endParaRPr>
          </a:p>
          <a:p>
            <a:pPr marL="342900" indent="-342900">
              <a:spcAft>
                <a:spcPts val="1000"/>
              </a:spcAft>
              <a:buSzPct val="100000"/>
              <a:buFont typeface="Arial"/>
              <a:buChar char="•"/>
            </a:pPr>
            <a:r>
              <a:rPr lang="en-US" sz="1100" dirty="0">
                <a:solidFill>
                  <a:srgbClr val="555555"/>
                </a:solidFill>
                <a:latin typeface="Arial"/>
                <a:ea typeface="Arial" pitchFamily="34" charset="-122"/>
                <a:cs typeface="Arial"/>
              </a:rPr>
              <a:t>Medicare sales involves multiple </a:t>
            </a:r>
            <a:r>
              <a:rPr lang="en-US" sz="1100" dirty="0" err="1">
                <a:solidFill>
                  <a:srgbClr val="555555"/>
                </a:solidFill>
                <a:latin typeface="Arial"/>
                <a:ea typeface="Arial" pitchFamily="34" charset="-122"/>
                <a:cs typeface="Arial"/>
              </a:rPr>
              <a:t>disconnectedsteps</a:t>
            </a:r>
            <a:r>
              <a:rPr lang="en-US" sz="1100" dirty="0">
                <a:solidFill>
                  <a:srgbClr val="555555"/>
                </a:solidFill>
                <a:latin typeface="Arial"/>
                <a:ea typeface="Arial" pitchFamily="34" charset="-122"/>
                <a:cs typeface="Arial"/>
              </a:rPr>
              <a:t>: lead creation, appointment scheduling, </a:t>
            </a:r>
            <a:r>
              <a:rPr lang="en-US" sz="1100" dirty="0" err="1">
                <a:solidFill>
                  <a:srgbClr val="555555"/>
                </a:solidFill>
                <a:latin typeface="Arial"/>
                <a:ea typeface="Arial" pitchFamily="34" charset="-122"/>
                <a:cs typeface="Arial"/>
              </a:rPr>
              <a:t>plancomparison</a:t>
            </a:r>
            <a:r>
              <a:rPr lang="en-US" sz="1100" dirty="0">
                <a:solidFill>
                  <a:srgbClr val="555555"/>
                </a:solidFill>
                <a:latin typeface="Arial"/>
                <a:ea typeface="Arial" pitchFamily="34" charset="-122"/>
                <a:cs typeface="Arial"/>
              </a:rPr>
              <a:t>, and enrollment</a:t>
            </a:r>
            <a:endParaRPr lang="en-US" sz="1050" dirty="0">
              <a:solidFill>
                <a:srgbClr val="555555"/>
              </a:solidFill>
              <a:latin typeface="Arial"/>
              <a:ea typeface="Arial" pitchFamily="34" charset="-122"/>
              <a:cs typeface="Arial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real-time visibility into lead progression and conversion outcomes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Platforms are often built client-specific, limiting reuse and scalability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54880" y="1051560"/>
            <a:ext cx="402336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1051560"/>
            <a:ext cx="4023360" cy="41148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0789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37760" y="1600200"/>
            <a:ext cx="3657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scalable, reusable sales enablement platform for Medicare enrollment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 end-to-end lead-to-member visibility in a single system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 agent efficiency while maintaining compliance and accuracy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54880" y="3200400"/>
            <a:ext cx="4023360" cy="1234440"/>
          </a:xfrm>
          <a:prstGeom prst="rect">
            <a:avLst/>
          </a:prstGeom>
          <a:solidFill>
            <a:srgbClr val="FFF3EE"/>
          </a:solidFill>
          <a:ln w="12700">
            <a:solidFill>
              <a:srgbClr val="E85C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3246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Targeted Users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3611880"/>
            <a:ext cx="3566160" cy="7315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Arial"/>
              <a:buChar char="•"/>
            </a:pPr>
            <a:r>
              <a:rPr lang="en-US" sz="1050">
                <a:solidFill>
                  <a:srgbClr val="555555"/>
                </a:solidFill>
                <a:latin typeface="Arial"/>
                <a:ea typeface="Calibri"/>
                <a:cs typeface="Arial"/>
              </a:rPr>
              <a:t>Anyone who want to sale health insurance and create analytics out of the data generated.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4709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85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Enablement Platform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1051560"/>
            <a:ext cx="269748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2697480" cy="54864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9" name="Shape 7"/>
          <p:cNvSpPr/>
          <p:nvPr/>
        </p:nvSpPr>
        <p:spPr>
          <a:xfrm>
            <a:off x="1440180" y="1234440"/>
            <a:ext cx="457200" cy="457200"/>
          </a:xfrm>
          <a:prstGeom prst="ellipse">
            <a:avLst/>
          </a:prstGeom>
          <a:solidFill>
            <a:srgbClr val="E85C2B"/>
          </a:solidFill>
          <a:ln/>
        </p:spPr>
      </p:sp>
      <p:sp>
        <p:nvSpPr>
          <p:cNvPr id="10" name="Text 8"/>
          <p:cNvSpPr/>
          <p:nvPr/>
        </p:nvSpPr>
        <p:spPr>
          <a:xfrm>
            <a:off x="144018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18288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Lead-to-Enroll Workflow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" y="2240280"/>
            <a:ext cx="1783080" cy="27432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42316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Leads → Appointments → Plan Selection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Eligibility Check → Enrollment → Member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6-stage lifecycle tracking with status visibility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multi-step enrollment with validation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0" y="1051560"/>
            <a:ext cx="269748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1051560"/>
            <a:ext cx="2697480" cy="54864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0540" y="1234440"/>
            <a:ext cx="457200" cy="457200"/>
          </a:xfrm>
          <a:prstGeom prst="ellipse">
            <a:avLst/>
          </a:prstGeom>
          <a:solidFill>
            <a:srgbClr val="E85C2B"/>
          </a:solidFill>
          <a:ln/>
        </p:spPr>
      </p:sp>
      <p:sp>
        <p:nvSpPr>
          <p:cNvPr id="17" name="Text 15"/>
          <p:cNvSpPr/>
          <p:nvPr/>
        </p:nvSpPr>
        <p:spPr>
          <a:xfrm>
            <a:off x="432054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337560" y="18288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Admin Dashboard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57600" y="2240280"/>
            <a:ext cx="1783080" cy="27432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20" name="Text 18"/>
          <p:cNvSpPr/>
          <p:nvPr/>
        </p:nvSpPr>
        <p:spPr>
          <a:xfrm>
            <a:off x="3383280" y="242316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KPIs: leads, enrollments, conversion rate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productivity drill-downs by agent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lifecycle visual pipeline with counts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reporting: revenue, commissions, targets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80760" y="1051560"/>
            <a:ext cx="269748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80760" y="1051560"/>
            <a:ext cx="2697480" cy="54864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23" name="Shape 21"/>
          <p:cNvSpPr/>
          <p:nvPr/>
        </p:nvSpPr>
        <p:spPr>
          <a:xfrm>
            <a:off x="7200900" y="1234440"/>
            <a:ext cx="457200" cy="457200"/>
          </a:xfrm>
          <a:prstGeom prst="ellipse">
            <a:avLst/>
          </a:prstGeom>
          <a:solidFill>
            <a:srgbClr val="E85C2B"/>
          </a:solidFill>
          <a:ln/>
        </p:spPr>
      </p:sp>
      <p:sp>
        <p:nvSpPr>
          <p:cNvPr id="24" name="Text 22"/>
          <p:cNvSpPr/>
          <p:nvPr/>
        </p:nvSpPr>
        <p:spPr>
          <a:xfrm>
            <a:off x="720090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217920" y="18288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RBAC System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537960" y="2240280"/>
            <a:ext cx="1783080" cy="27432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27" name="Text 25"/>
          <p:cNvSpPr/>
          <p:nvPr/>
        </p:nvSpPr>
        <p:spPr>
          <a:xfrm>
            <a:off x="6263640" y="242316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roles: Agent, Admin, Member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Granular per-module permissions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Per-action control (view/create/edit/delete/export)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member self-service portal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Features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4709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85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Enablement Platform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4023360" cy="1600200"/>
          </a:xfrm>
          <a:prstGeom prst="rect">
            <a:avLst/>
          </a:prstGeom>
          <a:solidFill>
            <a:srgbClr val="FAFA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05840"/>
            <a:ext cx="64008" cy="160020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1143000"/>
            <a:ext cx="365760" cy="365760"/>
          </a:xfrm>
          <a:prstGeom prst="ellipse">
            <a:avLst/>
          </a:prstGeom>
          <a:solidFill>
            <a:srgbClr val="E85C2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1143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Sales Workflow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16002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funnel from lead capture through enrollment submission, including SOA scheduling, plan briefing kits, and eligibility checks — all in one platform.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1005840"/>
            <a:ext cx="4023360" cy="1600200"/>
          </a:xfrm>
          <a:prstGeom prst="rect">
            <a:avLst/>
          </a:prstGeom>
          <a:solidFill>
            <a:srgbClr val="FAFA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0" y="1005840"/>
            <a:ext cx="64008" cy="160020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15" name="Shape 13"/>
          <p:cNvSpPr/>
          <p:nvPr/>
        </p:nvSpPr>
        <p:spPr>
          <a:xfrm>
            <a:off x="4937760" y="1143000"/>
            <a:ext cx="365760" cy="365760"/>
          </a:xfrm>
          <a:prstGeom prst="ellipse">
            <a:avLst/>
          </a:prstGeom>
          <a:solidFill>
            <a:srgbClr val="E85C2B"/>
          </a:solidFill>
          <a:ln/>
        </p:spPr>
      </p:sp>
      <p:sp>
        <p:nvSpPr>
          <p:cNvPr id="16" name="Text 14"/>
          <p:cNvSpPr/>
          <p:nvPr/>
        </p:nvSpPr>
        <p:spPr>
          <a:xfrm>
            <a:off x="4937760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394960" y="1143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Plan Discovery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37760" y="16002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filtered dynamically by lead’s zip code, state, and county. Agents only see geographically relevant plans from 80+ Medicare options across 5 carriers.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2788920"/>
            <a:ext cx="4023360" cy="1600200"/>
          </a:xfrm>
          <a:prstGeom prst="rect">
            <a:avLst/>
          </a:prstGeom>
          <a:solidFill>
            <a:srgbClr val="FAFA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2788920"/>
            <a:ext cx="64008" cy="160020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2926080"/>
            <a:ext cx="365760" cy="365760"/>
          </a:xfrm>
          <a:prstGeom prst="ellipse">
            <a:avLst/>
          </a:prstGeom>
          <a:solidFill>
            <a:srgbClr val="E85C2B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2926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2D2D2D"/>
                </a:solidFill>
                <a:latin typeface="Arial"/>
                <a:ea typeface="Arial" pitchFamily="34" charset="-122"/>
                <a:cs typeface="Arial"/>
              </a:rPr>
              <a:t>Dual Eligibility Check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33832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Medicaid eligibility check (Full/QMB/SLMB/QI) and LIS subsidy determination (Levels 1–4) with copay-level display for accurate DSNP/LIS placement.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54880" y="2788920"/>
            <a:ext cx="4023360" cy="1600200"/>
          </a:xfrm>
          <a:prstGeom prst="rect">
            <a:avLst/>
          </a:prstGeom>
          <a:solidFill>
            <a:srgbClr val="FAFA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54880" y="2788920"/>
            <a:ext cx="64008" cy="160020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27" name="Shape 25"/>
          <p:cNvSpPr/>
          <p:nvPr/>
        </p:nvSpPr>
        <p:spPr>
          <a:xfrm>
            <a:off x="4937760" y="2926080"/>
            <a:ext cx="365760" cy="365760"/>
          </a:xfrm>
          <a:prstGeom prst="ellipse">
            <a:avLst/>
          </a:prstGeom>
          <a:solidFill>
            <a:srgbClr val="E85C2B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394960" y="2926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Pharmacy, Drug &amp; Provider Tagging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937760" y="33832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and tag pharmacies (max 3), drugs with dosage/qty/frequency (unlimited), and providers (max 5) per lead for precise plan matching.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Features (continued)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4709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85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Enablement Platform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4023360" cy="1600200"/>
          </a:xfrm>
          <a:prstGeom prst="rect">
            <a:avLst/>
          </a:prstGeom>
          <a:solidFill>
            <a:srgbClr val="FAFA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05840"/>
            <a:ext cx="64008" cy="160020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1143000"/>
            <a:ext cx="365760" cy="365760"/>
          </a:xfrm>
          <a:prstGeom prst="ellipse">
            <a:avLst/>
          </a:prstGeom>
          <a:solidFill>
            <a:srgbClr val="E85C2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1143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YOY Comparison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16002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Year-over-year view (2024 vs 2025) with impact badges: Improved, Increased Cost, and Changed — helping agents proactively advise members on plan changes.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1005840"/>
            <a:ext cx="4023360" cy="1600200"/>
          </a:xfrm>
          <a:prstGeom prst="rect">
            <a:avLst/>
          </a:prstGeom>
          <a:solidFill>
            <a:srgbClr val="FAFA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0" y="1005840"/>
            <a:ext cx="64008" cy="160020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15" name="Shape 13"/>
          <p:cNvSpPr/>
          <p:nvPr/>
        </p:nvSpPr>
        <p:spPr>
          <a:xfrm>
            <a:off x="4937760" y="1143000"/>
            <a:ext cx="365760" cy="365760"/>
          </a:xfrm>
          <a:prstGeom prst="ellipse">
            <a:avLst/>
          </a:prstGeom>
          <a:solidFill>
            <a:srgbClr val="E85C2B"/>
          </a:solidFill>
          <a:ln/>
        </p:spPr>
      </p:sp>
      <p:sp>
        <p:nvSpPr>
          <p:cNvPr id="16" name="Text 14"/>
          <p:cNvSpPr/>
          <p:nvPr/>
        </p:nvSpPr>
        <p:spPr>
          <a:xfrm>
            <a:off x="4937760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394960" y="1143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 Self-Service Portal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37760" y="16002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member login (Policy Number + DOB) with plan details, benefits, enrollment history, and upcoming appointments — no agent dependency required.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2788920"/>
            <a:ext cx="4023360" cy="1600200"/>
          </a:xfrm>
          <a:prstGeom prst="rect">
            <a:avLst/>
          </a:prstGeom>
          <a:solidFill>
            <a:srgbClr val="FAFA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2788920"/>
            <a:ext cx="64008" cy="160020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2926080"/>
            <a:ext cx="365760" cy="365760"/>
          </a:xfrm>
          <a:prstGeom prst="ellipse">
            <a:avLst/>
          </a:prstGeom>
          <a:solidFill>
            <a:srgbClr val="E85C2B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2926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Carrier-Aware Theming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33832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dynamically adapts per carrier (Aetna purple, Humana green) with full light/dark mode support. White-label ready for any carrier or brokerage deployment.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54880" y="2788920"/>
            <a:ext cx="4023360" cy="1600200"/>
          </a:xfrm>
          <a:prstGeom prst="rect">
            <a:avLst/>
          </a:prstGeom>
          <a:solidFill>
            <a:srgbClr val="FAFA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54880" y="2788920"/>
            <a:ext cx="64008" cy="160020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27" name="Shape 25"/>
          <p:cNvSpPr/>
          <p:nvPr/>
        </p:nvSpPr>
        <p:spPr>
          <a:xfrm>
            <a:off x="4937760" y="2926080"/>
            <a:ext cx="365760" cy="365760"/>
          </a:xfrm>
          <a:prstGeom prst="ellipse">
            <a:avLst/>
          </a:prstGeom>
          <a:solidFill>
            <a:srgbClr val="E85C2B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394960" y="2926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80+ Medicare Plans Across 5 Carriers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937760" y="33832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Aetna, Humana, UnitedHealthcare, Cigna, and BCBS covering MAPD, MA, PDP, Medsup, and ANC products with star ratings and plan documents.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Administration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4709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85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Enablement Platform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05840"/>
            <a:ext cx="54864" cy="91440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00584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85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097280" y="10058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Lead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514600" y="100584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14600" y="1005840"/>
            <a:ext cx="54864" cy="91440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13" name="Text 11"/>
          <p:cNvSpPr/>
          <p:nvPr/>
        </p:nvSpPr>
        <p:spPr>
          <a:xfrm>
            <a:off x="2606040" y="100584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85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246120" y="10058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663440" y="100584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1005840"/>
            <a:ext cx="54864" cy="91440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00584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85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5394960" y="10058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812280" y="100584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12280" y="1005840"/>
            <a:ext cx="54864" cy="91440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21" name="Text 19"/>
          <p:cNvSpPr/>
          <p:nvPr/>
        </p:nvSpPr>
        <p:spPr>
          <a:xfrm>
            <a:off x="6903720" y="100584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85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7543800" y="10058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5760" y="2194560"/>
            <a:ext cx="40233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194560"/>
            <a:ext cx="4023360" cy="41148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22219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Insights Dashboard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274320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KPIs: leads created, enrollments, conversion rate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performance trend visualization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progress with color-coded indicators (green/blue/yellow/red)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Points-based gamification system for motivation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2194560"/>
            <a:ext cx="40233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54880" y="2194560"/>
            <a:ext cx="4023360" cy="41148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0" y="22219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Productivity Dashboard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937760" y="274320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performance drill-downs and rankings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lifecycle funnel with counts and percentages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breakdowns: revenue, commissions, cost savings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management: daily, weekly, monthly, quarterly periods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Differentiation vs ThinkAgent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4709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85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Enablement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sets our platform apart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99032"/>
            <a:ext cx="274320" cy="274320"/>
          </a:xfrm>
          <a:prstGeom prst="ellipse">
            <a:avLst/>
          </a:prstGeom>
          <a:solidFill>
            <a:srgbClr val="E85C2B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3990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Purpose-Built Sales Analytics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1645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generic querying tool — analytics designed specifically for health insurance sales performance tracking and optimization.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1956816"/>
            <a:ext cx="8229600" cy="9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2020824"/>
            <a:ext cx="274320" cy="274320"/>
          </a:xfrm>
          <a:prstGeom prst="ellipse">
            <a:avLst/>
          </a:prstGeom>
          <a:solidFill>
            <a:srgbClr val="E85C2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020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68680" y="19933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Lead Lifecycle Tracking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" y="226771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6-stage visual pipeline (New Lead → Contacted → Appointment → Enrollment in Progress → Enrolled → Dropped) with real-time counts.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2578608"/>
            <a:ext cx="8229600" cy="9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8" name="Shape 16"/>
          <p:cNvSpPr/>
          <p:nvPr/>
        </p:nvSpPr>
        <p:spPr>
          <a:xfrm>
            <a:off x="457200" y="2642616"/>
            <a:ext cx="274320" cy="274320"/>
          </a:xfrm>
          <a:prstGeom prst="ellipse">
            <a:avLst/>
          </a:prstGeom>
          <a:solidFill>
            <a:srgbClr val="E85C2B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2642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8680" y="26151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Reporting Built-In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" y="288950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 tracking, carrier revenue splits, cost savings analysis, and monthly financial breakdowns — not just operational metrics.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200400"/>
            <a:ext cx="8229600" cy="9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264408"/>
            <a:ext cx="274320" cy="274320"/>
          </a:xfrm>
          <a:prstGeom prst="ellipse">
            <a:avLst/>
          </a:prstGeom>
          <a:solidFill>
            <a:srgbClr val="E85C2B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64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68680" y="323697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Performance Drill-Down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68680" y="35112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agent performance views with conversion rates, target progress, and color-coded indicators for manager oversight.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822192"/>
            <a:ext cx="8229600" cy="9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8" name="Shape 26"/>
          <p:cNvSpPr/>
          <p:nvPr/>
        </p:nvSpPr>
        <p:spPr>
          <a:xfrm>
            <a:off x="457200" y="3886200"/>
            <a:ext cx="274320" cy="274320"/>
          </a:xfrm>
          <a:prstGeom prst="ellipse">
            <a:avLst/>
          </a:prstGeom>
          <a:solidFill>
            <a:srgbClr val="E85C2B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3886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68680" y="38587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Management with Gamification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68680" y="41330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Configurable targets (leads, enrollments, appointments, e-kits) with points system, period-based tracking, and progress visualization.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Differentiation vs 3rd-Party Tools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4709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85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Enablement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Compared to Salesforce, Connecture, SunFire, Benefytt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99032"/>
            <a:ext cx="274320" cy="274320"/>
          </a:xfrm>
          <a:prstGeom prst="ellipse">
            <a:avLst/>
          </a:prstGeom>
          <a:solidFill>
            <a:srgbClr val="E85C2B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3990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Healthcare-First Design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1645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Purpose-built for health insurance sales from the ground up — not a CRM adapted for healthcare like Salesforce or generic enrollment platforms.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1956816"/>
            <a:ext cx="8229600" cy="9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2020824"/>
            <a:ext cx="274320" cy="274320"/>
          </a:xfrm>
          <a:prstGeom prst="ellipse">
            <a:avLst/>
          </a:prstGeom>
          <a:solidFill>
            <a:srgbClr val="E85C2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020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68680" y="19933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Eligibility + Plan Matching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" y="226771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Medicaid/LIS eligibility checks and plan recommendations in one unified flow, eliminating the need to switch between separate systems.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2578608"/>
            <a:ext cx="8229600" cy="9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8" name="Shape 16"/>
          <p:cNvSpPr/>
          <p:nvPr/>
        </p:nvSpPr>
        <p:spPr>
          <a:xfrm>
            <a:off x="457200" y="2642616"/>
            <a:ext cx="274320" cy="274320"/>
          </a:xfrm>
          <a:prstGeom prst="ellipse">
            <a:avLst/>
          </a:prstGeom>
          <a:solidFill>
            <a:srgbClr val="E85C2B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2642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8680" y="26151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Per-Seat Licensing or Vendor Lock-In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" y="288950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Owned platform with no recurring per-user fees, no vendor dependencies, and full control over customization and deployment.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200400"/>
            <a:ext cx="8229600" cy="9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264408"/>
            <a:ext cx="274320" cy="274320"/>
          </a:xfrm>
          <a:prstGeom prst="ellipse">
            <a:avLst/>
          </a:prstGeom>
          <a:solidFill>
            <a:srgbClr val="E85C2B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64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68680" y="323697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Carrier-Agnostic Multi-Carrier View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68680" y="35112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view across Aetna, Humana, UnitedHealthcare, Cigna, and BCBS — agents compare all carriers side-by-side in one interface.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822192"/>
            <a:ext cx="8229600" cy="9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8" name="Shape 26"/>
          <p:cNvSpPr/>
          <p:nvPr/>
        </p:nvSpPr>
        <p:spPr>
          <a:xfrm>
            <a:off x="457200" y="3886200"/>
            <a:ext cx="274320" cy="274320"/>
          </a:xfrm>
          <a:prstGeom prst="ellipse">
            <a:avLst/>
          </a:prstGeom>
          <a:solidFill>
            <a:srgbClr val="E85C2B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3886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68680" y="38587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White-Label Ready with Carrier Theming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68680" y="41330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UI theming per carrier with full branding customization, ready for white-label deployment to any carrier or brokerage partner.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Future Enhancements to Explore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4709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85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Enablement Platform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05156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51560"/>
            <a:ext cx="64008" cy="100584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1161288"/>
            <a:ext cx="292608" cy="292608"/>
          </a:xfrm>
          <a:prstGeom prst="ellipse">
            <a:avLst/>
          </a:prstGeom>
          <a:solidFill>
            <a:srgbClr val="E85C2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6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32688" y="1143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Agent Assist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pipeline for call script generation, lead form auto-fill, note summarization, and next-best-action recommendations.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54880" y="105156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0" y="1051560"/>
            <a:ext cx="64008" cy="100584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15" name="Shape 13"/>
          <p:cNvSpPr/>
          <p:nvPr/>
        </p:nvSpPr>
        <p:spPr>
          <a:xfrm>
            <a:off x="4937760" y="1161288"/>
            <a:ext cx="292608" cy="292608"/>
          </a:xfrm>
          <a:prstGeom prst="ellipse">
            <a:avLst/>
          </a:prstGeom>
          <a:solidFill>
            <a:srgbClr val="E85C2B"/>
          </a:solidFill>
          <a:ln/>
        </p:spPr>
      </p:sp>
      <p:sp>
        <p:nvSpPr>
          <p:cNvPr id="16" name="Text 14"/>
          <p:cNvSpPr/>
          <p:nvPr/>
        </p:nvSpPr>
        <p:spPr>
          <a:xfrm>
            <a:off x="4937760" y="116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21808" y="1143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"Explain My Plan" for Members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AI-driven natural language plan explanations. Members ask questions like "Is my insulin covered?" and get clear answers.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224028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2240280"/>
            <a:ext cx="64008" cy="100584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2350008"/>
            <a:ext cx="292608" cy="292608"/>
          </a:xfrm>
          <a:prstGeom prst="ellipse">
            <a:avLst/>
          </a:prstGeom>
          <a:solidFill>
            <a:srgbClr val="E85C2B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3500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32688" y="23317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Backend &amp; Persistent Data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2697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50" dirty="0">
                <a:solidFill>
                  <a:srgbClr val="555555"/>
                </a:solidFill>
                <a:latin typeface="Arial"/>
                <a:ea typeface="Arial" pitchFamily="34" charset="-122"/>
                <a:cs typeface="Arial"/>
              </a:rPr>
              <a:t>Node.js backend with database, multi-user concurrent access, and full audit trails for compliance. Currently front end is running as serverless platform in </a:t>
            </a:r>
            <a:r>
              <a:rPr lang="en-US" sz="950" dirty="0" err="1">
                <a:solidFill>
                  <a:srgbClr val="555555"/>
                </a:solidFill>
                <a:latin typeface="Arial"/>
                <a:ea typeface="Arial" pitchFamily="34" charset="-122"/>
                <a:cs typeface="Arial"/>
              </a:rPr>
              <a:t>databricks</a:t>
            </a:r>
            <a:r>
              <a:rPr lang="en-US" sz="950" dirty="0">
                <a:solidFill>
                  <a:srgbClr val="555555"/>
                </a:solidFill>
                <a:latin typeface="Arial"/>
                <a:ea typeface="Arial" pitchFamily="34" charset="-122"/>
                <a:cs typeface="Arial"/>
              </a:rPr>
              <a:t>. 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754880" y="224028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54880" y="2240280"/>
            <a:ext cx="64008" cy="100584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27" name="Shape 25"/>
          <p:cNvSpPr/>
          <p:nvPr/>
        </p:nvSpPr>
        <p:spPr>
          <a:xfrm>
            <a:off x="4937760" y="2350008"/>
            <a:ext cx="292608" cy="292608"/>
          </a:xfrm>
          <a:prstGeom prst="ellipse">
            <a:avLst/>
          </a:prstGeom>
          <a:solidFill>
            <a:srgbClr val="E85C2B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23500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321808" y="23317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Reporting &amp; Analytics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37760" y="2697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Exportable reports, trend analysis, carrier performance metrics, commission reconciliation, and compliance auditing.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560320" y="342900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60320" y="3429000"/>
            <a:ext cx="64008" cy="100584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33" name="Shape 31"/>
          <p:cNvSpPr/>
          <p:nvPr/>
        </p:nvSpPr>
        <p:spPr>
          <a:xfrm>
            <a:off x="2743200" y="3538728"/>
            <a:ext cx="292608" cy="292608"/>
          </a:xfrm>
          <a:prstGeom prst="ellipse">
            <a:avLst/>
          </a:prstGeom>
          <a:solidFill>
            <a:srgbClr val="E85C2B"/>
          </a:solidFill>
          <a:ln/>
        </p:spPr>
      </p:sp>
      <p:sp>
        <p:nvSpPr>
          <p:cNvPr id="34" name="Text 32"/>
          <p:cNvSpPr/>
          <p:nvPr/>
        </p:nvSpPr>
        <p:spPr>
          <a:xfrm>
            <a:off x="2743200" y="3538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127248" y="35204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&amp; Cloud-Ready Model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743200" y="3886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cloud deployment for carriers, brokerages, and FMOs with configurable business rules per tenant.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D2D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3200400" y="2560320"/>
            <a:ext cx="2743200" cy="45720"/>
          </a:xfrm>
          <a:prstGeom prst="rect">
            <a:avLst/>
          </a:prstGeom>
          <a:solidFill>
            <a:srgbClr val="E85C2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743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Enablement Platform — Medicare Sales Solution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291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E85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scalability. Designed for reuse. Ready for the future.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0" y="43891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E85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EXL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E85C2B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Sales Enablement Platform - Medicare Sales Solution</dc:title>
  <dc:subject>PptxGenJS Presentation</dc:subject>
  <dc:creator>EXL</dc:creator>
  <cp:lastModifiedBy>EXL</cp:lastModifiedBy>
  <cp:revision>31</cp:revision>
  <dcterms:created xsi:type="dcterms:W3CDTF">2026-04-29T01:16:12Z</dcterms:created>
  <dcterms:modified xsi:type="dcterms:W3CDTF">2026-04-29T01:37:28Z</dcterms:modified>
</cp:coreProperties>
</file>