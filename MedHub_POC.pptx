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MedHub adds an AI copilot to every seat in a Medicare sales operation: the agent on the live call, the supervisor watching the floor in real time, and the QA team after the call. It's a working POC on real telephony, not a mockup.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Medicare tele-sales is uniquely high-stakes: CMS rules govern the exact language on every call, supervisors are blind to calls in progress, QA covers a tiny sample days later, and agents are overloaded mid-conversation.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copilots, one pipeline. Design philosophy up front: human-in-the-loop by default — the AI proposes, humans approve every write, and QA runs on demand, never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1, part one: the live-call intelligence. Diarized transcription at 1–2 seconds, live CMS compliance scanning with severity and a compliant rephrase, LLM emotion tracking, and coaching tips that reference what was actually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1, part two: hands-free data capture and Atlas. Entities fill the form live with an AI chip until confirmed; 20 glossary terms trigger cards with deep links; Atlas has 19 tools, rich cards, live-call awareness, and human approval on every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2: ambient supervision. A live floor view with emotion chips, streaming compliance alerts with click-through to tagged transcripts, and the trust moment: supervisors edit the rule engine themselves and the next call obeys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Pillar 3: autonomous QA. Every call persisted and auto-triaged, an on-demand scorecard with four evidence-backed dimensions and a disclosure checklist, runnable from the dashboard or Atlas — one shared evaluator, two entry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browser with the Twilio Voice SDK, Twilio cloud, media WebSocket into the Express API, Deepgram streaming STT, the in-memory call bus feeding the analysis pipeline, SSE out to both the agent panel and supervisor dashboard. Atlas (LangGraph) and the QA evaluator call Claude via OpenRouter; MongoDB underneath. All self-hosted on a Raspberry Pi behind a Cloudflare tunnel — near-zero infra cost, and the same containers lift to any cloud. One-command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and economics: every LLM interaction is logged with tokens and cache hits; the rule-based core is free and the LLM is used surgically (Haiku, cents per call, ~77% cache hit); hard guardrails on rate, tokens, and minutes; and graceful degradation — the core keeps working if the LLM is down. On the right, the five things that make this different from a generic AI wrapper.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in three acts on one conversation: the scripted live call, the supervisor screen during it with a live rule edit, then the QA review of that call against a clean one. Status: all of this runs end-to-end today on real calls. Close on the one-liner: every call coached, supervised, and reviewed — without adding headcount.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deployment path. Clients — supervisor and agent browsers plus the prospect's phone — reach the platform through the Cloudflare edge; Twilio carries the calls and streams media over signed webhooks and WebSockets. Everything lands on a containerized, cloud-portable application server: an outbound-only tunnel connector (no inbound ports), a Caddy gateway, the Express API, the agentic AI layer, and the real-time analysis pipeline. Deepgram handles streaming STT and Claude models are reached via OpenRouter. On-host data &amp; vector stack: the Ollama embedder (nomic-embed-text, 768-d) feeds Qdrant — five collections (plans, benefits, drugs, formulary, FAQs) behind a hybrid BM25 + vector retriever with RRF fusion that powers plan search, comparison, and explain — and MongoDB persists app and reference data. Security posture along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777240"/>
            <a:ext cx="3977640" cy="38404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· MEDICARE TELE-SALES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MedHub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822960" y="2542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Medicare Tele-Sales Platform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530352" cy="530352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3561588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44752" y="342900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Call Intelligence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977640" y="3429000"/>
            <a:ext cx="530352" cy="530352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0228" y="3561588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9432" y="342900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Supervision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132320" y="3429000"/>
            <a:ext cx="530352" cy="530352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908" y="3561588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754112" y="342900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QA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822960" y="4343400"/>
            <a:ext cx="8778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i="1" dirty="0">
                <a:solidFill>
                  <a:srgbClr val="F98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copilot layer for every seat in a Medicare sales operation — the agent on the call, the supervisor watching the floor, and the QA team after the call.</a:t>
            </a:r>
            <a:endParaRPr lang="en-US" sz="1550" dirty="0"/>
          </a:p>
        </p:txBody>
      </p:sp>
      <p:sp>
        <p:nvSpPr>
          <p:cNvPr id="17" name="Shape 12"/>
          <p:cNvSpPr/>
          <p:nvPr/>
        </p:nvSpPr>
        <p:spPr>
          <a:xfrm>
            <a:off x="9646920" y="2240280"/>
            <a:ext cx="1737360" cy="1737360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1260" y="2674620"/>
            <a:ext cx="868680" cy="86868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22960" y="5806440"/>
            <a:ext cx="10561320" cy="0"/>
          </a:xfrm>
          <a:prstGeom prst="line">
            <a:avLst/>
          </a:prstGeom>
          <a:noFill/>
          <a:ln w="19050">
            <a:solidFill>
              <a:srgbClr val="3C4857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822960" y="5943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Adhithya Rubarajan</a:t>
            </a:r>
            <a:pPr indent="0" marL="0">
              <a:buNone/>
            </a:pPr>
            <a:r>
              <a:rPr lang="en-US" sz="14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·     [Presentation Date]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8686800" y="59436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98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api.rubarajan.dev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compliance minefield, run blind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77240" y="164592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marketing rules prohibit superlatives, guarantees, false urgency, and cost misrepresentation — violations risk fines and license loss. And the operation has no eyes on the conversation.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606040"/>
            <a:ext cx="2466594" cy="3154680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33272" y="2898648"/>
            <a:ext cx="731520" cy="7315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308152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33272" y="3776472"/>
            <a:ext cx="195453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speech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33272" y="4215384"/>
            <a:ext cx="195453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“guaranteed” or “best plan” on a recorded line is a CMS violation — enforcement happens live, not in a report.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9866" y="2606040"/>
            <a:ext cx="2466594" cy="3154680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55898" y="2898648"/>
            <a:ext cx="731520" cy="731520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778" y="308152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55898" y="3776472"/>
            <a:ext cx="195453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supervision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755898" y="4215384"/>
            <a:ext cx="195453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can't hear calls in progress. Problems surface after the damage is done — if at all.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22492" y="2606040"/>
            <a:ext cx="2466594" cy="3154680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78524" y="2898648"/>
            <a:ext cx="731520" cy="731520"/>
          </a:xfrm>
          <a:prstGeom prst="ellipse">
            <a:avLst/>
          </a:prstGeom>
          <a:solidFill>
            <a:srgbClr val="F2A541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1404" y="308152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8524" y="3776472"/>
            <a:ext cx="195453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Sampled, late QA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6478524" y="4215384"/>
            <a:ext cx="195453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reviews a tiny sample, days later. Coaching arrives long after the moment it was needed.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945118" y="2606040"/>
            <a:ext cx="2466594" cy="3154680"/>
          </a:xfrm>
          <a:prstGeom prst="roundRect">
            <a:avLst>
              <a:gd name="adj" fmla="val 407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01150" y="2898648"/>
            <a:ext cx="731520" cy="731520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4030" y="3081528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01150" y="3776472"/>
            <a:ext cx="195453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Overloaded agents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201150" y="4215384"/>
            <a:ext cx="195453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juggle the conversation, forms, plan lookups, and compliance — all at once, mid-call.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exist to sell. Nothing watches the conversation itself.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22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three copilots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664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run on the same real-time call pipeline — diarized transcript in, actions and insight out.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3401568" cy="3063240"/>
          </a:xfrm>
          <a:prstGeom prst="roundRect">
            <a:avLst>
              <a:gd name="adj" fmla="val 3284"/>
            </a:avLst>
          </a:prstGeom>
          <a:solidFill>
            <a:srgbClr val="2C3644"/>
          </a:solidFill>
          <a:ln w="12700">
            <a:solidFill>
              <a:srgbClr val="3C48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" y="2688336"/>
            <a:ext cx="822960" cy="822960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876" y="2894076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127248" y="259689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1088136" y="3657600"/>
            <a:ext cx="2779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Co-Pilot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088136" y="4160520"/>
            <a:ext cx="27797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live call: transcription, compliance guardrails, emotion, coaching, hands-free data capture, and Atlas — the agentic assistant.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89704" y="2377440"/>
            <a:ext cx="3401568" cy="3063240"/>
          </a:xfrm>
          <a:prstGeom prst="roundRect">
            <a:avLst>
              <a:gd name="adj" fmla="val 3284"/>
            </a:avLst>
          </a:prstGeom>
          <a:solidFill>
            <a:srgbClr val="2C3644"/>
          </a:solidFill>
          <a:ln w="12700">
            <a:solidFill>
              <a:srgbClr val="3C485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00600" y="2688336"/>
            <a:ext cx="822960" cy="822960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894076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839712" y="259689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600" dirty="0"/>
          </a:p>
        </p:txBody>
      </p:sp>
      <p:sp>
        <p:nvSpPr>
          <p:cNvPr id="15" name="Text 11"/>
          <p:cNvSpPr/>
          <p:nvPr/>
        </p:nvSpPr>
        <p:spPr>
          <a:xfrm>
            <a:off x="4800600" y="3657600"/>
            <a:ext cx="2779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CoPilot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4800600" y="4160520"/>
            <a:ext cx="27797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Ambient, real-time: the whole floor at a glance, alerts as they fire, and a rule engine supervisors edit themselves.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202168" y="2377440"/>
            <a:ext cx="3401568" cy="3063240"/>
          </a:xfrm>
          <a:prstGeom prst="roundRect">
            <a:avLst>
              <a:gd name="adj" fmla="val 3284"/>
            </a:avLst>
          </a:prstGeom>
          <a:solidFill>
            <a:srgbClr val="2C3644"/>
          </a:solidFill>
          <a:ln w="12700">
            <a:solidFill>
              <a:srgbClr val="3C485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13064" y="2688336"/>
            <a:ext cx="822960" cy="822960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8804" y="2894076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552176" y="2596896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6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600" dirty="0"/>
          </a:p>
        </p:txBody>
      </p:sp>
      <p:sp>
        <p:nvSpPr>
          <p:cNvPr id="21" name="Text 16"/>
          <p:cNvSpPr/>
          <p:nvPr/>
        </p:nvSpPr>
        <p:spPr>
          <a:xfrm>
            <a:off x="8513064" y="3657600"/>
            <a:ext cx="277977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Call QA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8513064" y="4160520"/>
            <a:ext cx="277977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call: every call persisted and auto-triaged; a deep LLM scorecard on demand from the dashboard or Atlas.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777240" y="5715000"/>
            <a:ext cx="10634472" cy="749808"/>
          </a:xfrm>
          <a:prstGeom prst="roundRect">
            <a:avLst>
              <a:gd name="adj" fmla="val 12195"/>
            </a:avLst>
          </a:prstGeom>
          <a:solidFill>
            <a:srgbClr val="E8590C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5916168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54480" y="571500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by default: 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proposes, humans approve. QA runs on demand — never silently.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oundRect">
            <a:avLst/>
          </a:prstGeom>
          <a:solidFill>
            <a:srgbClr val="222B36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-1371600"/>
            <a:ext cx="2468880" cy="246888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" cy="1097280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9748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Co-Pilot — live call intelligence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443484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ambient copilot that hears both sides of the call and reacts in seconds — while the supervisor sees the same alerts live.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17720" y="502920"/>
            <a:ext cx="7086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spc="1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61872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74920" y="987552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diarized transcription — Twilio media streams → Deepgram, both speakers, ~1–2 s latency</a:t>
            </a:r>
            <a:endParaRPr lang="en-US" sz="13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74920" y="1828800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guardrails: every utterance scanned live; alerts show the exact phrase, the CMS rule, a compliant rephrase, and severity (critical / warn / info)</a:t>
            </a:r>
            <a:endParaRPr lang="en-US" sz="13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944368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074920" y="2670048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prospect emotion badge — LLM classifies positive / neutral / confused / frustrated / upset as the call unfolds</a:t>
            </a:r>
            <a:endParaRPr lang="en-US" sz="13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785616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074920" y="3511296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coaching tips on violations &amp; emotion dips — an instant rule-based tip, then a context-aware LLM tip referencing what was actually said (debounced, max 5/call)</a:t>
            </a:r>
            <a:endParaRPr lang="en-US" sz="1350" dirty="0"/>
          </a:p>
        </p:txBody>
      </p:sp>
      <p:sp>
        <p:nvSpPr>
          <p:cNvPr id="18" name="Shape 11"/>
          <p:cNvSpPr/>
          <p:nvPr/>
        </p:nvSpPr>
        <p:spPr>
          <a:xfrm>
            <a:off x="4617720" y="5138928"/>
            <a:ext cx="7086600" cy="1188720"/>
          </a:xfrm>
          <a:prstGeom prst="roundRect">
            <a:avLst>
              <a:gd name="adj" fmla="val 7692"/>
            </a:avLst>
          </a:prstGeom>
          <a:solidFill>
            <a:srgbClr val="F5F7F9"/>
          </a:solidFill>
          <a:ln w="15875">
            <a:solidFill>
              <a:srgbClr val="E8590C"/>
            </a:solidFill>
            <a:prstDash val="solid"/>
          </a:ln>
          <a:effectLst>
            <a:outerShdw sx="100000" sy="100000" kx="0" ky="0" algn="bl" rotWithShape="0" blurRad="101600" dist="38100" dir="5400000">
              <a:srgbClr val="1A2027">
                <a:alpha val="10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4837176" y="5440680"/>
            <a:ext cx="585216" cy="58521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5184" y="5598688"/>
            <a:ext cx="269199" cy="269199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577840" y="52943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MOMENT</a:t>
            </a:r>
            <a:endParaRPr lang="en-US" sz="1100" dirty="0"/>
          </a:p>
        </p:txBody>
      </p:sp>
      <p:sp>
        <p:nvSpPr>
          <p:cNvPr id="22" name="Text 14"/>
          <p:cNvSpPr/>
          <p:nvPr/>
        </p:nvSpPr>
        <p:spPr>
          <a:xfrm>
            <a:off x="5577840" y="5550408"/>
            <a:ext cx="5897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i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says “this plan is completely free” → red critical alert + coaching tip within 2 seconds — on the agent's screen and the supervisor's, simultaneously.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oundRect">
            <a:avLst/>
          </a:prstGeom>
          <a:solidFill>
            <a:srgbClr val="222B36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-1371600"/>
            <a:ext cx="2468880" cy="246888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 · CONT.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" cy="1097280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9748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Hands-free capture + Atlas, the agentic assistant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443484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does the typing and the lookups; the agent keeps the conversation — and the final say on every write.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17720" y="502920"/>
            <a:ext cx="7086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spc="1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4267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74920" y="987552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extraction fills the lead form live — zip, medications with dosage/frequency, providers, pharmacies; fields flash with an “AI” chip until confirmed</a:t>
            </a:r>
            <a:endParaRPr lang="en-US" sz="13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45513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74920" y="1790395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Medicare glossary terms (CSNP, DSNP, IRMAA, AEP…) trigger explainer cards with deep-links — “View CSNP plans in 33101” once zip is captured</a:t>
            </a:r>
            <a:endParaRPr lang="en-US" sz="13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848356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074920" y="2593238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Post-call note summary auto-generated and preserved in the assistant feed</a:t>
            </a:r>
            <a:endParaRPr lang="en-US" sz="13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651199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074920" y="3396082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Atlas: conversational agent, 19 tools (pipeline, plan search &amp; compare, drug coverage, eligibility…) answering with rich UI cards — and it reads the live transcript</a:t>
            </a:r>
            <a:endParaRPr lang="en-US" sz="13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4454042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074920" y="4198925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actions are proposals the agent must approve — auditability by design</a:t>
            </a:r>
            <a:endParaRPr lang="en-US" sz="1350" dirty="0"/>
          </a:p>
        </p:txBody>
      </p:sp>
      <p:sp>
        <p:nvSpPr>
          <p:cNvPr id="20" name="Shape 12"/>
          <p:cNvSpPr/>
          <p:nvPr/>
        </p:nvSpPr>
        <p:spPr>
          <a:xfrm>
            <a:off x="4617720" y="5138928"/>
            <a:ext cx="7086600" cy="1188720"/>
          </a:xfrm>
          <a:prstGeom prst="roundRect">
            <a:avLst>
              <a:gd name="adj" fmla="val 7692"/>
            </a:avLst>
          </a:prstGeom>
          <a:solidFill>
            <a:srgbClr val="F5F7F9"/>
          </a:solidFill>
          <a:ln w="15875">
            <a:solidFill>
              <a:srgbClr val="E8590C"/>
            </a:solidFill>
            <a:prstDash val="solid"/>
          </a:ln>
          <a:effectLst>
            <a:outerShdw sx="100000" sy="100000" kx="0" ky="0" algn="bl" rotWithShape="0" blurRad="101600" dist="38100" dir="5400000">
              <a:srgbClr val="1A2027">
                <a:alpha val="10000"/>
              </a:srgbClr>
            </a:outerShdw>
          </a:effectLst>
        </p:spPr>
      </p:sp>
      <p:sp>
        <p:nvSpPr>
          <p:cNvPr id="21" name="Shape 13"/>
          <p:cNvSpPr/>
          <p:nvPr/>
        </p:nvSpPr>
        <p:spPr>
          <a:xfrm>
            <a:off x="4837176" y="5440680"/>
            <a:ext cx="585216" cy="58521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184" y="5598688"/>
            <a:ext cx="269199" cy="269199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577840" y="52943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MOMENT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5577840" y="5550408"/>
            <a:ext cx="5897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i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Prospect: “I take Eliquis five milligrams twice a day” → the drug lands on the lead record, no typing. Then Atlas quotes the conversation and drafts the agent's next line.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oundRect">
            <a:avLst/>
          </a:prstGeom>
          <a:solidFill>
            <a:srgbClr val="222B36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-1371600"/>
            <a:ext cx="2468880" cy="246888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50708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" cy="1097280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9748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Supervisor CoPilot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443484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floor at a glance — and the controls to shape how the AI enforces compliance, in production, instantly.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17720" y="502920"/>
            <a:ext cx="7086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spc="100" kern="0" dirty="0">
                <a:solidFill>
                  <a:srgbClr val="507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61872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74920" y="987552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floor view: every active call as a card — agent, direction, ticking duration, live emotion chip</a:t>
            </a:r>
            <a:endParaRPr lang="en-US" sz="13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74920" y="1828800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alerts stream the moment they fire; each alert is clickable → the full tagged transcript</a:t>
            </a:r>
            <a:endParaRPr lang="en-US" sz="13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944368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074920" y="2670048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log with flagged badges, tag chips, and QA scores — filter by agent or flagged-only</a:t>
            </a:r>
            <a:endParaRPr lang="en-US" sz="13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785616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074920" y="3511296"/>
            <a:ext cx="6629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own the rules: add / edit / disable compliance rules (phrase lists + regex, severity) in an admin UI — effective on the very next call, no deployment</a:t>
            </a:r>
            <a:endParaRPr lang="en-US" sz="1350" dirty="0"/>
          </a:p>
        </p:txBody>
      </p:sp>
      <p:sp>
        <p:nvSpPr>
          <p:cNvPr id="18" name="Shape 11"/>
          <p:cNvSpPr/>
          <p:nvPr/>
        </p:nvSpPr>
        <p:spPr>
          <a:xfrm>
            <a:off x="4617720" y="5138928"/>
            <a:ext cx="7086600" cy="1188720"/>
          </a:xfrm>
          <a:prstGeom prst="roundRect">
            <a:avLst>
              <a:gd name="adj" fmla="val 7692"/>
            </a:avLst>
          </a:prstGeom>
          <a:solidFill>
            <a:srgbClr val="F5F7F9"/>
          </a:solidFill>
          <a:ln w="15875">
            <a:solidFill>
              <a:srgbClr val="50708C"/>
            </a:solidFill>
            <a:prstDash val="solid"/>
          </a:ln>
          <a:effectLst>
            <a:outerShdw sx="100000" sy="100000" kx="0" ky="0" algn="bl" rotWithShape="0" blurRad="101600" dist="38100" dir="5400000">
              <a:srgbClr val="1A2027">
                <a:alpha val="10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4837176" y="5440680"/>
            <a:ext cx="585216" cy="585216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5184" y="5598688"/>
            <a:ext cx="269199" cy="269199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577840" y="52943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07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MOMENT</a:t>
            </a:r>
            <a:endParaRPr lang="en-US" sz="1100" dirty="0"/>
          </a:p>
        </p:txBody>
      </p:sp>
      <p:sp>
        <p:nvSpPr>
          <p:cNvPr id="22" name="Text 14"/>
          <p:cNvSpPr/>
          <p:nvPr/>
        </p:nvSpPr>
        <p:spPr>
          <a:xfrm>
            <a:off x="5577840" y="5550408"/>
            <a:ext cx="5897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i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adds the phrase “special deal” to a rule; the agent says it on the next call and it flags in amber — live.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60520" cy="6858000"/>
          </a:xfrm>
          <a:prstGeom prst="roundRect">
            <a:avLst/>
          </a:prstGeom>
          <a:solidFill>
            <a:srgbClr val="222B36"/>
          </a:solidFill>
          <a:ln/>
        </p:spPr>
      </p:sp>
      <p:sp>
        <p:nvSpPr>
          <p:cNvPr id="3" name="Shape 1"/>
          <p:cNvSpPr/>
          <p:nvPr/>
        </p:nvSpPr>
        <p:spPr>
          <a:xfrm>
            <a:off x="1828800" y="-1371600"/>
            <a:ext cx="2468880" cy="246888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8580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" cy="1097280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697480"/>
            <a:ext cx="3200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Call QA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4434840"/>
            <a:ext cx="3154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 calls captured and triaged automatically — deep review on demand, never silently.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17720" y="502920"/>
            <a:ext cx="7086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spc="1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4267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74920" y="987552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auto-persisted: full transcript, all tags (compliance, entities, emotion shifts, coaching), duration, direction</a:t>
            </a:r>
            <a:endParaRPr lang="en-US" sz="13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45513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74920" y="1790395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compliance hit auto-flags the call into the review queue — zero manual triage</a:t>
            </a:r>
            <a:endParaRPr lang="en-US" sz="13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848356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074920" y="2593238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LLM scorecard: overall 0–100 + four dimensions (compliance, discovery, communication, next steps), each with evidence, plus a CMS disclosure checklist</a:t>
            </a:r>
            <a:endParaRPr lang="en-US" sz="13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651199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074920" y="3396082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the dashboard button or by asking Atlas — one shared evaluator, two entry points</a:t>
            </a:r>
            <a:endParaRPr lang="en-US" sz="13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4454042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074920" y="4198925"/>
            <a:ext cx="6629400" cy="802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stats strip: recorded calls, flagged %, reviewed count, average score</a:t>
            </a:r>
            <a:endParaRPr lang="en-US" sz="1350" dirty="0"/>
          </a:p>
        </p:txBody>
      </p:sp>
      <p:sp>
        <p:nvSpPr>
          <p:cNvPr id="20" name="Shape 12"/>
          <p:cNvSpPr/>
          <p:nvPr/>
        </p:nvSpPr>
        <p:spPr>
          <a:xfrm>
            <a:off x="4617720" y="5138928"/>
            <a:ext cx="7086600" cy="1188720"/>
          </a:xfrm>
          <a:prstGeom prst="roundRect">
            <a:avLst>
              <a:gd name="adj" fmla="val 7692"/>
            </a:avLst>
          </a:prstGeom>
          <a:solidFill>
            <a:srgbClr val="F5F7F9"/>
          </a:solidFill>
          <a:ln w="15875">
            <a:solidFill>
              <a:srgbClr val="2FA36B"/>
            </a:solidFill>
            <a:prstDash val="solid"/>
          </a:ln>
          <a:effectLst>
            <a:outerShdw sx="100000" sy="100000" kx="0" ky="0" algn="bl" rotWithShape="0" blurRad="101600" dist="38100" dir="5400000">
              <a:srgbClr val="1A2027">
                <a:alpha val="10000"/>
              </a:srgbClr>
            </a:outerShdw>
          </a:effectLst>
        </p:spPr>
      </p:sp>
      <p:sp>
        <p:nvSpPr>
          <p:cNvPr id="21" name="Shape 13"/>
          <p:cNvSpPr/>
          <p:nvPr/>
        </p:nvSpPr>
        <p:spPr>
          <a:xfrm>
            <a:off x="4837176" y="5440680"/>
            <a:ext cx="585216" cy="585216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5184" y="5598688"/>
            <a:ext cx="269199" cy="269199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577840" y="52943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MOMENT</a:t>
            </a:r>
            <a:endParaRPr lang="en-US" sz="1100" dirty="0"/>
          </a:p>
        </p:txBody>
      </p:sp>
      <p:sp>
        <p:nvSpPr>
          <p:cNvPr id="24" name="Text 15"/>
          <p:cNvSpPr/>
          <p:nvPr/>
        </p:nvSpPr>
        <p:spPr>
          <a:xfrm>
            <a:off x="5577840" y="5550408"/>
            <a:ext cx="5897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i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Side-by-side: a clean discovery call scores ~85; the 4-violation call scores ~30 — with the exact violations cited as evidence.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222B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TECH STACK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phone call to the screen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8132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telephony in, Server-Sent Events out — with LangGraph (Atlas) and the QA evaluator calling Claude via OpenRouter, and MongoDB underneath.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73302" y="2240280"/>
            <a:ext cx="658368" cy="658368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7894" y="2404872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+ Twilio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0392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Voice SDK · TwiML app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409444" y="2514600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74036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070098" y="2240280"/>
            <a:ext cx="658368" cy="658368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690" y="240487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19756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WebSocket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647188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 + μ-law audio frames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206240" y="2514600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4370832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866894" y="2240280"/>
            <a:ext cx="658368" cy="658368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1486" y="2404872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416552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Deepgram STT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443984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both speakers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003036" y="2514600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167628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663690" y="2240280"/>
            <a:ext cx="658368" cy="658368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8282" y="2404872"/>
            <a:ext cx="329184" cy="32918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213348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pipeline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6240780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· entities · emotion · coaching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7799832" y="2514600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7964424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8460486" y="2240280"/>
            <a:ext cx="658368" cy="65836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5078" y="2404872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8010144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streams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8037576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panel + supervisor dashboard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9596628" y="2514600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C4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9761220" y="2057400"/>
            <a:ext cx="1650492" cy="1828800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152400" dist="38100" dir="5400000">
              <a:srgbClr val="1A2027">
                <a:alpha val="12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10257282" y="2240280"/>
            <a:ext cx="658368" cy="658368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1874" y="2404872"/>
            <a:ext cx="329184" cy="329184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9806940" y="2953512"/>
            <a:ext cx="15590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9834372" y="3282696"/>
            <a:ext cx="15041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panel · floor view · QA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777240" y="4114800"/>
            <a:ext cx="10634472" cy="1371600"/>
          </a:xfrm>
          <a:prstGeom prst="roundRect">
            <a:avLst>
              <a:gd name="adj" fmla="val 7333"/>
            </a:avLst>
          </a:prstGeom>
          <a:solidFill>
            <a:srgbClr val="222B36"/>
          </a:solidFill>
          <a:ln/>
          <a:effectLst>
            <a:outerShdw sx="100000" sy="100000" kx="0" ky="0" algn="bl" rotWithShape="0" blurRad="127000" dist="38100" dir="5400000">
              <a:srgbClr val="1A2027">
                <a:alpha val="15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1051560" y="4462272"/>
            <a:ext cx="676656" cy="67665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3957" y="4624669"/>
            <a:ext cx="351861" cy="351861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1920240" y="429768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Home-lab to cloud</a:t>
            </a:r>
            <a:endParaRPr lang="en-US" sz="1650" dirty="0"/>
          </a:p>
        </p:txBody>
      </p:sp>
      <p:sp>
        <p:nvSpPr>
          <p:cNvPr id="44" name="Text 35"/>
          <p:cNvSpPr/>
          <p:nvPr/>
        </p:nvSpPr>
        <p:spPr>
          <a:xfrm>
            <a:off x="1920240" y="4681728"/>
            <a:ext cx="6492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on a Raspberry Pi behind a Cloudflare named tunnel at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98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api.rubarajan.dev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multi-project Caddy gateway.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8732520" y="4370832"/>
            <a:ext cx="0" cy="868680"/>
          </a:xfrm>
          <a:prstGeom prst="line">
            <a:avLst/>
          </a:prstGeom>
          <a:noFill/>
          <a:ln w="19050">
            <a:solidFill>
              <a:srgbClr val="3C4857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8961120" y="4389120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infra cost.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containers lift to any cloud.</a:t>
            </a:r>
            <a:endParaRPr lang="en-US" sz="1150" dirty="0"/>
          </a:p>
        </p:txBody>
      </p:sp>
      <p:sp>
        <p:nvSpPr>
          <p:cNvPr id="47" name="Text 38"/>
          <p:cNvSpPr/>
          <p:nvPr/>
        </p:nvSpPr>
        <p:spPr>
          <a:xfrm>
            <a:off x="777240" y="5715000"/>
            <a:ext cx="195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777240" y="5989320"/>
            <a:ext cx="195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Vite 7 · Tailwind · Twilio Voice SDK</a:t>
            </a:r>
            <a:endParaRPr lang="en-US" sz="950" dirty="0"/>
          </a:p>
        </p:txBody>
      </p:sp>
      <p:sp>
        <p:nvSpPr>
          <p:cNvPr id="49" name="Text 40"/>
          <p:cNvSpPr/>
          <p:nvPr/>
        </p:nvSpPr>
        <p:spPr>
          <a:xfrm>
            <a:off x="2948026" y="5715000"/>
            <a:ext cx="195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50" name="Text 41"/>
          <p:cNvSpPr/>
          <p:nvPr/>
        </p:nvSpPr>
        <p:spPr>
          <a:xfrm>
            <a:off x="2948026" y="5989320"/>
            <a:ext cx="195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22 · Express 5 · TypeScript · LangGraph · Zod</a:t>
            </a:r>
            <a:endParaRPr lang="en-US" sz="950" dirty="0"/>
          </a:p>
        </p:txBody>
      </p:sp>
      <p:sp>
        <p:nvSpPr>
          <p:cNvPr id="51" name="Text 42"/>
          <p:cNvSpPr/>
          <p:nvPr/>
        </p:nvSpPr>
        <p:spPr>
          <a:xfrm>
            <a:off x="5118811" y="5715000"/>
            <a:ext cx="195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5118811" y="5989320"/>
            <a:ext cx="195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(Haiku / Opus) via OpenRouter · Deepgram Nova-3 · Ollama embeddings</a:t>
            </a:r>
            <a:endParaRPr lang="en-US" sz="950" dirty="0"/>
          </a:p>
        </p:txBody>
      </p:sp>
      <p:sp>
        <p:nvSpPr>
          <p:cNvPr id="53" name="Text 44"/>
          <p:cNvSpPr/>
          <p:nvPr/>
        </p:nvSpPr>
        <p:spPr>
          <a:xfrm>
            <a:off x="7289597" y="5715000"/>
            <a:ext cx="195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54" name="Text 45"/>
          <p:cNvSpPr/>
          <p:nvPr/>
        </p:nvSpPr>
        <p:spPr>
          <a:xfrm>
            <a:off x="7289597" y="5989320"/>
            <a:ext cx="195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8 · Qdrant vector DB · repo layer (Mongo / JSON / Databricks)</a:t>
            </a:r>
            <a:endParaRPr lang="en-US" sz="950" dirty="0"/>
          </a:p>
        </p:txBody>
      </p:sp>
      <p:sp>
        <p:nvSpPr>
          <p:cNvPr id="55" name="Text 46"/>
          <p:cNvSpPr/>
          <p:nvPr/>
        </p:nvSpPr>
        <p:spPr>
          <a:xfrm>
            <a:off x="9460382" y="5715000"/>
            <a:ext cx="19513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9460382" y="5989320"/>
            <a:ext cx="19513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· Docker · Cloudflare Tunnel · Caddy · systemd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22B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· COST · AUDIT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 — and cheap to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83664"/>
            <a:ext cx="566928" cy="566928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2025396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27048" y="1810512"/>
            <a:ext cx="4828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call audited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527048" y="2139696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Model, token counts, and cache hits logged per interaction; live stats endpoint.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" y="3054096"/>
            <a:ext cx="566928" cy="566928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19582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27048" y="2980944"/>
            <a:ext cx="4828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by construction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527048" y="3310128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pipeline is free; LLM used surgically — Claude Haiku for emotion / coaching / QA ≈ cents per call, ~77% prompt-cache hit rate observed.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77240" y="4224528"/>
            <a:ext cx="566928" cy="566928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366260"/>
            <a:ext cx="283464" cy="2834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27048" y="4151376"/>
            <a:ext cx="4828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on the AI itself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527048" y="448056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rate limits, daily token caps, call-minute caps, Twilio webhook signature verification.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77240" y="5394960"/>
            <a:ext cx="566928" cy="566928"/>
          </a:xfrm>
          <a:prstGeom prst="ellipse">
            <a:avLst/>
          </a:prstGeom>
          <a:solidFill>
            <a:srgbClr val="F2A541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5536692"/>
            <a:ext cx="283464" cy="28346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27048" y="5321808"/>
            <a:ext cx="4828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Degrades gracefully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1527048" y="5650992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LLM is unreachable: transcription, compliance alerts, coaching tips, autofill, and info cards keep working — the core is rule-based.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720840" y="1828800"/>
            <a:ext cx="4690872" cy="4572000"/>
          </a:xfrm>
          <a:prstGeom prst="roundRect">
            <a:avLst>
              <a:gd name="adj" fmla="val 2400"/>
            </a:avLst>
          </a:prstGeom>
          <a:solidFill>
            <a:srgbClr val="222B36"/>
          </a:solidFill>
          <a:ln/>
          <a:effectLst>
            <a:outerShdw sx="100000" sy="100000" kx="0" ky="0" algn="bl" rotWithShape="0" blurRad="152400" dist="38100" dir="5400000">
              <a:srgbClr val="1A2027">
                <a:alpha val="16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7040880" y="2103120"/>
            <a:ext cx="4050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8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DIFFERENT</a:t>
            </a:r>
            <a:endParaRPr lang="en-US" sz="12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2624328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34072" y="2542032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Supervisors edit AI guardrails themselves — in production, instantly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3374136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434072" y="329184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QA evaluator surfaced as UI and as an Atlas tool — no duplicated AI logic</a:t>
            </a:r>
            <a:endParaRPr lang="en-US" sz="125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0" y="4123944"/>
            <a:ext cx="256032" cy="256032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7434072" y="4041648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+ coaching + compliance feed the QA scorecard — review sees the emotional arc</a:t>
            </a:r>
            <a:endParaRPr lang="en-US" sz="125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4873752"/>
            <a:ext cx="256032" cy="256032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7434072" y="4791456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on every AI write</a:t>
            </a:r>
            <a:endParaRPr lang="en-US" sz="125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0880" y="5623560"/>
            <a:ext cx="256032" cy="256032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7434072" y="5541264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cost transparency per AI call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22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2C364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4864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AGENDA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603504" cy="603504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2253996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04825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Scripted live call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72768" y="2414016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Autofill → info card → violations → emotion → coaching → Atlas mid-call ask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3182112"/>
            <a:ext cx="603504" cy="603504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" y="3332988"/>
            <a:ext cx="301752" cy="3017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72768" y="31272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Supervisor screen, same call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1572768" y="3493008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view + streaming alerts; edit a rule (“special deal”) and watch it enforce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" y="4261104"/>
            <a:ext cx="603504" cy="603504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4411980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72768" y="420624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QA review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572768" y="457200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on the recorded 4-violation call vs. a clean discovery call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498080" y="1874520"/>
            <a:ext cx="3886200" cy="2194560"/>
          </a:xfrm>
          <a:prstGeom prst="roundRect">
            <a:avLst>
              <a:gd name="adj" fmla="val 5000"/>
            </a:avLst>
          </a:prstGeom>
          <a:solidFill>
            <a:srgbClr val="2C3644"/>
          </a:solidFill>
          <a:ln w="12700">
            <a:solidFill>
              <a:srgbClr val="3C4857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772400" y="210312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END-TO-END TODAY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7772400" y="2395728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+ inbound calls with real-time transcript · live flagging on both screens simultaneously · QA scorecards on real call data · rules edited live, enforced next call · 4 seeded demo calls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7498080" y="4251960"/>
            <a:ext cx="3886200" cy="1417320"/>
          </a:xfrm>
          <a:prstGeom prst="roundRect">
            <a:avLst>
              <a:gd name="adj" fmla="val 7742"/>
            </a:avLst>
          </a:prstGeom>
          <a:solidFill>
            <a:srgbClr val="2C3644"/>
          </a:solidFill>
          <a:ln w="12700">
            <a:solidFill>
              <a:srgbClr val="3C485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772400" y="4462272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8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7772400" y="4754880"/>
            <a:ext cx="3337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Near-term: lead ↔ transcript linking · session auth · live listen-in.  Later: auto-QA sampling · trend analytics · CRM &amp; carrier integrations · multi-tenant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822960" y="5806440"/>
            <a:ext cx="10561320" cy="713232"/>
          </a:xfrm>
          <a:prstGeom prst="roundRect">
            <a:avLst>
              <a:gd name="adj" fmla="val 12821"/>
            </a:avLst>
          </a:prstGeom>
          <a:solidFill>
            <a:srgbClr val="E8590C"/>
          </a:solidFill>
          <a:ln/>
        </p:spPr>
      </p:sp>
      <p:sp>
        <p:nvSpPr>
          <p:cNvPr id="24" name="Text 19"/>
          <p:cNvSpPr/>
          <p:nvPr/>
        </p:nvSpPr>
        <p:spPr>
          <a:xfrm>
            <a:off x="822960" y="5806440"/>
            <a:ext cx="10561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“Every call coached, every call supervised, every call reviewed — without adding headcount.”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384048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22B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731520" y="786384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view — every hop, end to end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286000" cy="4343400"/>
          </a:xfrm>
          <a:prstGeom prst="roundRect">
            <a:avLst>
              <a:gd name="adj" fmla="val 4000"/>
            </a:avLst>
          </a:prstGeom>
          <a:solidFill>
            <a:srgbClr val="F5F7F9"/>
          </a:solidFill>
          <a:ln w="15875">
            <a:solidFill>
              <a:srgbClr val="5070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9224" y="1618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07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46120" y="1554480"/>
            <a:ext cx="2331720" cy="4343400"/>
          </a:xfrm>
          <a:prstGeom prst="roundRect">
            <a:avLst>
              <a:gd name="adj" fmla="val 3922"/>
            </a:avLst>
          </a:prstGeom>
          <a:solidFill>
            <a:srgbClr val="F5F7F9"/>
          </a:solidFill>
          <a:ln w="15875">
            <a:solidFill>
              <a:srgbClr val="E859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92424" y="16184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&amp; TELEPHONY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035040" y="1554480"/>
            <a:ext cx="3383280" cy="4343400"/>
          </a:xfrm>
          <a:prstGeom prst="roundRect">
            <a:avLst>
              <a:gd name="adj" fmla="val 2703"/>
            </a:avLst>
          </a:prstGeom>
          <a:solidFill>
            <a:srgbClr val="F5F7F9"/>
          </a:solidFill>
          <a:ln w="15875">
            <a:solidFill>
              <a:srgbClr val="222B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81344" y="161848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2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— CONTAINERIZED · CLOUD-PORTABLE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9875520" y="1554480"/>
            <a:ext cx="1828800" cy="1965960"/>
          </a:xfrm>
          <a:prstGeom prst="roundRect">
            <a:avLst>
              <a:gd name="adj" fmla="val 5000"/>
            </a:avLst>
          </a:prstGeom>
          <a:solidFill>
            <a:srgbClr val="F5F7F9"/>
          </a:solidFill>
          <a:ln w="15875">
            <a:solidFill>
              <a:srgbClr val="5070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21824" y="16184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07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875520" y="3703320"/>
            <a:ext cx="1828800" cy="2194560"/>
          </a:xfrm>
          <a:prstGeom prst="roundRect">
            <a:avLst>
              <a:gd name="adj" fmla="val 5000"/>
            </a:avLst>
          </a:prstGeom>
          <a:solidFill>
            <a:srgbClr val="F5F7F9"/>
          </a:solidFill>
          <a:ln w="15875">
            <a:solidFill>
              <a:srgbClr val="2FA3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21824" y="37673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2FA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VECTORS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2066544"/>
            <a:ext cx="310896" cy="310896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423" y="2141159"/>
            <a:ext cx="161666" cy="16166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52144" y="2020824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browser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8096" y="2368296"/>
            <a:ext cx="17739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view · alert feed (SSE) · rules &amp; QA admin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40080" y="301752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49808" y="3118104"/>
            <a:ext cx="310896" cy="31089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423" y="3192719"/>
            <a:ext cx="161666" cy="16166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152144" y="3072384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browser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768096" y="3419856"/>
            <a:ext cx="17739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· Twilio Voice SDK · call panel + Atlas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40080" y="406908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9808" y="4169664"/>
            <a:ext cx="310896" cy="310896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23" y="4244279"/>
            <a:ext cx="161666" cy="16166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152144" y="4123944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phone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768096" y="4471416"/>
            <a:ext cx="177393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PSTN — inbound &amp; outbound calls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3383280" y="1965960"/>
            <a:ext cx="20574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3493008" y="2066544"/>
            <a:ext cx="310896" cy="31089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7623" y="2141159"/>
            <a:ext cx="161666" cy="16166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3895344" y="2020824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edge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511296" y="2368296"/>
            <a:ext cx="1819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DNS · TLS termination · named tunnel entry — stable custom domain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3383280" y="3566160"/>
            <a:ext cx="2057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3493008" y="3666744"/>
            <a:ext cx="310896" cy="310896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7623" y="3741359"/>
            <a:ext cx="161666" cy="161666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3895344" y="3621024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Cloud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3511296" y="3968496"/>
            <a:ext cx="18196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TwiML app (outbound) · phone number (inbound) · bidirectional media streams · signed webhooks</a:t>
            </a:r>
            <a:endParaRPr lang="en-US" sz="850" dirty="0"/>
          </a:p>
        </p:txBody>
      </p:sp>
      <p:sp>
        <p:nvSpPr>
          <p:cNvPr id="39" name="Shape 32"/>
          <p:cNvSpPr/>
          <p:nvPr/>
        </p:nvSpPr>
        <p:spPr>
          <a:xfrm>
            <a:off x="6172200" y="1920240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6281928" y="2020824"/>
            <a:ext cx="310896" cy="31089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6543" y="2095439"/>
            <a:ext cx="161666" cy="16166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6684264" y="197510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connector</a:t>
            </a:r>
            <a:endParaRPr lang="en-US" sz="1050" dirty="0"/>
          </a:p>
        </p:txBody>
      </p:sp>
      <p:sp>
        <p:nvSpPr>
          <p:cNvPr id="43" name="Text 35"/>
          <p:cNvSpPr/>
          <p:nvPr/>
        </p:nvSpPr>
        <p:spPr>
          <a:xfrm>
            <a:off x="6300216" y="2322576"/>
            <a:ext cx="28712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outbound-only — zero open inbound ports</a:t>
            </a:r>
            <a:endParaRPr lang="en-US" sz="850" dirty="0"/>
          </a:p>
        </p:txBody>
      </p:sp>
      <p:sp>
        <p:nvSpPr>
          <p:cNvPr id="44" name="Shape 36"/>
          <p:cNvSpPr/>
          <p:nvPr/>
        </p:nvSpPr>
        <p:spPr>
          <a:xfrm>
            <a:off x="6172200" y="2606040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6281928" y="2706624"/>
            <a:ext cx="310896" cy="310896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6543" y="2781239"/>
            <a:ext cx="161666" cy="161666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6684264" y="266090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Caddy gateway</a:t>
            </a:r>
            <a:endParaRPr lang="en-US" sz="1050" dirty="0"/>
          </a:p>
        </p:txBody>
      </p:sp>
      <p:sp>
        <p:nvSpPr>
          <p:cNvPr id="48" name="Text 39"/>
          <p:cNvSpPr/>
          <p:nvPr/>
        </p:nvSpPr>
        <p:spPr>
          <a:xfrm>
            <a:off x="6300216" y="3008376"/>
            <a:ext cx="28712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 · multi-app path routing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6172200" y="3291840"/>
            <a:ext cx="3108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6281928" y="3392424"/>
            <a:ext cx="310896" cy="310896"/>
          </a:xfrm>
          <a:prstGeom prst="ellipse">
            <a:avLst/>
          </a:prstGeom>
          <a:solidFill>
            <a:srgbClr val="222B36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6543" y="3467039"/>
            <a:ext cx="161666" cy="161666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6684264" y="334670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/ Express API (TypeScript)</a:t>
            </a:r>
            <a:endParaRPr lang="en-US" sz="1050" dirty="0"/>
          </a:p>
        </p:txBody>
      </p:sp>
      <p:sp>
        <p:nvSpPr>
          <p:cNvPr id="53" name="Text 43"/>
          <p:cNvSpPr/>
          <p:nvPr/>
        </p:nvSpPr>
        <p:spPr>
          <a:xfrm>
            <a:off x="6300216" y="3694176"/>
            <a:ext cx="2871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/api · SSE streams out · WS media receiver · systemd-managed</a:t>
            </a:r>
            <a:endParaRPr lang="en-US" sz="850" dirty="0"/>
          </a:p>
        </p:txBody>
      </p:sp>
      <p:sp>
        <p:nvSpPr>
          <p:cNvPr id="54" name="Shape 44"/>
          <p:cNvSpPr/>
          <p:nvPr/>
        </p:nvSpPr>
        <p:spPr>
          <a:xfrm>
            <a:off x="6172200" y="4160520"/>
            <a:ext cx="31089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55" name="Shape 45"/>
          <p:cNvSpPr/>
          <p:nvPr/>
        </p:nvSpPr>
        <p:spPr>
          <a:xfrm>
            <a:off x="6281928" y="4261104"/>
            <a:ext cx="310896" cy="310896"/>
          </a:xfrm>
          <a:prstGeom prst="ellipse">
            <a:avLst/>
          </a:prstGeom>
          <a:solidFill>
            <a:srgbClr val="E8590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6543" y="4335719"/>
            <a:ext cx="161666" cy="161666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6684264" y="4215384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layer</a:t>
            </a:r>
            <a:endParaRPr lang="en-US" sz="1050" dirty="0"/>
          </a:p>
        </p:txBody>
      </p:sp>
      <p:sp>
        <p:nvSpPr>
          <p:cNvPr id="58" name="Text 47"/>
          <p:cNvSpPr/>
          <p:nvPr/>
        </p:nvSpPr>
        <p:spPr>
          <a:xfrm>
            <a:off x="6300216" y="4562856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(LangGraph, 19 tools) · QA evaluator · hybrid RAG retriever (BM25 + vector, RRF-fused) · prompt cache</a:t>
            </a:r>
            <a:endParaRPr lang="en-US" sz="850" dirty="0"/>
          </a:p>
        </p:txBody>
      </p:sp>
      <p:sp>
        <p:nvSpPr>
          <p:cNvPr id="59" name="Shape 48"/>
          <p:cNvSpPr/>
          <p:nvPr/>
        </p:nvSpPr>
        <p:spPr>
          <a:xfrm>
            <a:off x="6172200" y="4956048"/>
            <a:ext cx="31089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60" name="Shape 49"/>
          <p:cNvSpPr/>
          <p:nvPr/>
        </p:nvSpPr>
        <p:spPr>
          <a:xfrm>
            <a:off x="6281928" y="5056632"/>
            <a:ext cx="310896" cy="310896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6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6543" y="5131247"/>
            <a:ext cx="161666" cy="161666"/>
          </a:xfrm>
          <a:prstGeom prst="rect">
            <a:avLst/>
          </a:prstGeom>
        </p:spPr>
      </p:pic>
      <p:sp>
        <p:nvSpPr>
          <p:cNvPr id="62" name="Text 50"/>
          <p:cNvSpPr/>
          <p:nvPr/>
        </p:nvSpPr>
        <p:spPr>
          <a:xfrm>
            <a:off x="6684264" y="5010912"/>
            <a:ext cx="2505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analysis</a:t>
            </a:r>
            <a:endParaRPr lang="en-US" sz="1050" dirty="0"/>
          </a:p>
        </p:txBody>
      </p:sp>
      <p:sp>
        <p:nvSpPr>
          <p:cNvPr id="63" name="Text 51"/>
          <p:cNvSpPr/>
          <p:nvPr/>
        </p:nvSpPr>
        <p:spPr>
          <a:xfrm>
            <a:off x="6300216" y="5358384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call bus · compliance rules · entities · emotion · coaching</a:t>
            </a:r>
            <a:endParaRPr lang="en-US" sz="850" dirty="0"/>
          </a:p>
        </p:txBody>
      </p:sp>
      <p:sp>
        <p:nvSpPr>
          <p:cNvPr id="64" name="Shape 52"/>
          <p:cNvSpPr/>
          <p:nvPr/>
        </p:nvSpPr>
        <p:spPr>
          <a:xfrm>
            <a:off x="7726680" y="2487168"/>
            <a:ext cx="0" cy="118872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65" name="Shape 53"/>
          <p:cNvSpPr/>
          <p:nvPr/>
        </p:nvSpPr>
        <p:spPr>
          <a:xfrm>
            <a:off x="7726680" y="3172968"/>
            <a:ext cx="0" cy="118872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66" name="Shape 54"/>
          <p:cNvSpPr/>
          <p:nvPr/>
        </p:nvSpPr>
        <p:spPr>
          <a:xfrm>
            <a:off x="7726680" y="4023360"/>
            <a:ext cx="0" cy="13716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67" name="Shape 55"/>
          <p:cNvSpPr/>
          <p:nvPr/>
        </p:nvSpPr>
        <p:spPr>
          <a:xfrm>
            <a:off x="7726680" y="4818888"/>
            <a:ext cx="0" cy="13716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68" name="Shape 56"/>
          <p:cNvSpPr/>
          <p:nvPr/>
        </p:nvSpPr>
        <p:spPr>
          <a:xfrm>
            <a:off x="10012680" y="1938528"/>
            <a:ext cx="15544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69" name="Shape 57"/>
          <p:cNvSpPr/>
          <p:nvPr/>
        </p:nvSpPr>
        <p:spPr>
          <a:xfrm>
            <a:off x="10122408" y="2011680"/>
            <a:ext cx="256032" cy="256032"/>
          </a:xfrm>
          <a:prstGeom prst="ellipse">
            <a:avLst/>
          </a:prstGeom>
          <a:solidFill>
            <a:srgbClr val="50708C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7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83856" y="2073128"/>
            <a:ext cx="133137" cy="133137"/>
          </a:xfrm>
          <a:prstGeom prst="rect">
            <a:avLst/>
          </a:prstGeom>
        </p:spPr>
      </p:pic>
      <p:sp>
        <p:nvSpPr>
          <p:cNvPr id="71" name="Text 58"/>
          <p:cNvSpPr/>
          <p:nvPr/>
        </p:nvSpPr>
        <p:spPr>
          <a:xfrm>
            <a:off x="10469880" y="19751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Deepgram</a:t>
            </a:r>
            <a:endParaRPr lang="en-US" sz="950" dirty="0"/>
          </a:p>
        </p:txBody>
      </p:sp>
      <p:sp>
        <p:nvSpPr>
          <p:cNvPr id="72" name="Text 59"/>
          <p:cNvSpPr/>
          <p:nvPr/>
        </p:nvSpPr>
        <p:spPr>
          <a:xfrm>
            <a:off x="10140696" y="2249424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7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STT — both call tracks</a:t>
            </a:r>
            <a:endParaRPr lang="en-US" sz="750" dirty="0"/>
          </a:p>
        </p:txBody>
      </p:sp>
      <p:sp>
        <p:nvSpPr>
          <p:cNvPr id="73" name="Shape 60"/>
          <p:cNvSpPr/>
          <p:nvPr/>
        </p:nvSpPr>
        <p:spPr>
          <a:xfrm>
            <a:off x="10012680" y="2761488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74" name="Shape 61"/>
          <p:cNvSpPr/>
          <p:nvPr/>
        </p:nvSpPr>
        <p:spPr>
          <a:xfrm>
            <a:off x="10122408" y="2834640"/>
            <a:ext cx="256032" cy="256032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7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83856" y="2896088"/>
            <a:ext cx="133137" cy="133137"/>
          </a:xfrm>
          <a:prstGeom prst="rect">
            <a:avLst/>
          </a:prstGeom>
        </p:spPr>
      </p:pic>
      <p:sp>
        <p:nvSpPr>
          <p:cNvPr id="76" name="Text 62"/>
          <p:cNvSpPr/>
          <p:nvPr/>
        </p:nvSpPr>
        <p:spPr>
          <a:xfrm>
            <a:off x="10469880" y="27980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</a:t>
            </a:r>
            <a:endParaRPr lang="en-US" sz="950" dirty="0"/>
          </a:p>
        </p:txBody>
      </p:sp>
      <p:sp>
        <p:nvSpPr>
          <p:cNvPr id="77" name="Text 63"/>
          <p:cNvSpPr/>
          <p:nvPr/>
        </p:nvSpPr>
        <p:spPr>
          <a:xfrm>
            <a:off x="10140696" y="3072384"/>
            <a:ext cx="13167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7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/ Opus — LLM calls</a:t>
            </a:r>
            <a:endParaRPr lang="en-US" sz="750" dirty="0"/>
          </a:p>
        </p:txBody>
      </p:sp>
      <p:sp>
        <p:nvSpPr>
          <p:cNvPr id="78" name="Shape 64"/>
          <p:cNvSpPr/>
          <p:nvPr/>
        </p:nvSpPr>
        <p:spPr>
          <a:xfrm>
            <a:off x="10012680" y="4041648"/>
            <a:ext cx="15544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79" name="Shape 65"/>
          <p:cNvSpPr/>
          <p:nvPr/>
        </p:nvSpPr>
        <p:spPr>
          <a:xfrm>
            <a:off x="10122408" y="4114800"/>
            <a:ext cx="256032" cy="256032"/>
          </a:xfrm>
          <a:prstGeom prst="ellipse">
            <a:avLst/>
          </a:prstGeom>
          <a:solidFill>
            <a:srgbClr val="3C4857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8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83856" y="4176248"/>
            <a:ext cx="133137" cy="133137"/>
          </a:xfrm>
          <a:prstGeom prst="rect">
            <a:avLst/>
          </a:prstGeom>
        </p:spPr>
      </p:pic>
      <p:sp>
        <p:nvSpPr>
          <p:cNvPr id="81" name="Text 66"/>
          <p:cNvSpPr/>
          <p:nvPr/>
        </p:nvSpPr>
        <p:spPr>
          <a:xfrm>
            <a:off x="10469880" y="407822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embedder</a:t>
            </a:r>
            <a:endParaRPr lang="en-US" sz="950" dirty="0"/>
          </a:p>
        </p:txBody>
      </p:sp>
      <p:sp>
        <p:nvSpPr>
          <p:cNvPr id="82" name="Text 67"/>
          <p:cNvSpPr/>
          <p:nvPr/>
        </p:nvSpPr>
        <p:spPr>
          <a:xfrm>
            <a:off x="10140696" y="4352544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7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nomic-embed-text · 768-d</a:t>
            </a:r>
            <a:endParaRPr lang="en-US" sz="750" dirty="0"/>
          </a:p>
        </p:txBody>
      </p:sp>
      <p:sp>
        <p:nvSpPr>
          <p:cNvPr id="83" name="Shape 68"/>
          <p:cNvSpPr/>
          <p:nvPr/>
        </p:nvSpPr>
        <p:spPr>
          <a:xfrm>
            <a:off x="10012680" y="4663440"/>
            <a:ext cx="15544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84" name="Shape 69"/>
          <p:cNvSpPr/>
          <p:nvPr/>
        </p:nvSpPr>
        <p:spPr>
          <a:xfrm>
            <a:off x="10122408" y="4736592"/>
            <a:ext cx="256032" cy="256032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8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83856" y="4798040"/>
            <a:ext cx="133137" cy="133137"/>
          </a:xfrm>
          <a:prstGeom prst="rect">
            <a:avLst/>
          </a:prstGeom>
        </p:spPr>
      </p:pic>
      <p:sp>
        <p:nvSpPr>
          <p:cNvPr id="86" name="Text 70"/>
          <p:cNvSpPr/>
          <p:nvPr/>
        </p:nvSpPr>
        <p:spPr>
          <a:xfrm>
            <a:off x="10469880" y="47000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vector DB</a:t>
            </a:r>
            <a:endParaRPr lang="en-US" sz="950" dirty="0"/>
          </a:p>
        </p:txBody>
      </p:sp>
      <p:sp>
        <p:nvSpPr>
          <p:cNvPr id="87" name="Text 71"/>
          <p:cNvSpPr/>
          <p:nvPr/>
        </p:nvSpPr>
        <p:spPr>
          <a:xfrm>
            <a:off x="10140696" y="4974336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7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5 collections · hybrid</a:t>
            </a:r>
            <a:endParaRPr lang="en-US" sz="750" dirty="0"/>
          </a:p>
        </p:txBody>
      </p:sp>
      <p:sp>
        <p:nvSpPr>
          <p:cNvPr id="88" name="Shape 72"/>
          <p:cNvSpPr/>
          <p:nvPr/>
        </p:nvSpPr>
        <p:spPr>
          <a:xfrm>
            <a:off x="10012680" y="5285232"/>
            <a:ext cx="1554480" cy="530352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0E5EA"/>
            </a:solidFill>
            <a:prstDash val="solid"/>
          </a:ln>
          <a:effectLst>
            <a:outerShdw sx="100000" sy="100000" kx="0" ky="0" algn="bl" rotWithShape="0" blurRad="76200" dist="25400" dir="5400000">
              <a:srgbClr val="1A2027">
                <a:alpha val="10000"/>
              </a:srgbClr>
            </a:outerShdw>
          </a:effectLst>
        </p:spPr>
      </p:sp>
      <p:sp>
        <p:nvSpPr>
          <p:cNvPr id="89" name="Shape 73"/>
          <p:cNvSpPr/>
          <p:nvPr/>
        </p:nvSpPr>
        <p:spPr>
          <a:xfrm>
            <a:off x="10122408" y="5358384"/>
            <a:ext cx="256032" cy="256032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27000" dist="38100" dir="5400000">
              <a:srgbClr val="1A2027">
                <a:alpha val="22000"/>
              </a:srgbClr>
            </a:outerShdw>
          </a:effectLst>
        </p:spPr>
      </p:sp>
      <p:pic>
        <p:nvPicPr>
          <p:cNvPr id="9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83856" y="5419832"/>
            <a:ext cx="133137" cy="133137"/>
          </a:xfrm>
          <a:prstGeom prst="rect">
            <a:avLst/>
          </a:prstGeom>
        </p:spPr>
      </p:pic>
      <p:sp>
        <p:nvSpPr>
          <p:cNvPr id="91" name="Text 74"/>
          <p:cNvSpPr/>
          <p:nvPr/>
        </p:nvSpPr>
        <p:spPr>
          <a:xfrm>
            <a:off x="10469880" y="53218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1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950" dirty="0"/>
          </a:p>
        </p:txBody>
      </p:sp>
      <p:sp>
        <p:nvSpPr>
          <p:cNvPr id="92" name="Text 75"/>
          <p:cNvSpPr/>
          <p:nvPr/>
        </p:nvSpPr>
        <p:spPr>
          <a:xfrm>
            <a:off x="10140696" y="5596128"/>
            <a:ext cx="1316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7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app + reference DBs</a:t>
            </a:r>
            <a:endParaRPr lang="en-US" sz="750" dirty="0"/>
          </a:p>
        </p:txBody>
      </p:sp>
      <p:sp>
        <p:nvSpPr>
          <p:cNvPr id="93" name="Shape 76"/>
          <p:cNvSpPr/>
          <p:nvPr/>
        </p:nvSpPr>
        <p:spPr>
          <a:xfrm>
            <a:off x="2670048" y="2331720"/>
            <a:ext cx="694944" cy="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94" name="Text 77"/>
          <p:cNvSpPr/>
          <p:nvPr/>
        </p:nvSpPr>
        <p:spPr>
          <a:xfrm>
            <a:off x="2560320" y="20848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SSE</a:t>
            </a:r>
            <a:endParaRPr lang="en-US" sz="750" dirty="0"/>
          </a:p>
        </p:txBody>
      </p:sp>
      <p:sp>
        <p:nvSpPr>
          <p:cNvPr id="95" name="Shape 78"/>
          <p:cNvSpPr/>
          <p:nvPr/>
        </p:nvSpPr>
        <p:spPr>
          <a:xfrm flipV="1">
            <a:off x="2670048" y="2926080"/>
            <a:ext cx="694944" cy="36576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96" name="Shape 79"/>
          <p:cNvSpPr/>
          <p:nvPr/>
        </p:nvSpPr>
        <p:spPr>
          <a:xfrm>
            <a:off x="2670048" y="3611880"/>
            <a:ext cx="694944" cy="36576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97" name="Text 80"/>
          <p:cNvSpPr/>
          <p:nvPr/>
        </p:nvSpPr>
        <p:spPr>
          <a:xfrm>
            <a:off x="2487168" y="3913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 audio</a:t>
            </a:r>
            <a:endParaRPr lang="en-US" sz="750" dirty="0"/>
          </a:p>
        </p:txBody>
      </p:sp>
      <p:sp>
        <p:nvSpPr>
          <p:cNvPr id="98" name="Shape 81"/>
          <p:cNvSpPr/>
          <p:nvPr/>
        </p:nvSpPr>
        <p:spPr>
          <a:xfrm>
            <a:off x="2670048" y="4498848"/>
            <a:ext cx="694944" cy="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99" name="Text 82"/>
          <p:cNvSpPr/>
          <p:nvPr/>
        </p:nvSpPr>
        <p:spPr>
          <a:xfrm>
            <a:off x="2615184" y="42611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PSTN</a:t>
            </a:r>
            <a:endParaRPr lang="en-US" sz="750" dirty="0"/>
          </a:p>
        </p:txBody>
      </p:sp>
      <p:sp>
        <p:nvSpPr>
          <p:cNvPr id="100" name="Shape 83"/>
          <p:cNvSpPr/>
          <p:nvPr/>
        </p:nvSpPr>
        <p:spPr>
          <a:xfrm>
            <a:off x="4407408" y="3154680"/>
            <a:ext cx="0" cy="41148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headEnd type="triangle"/>
            <a:tailEnd type="none"/>
          </a:ln>
        </p:spPr>
      </p:sp>
      <p:sp>
        <p:nvSpPr>
          <p:cNvPr id="101" name="Text 84"/>
          <p:cNvSpPr/>
          <p:nvPr/>
        </p:nvSpPr>
        <p:spPr>
          <a:xfrm>
            <a:off x="4480560" y="3218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webhooks · media WS</a:t>
            </a:r>
            <a:endParaRPr lang="en-US" sz="750" dirty="0"/>
          </a:p>
        </p:txBody>
      </p:sp>
      <p:sp>
        <p:nvSpPr>
          <p:cNvPr id="102" name="Shape 85"/>
          <p:cNvSpPr/>
          <p:nvPr/>
        </p:nvSpPr>
        <p:spPr>
          <a:xfrm flipV="1">
            <a:off x="5458968" y="2240280"/>
            <a:ext cx="694944" cy="22860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03" name="Text 86"/>
          <p:cNvSpPr/>
          <p:nvPr/>
        </p:nvSpPr>
        <p:spPr>
          <a:xfrm>
            <a:off x="5394960" y="195681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750" dirty="0"/>
          </a:p>
        </p:txBody>
      </p:sp>
      <p:sp>
        <p:nvSpPr>
          <p:cNvPr id="104" name="Shape 87"/>
          <p:cNvSpPr/>
          <p:nvPr/>
        </p:nvSpPr>
        <p:spPr>
          <a:xfrm flipV="1">
            <a:off x="9299448" y="2331720"/>
            <a:ext cx="685800" cy="114300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05" name="Text 88"/>
          <p:cNvSpPr/>
          <p:nvPr/>
        </p:nvSpPr>
        <p:spPr>
          <a:xfrm>
            <a:off x="9235440" y="272491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WSS audio</a:t>
            </a:r>
            <a:endParaRPr lang="en-US" sz="750" dirty="0"/>
          </a:p>
        </p:txBody>
      </p:sp>
      <p:sp>
        <p:nvSpPr>
          <p:cNvPr id="106" name="Shape 89"/>
          <p:cNvSpPr/>
          <p:nvPr/>
        </p:nvSpPr>
        <p:spPr>
          <a:xfrm flipV="1">
            <a:off x="9299448" y="3127248"/>
            <a:ext cx="685800" cy="1124712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07" name="Text 90"/>
          <p:cNvSpPr/>
          <p:nvPr/>
        </p:nvSpPr>
        <p:spPr>
          <a:xfrm>
            <a:off x="9217152" y="352044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</a:t>
            </a:r>
            <a:endParaRPr lang="en-US" sz="750" dirty="0"/>
          </a:p>
        </p:txBody>
      </p:sp>
      <p:sp>
        <p:nvSpPr>
          <p:cNvPr id="108" name="Shape 91"/>
          <p:cNvSpPr/>
          <p:nvPr/>
        </p:nvSpPr>
        <p:spPr>
          <a:xfrm flipV="1">
            <a:off x="9299448" y="4306824"/>
            <a:ext cx="685800" cy="128016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09" name="Text 92"/>
          <p:cNvSpPr/>
          <p:nvPr/>
        </p:nvSpPr>
        <p:spPr>
          <a:xfrm>
            <a:off x="9454896" y="405993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750" dirty="0"/>
          </a:p>
        </p:txBody>
      </p:sp>
      <p:sp>
        <p:nvSpPr>
          <p:cNvPr id="110" name="Shape 93"/>
          <p:cNvSpPr/>
          <p:nvPr/>
        </p:nvSpPr>
        <p:spPr>
          <a:xfrm>
            <a:off x="9299448" y="4645152"/>
            <a:ext cx="685800" cy="283464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11" name="Text 94"/>
          <p:cNvSpPr/>
          <p:nvPr/>
        </p:nvSpPr>
        <p:spPr>
          <a:xfrm>
            <a:off x="9345168" y="4901184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750" dirty="0"/>
          </a:p>
        </p:txBody>
      </p:sp>
      <p:sp>
        <p:nvSpPr>
          <p:cNvPr id="112" name="Shape 95"/>
          <p:cNvSpPr/>
          <p:nvPr/>
        </p:nvSpPr>
        <p:spPr>
          <a:xfrm>
            <a:off x="9299448" y="5413248"/>
            <a:ext cx="685800" cy="137160"/>
          </a:xfrm>
          <a:prstGeom prst="line">
            <a:avLst/>
          </a:prstGeom>
          <a:noFill/>
          <a:ln w="19050">
            <a:solidFill>
              <a:srgbClr val="8A9AA8"/>
            </a:solidFill>
            <a:prstDash val="solid"/>
            <a:tailEnd type="triangle"/>
          </a:ln>
        </p:spPr>
      </p:sp>
      <p:sp>
        <p:nvSpPr>
          <p:cNvPr id="113" name="Text 96"/>
          <p:cNvSpPr/>
          <p:nvPr/>
        </p:nvSpPr>
        <p:spPr>
          <a:xfrm>
            <a:off x="9272016" y="51572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</a:t>
            </a:r>
            <a:endParaRPr lang="en-US" sz="750" dirty="0"/>
          </a:p>
        </p:txBody>
      </p:sp>
      <p:sp>
        <p:nvSpPr>
          <p:cNvPr id="114" name="Shape 97"/>
          <p:cNvSpPr/>
          <p:nvPr/>
        </p:nvSpPr>
        <p:spPr>
          <a:xfrm>
            <a:off x="502920" y="6035040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222B36"/>
          </a:solidFill>
          <a:ln/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7240" y="6153912"/>
            <a:ext cx="274320" cy="274320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1188720" y="603504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open inbound ports (outbound-only tunnel)  ·  TLS end-to-end  ·  signature-verified Twilio webhooks  ·  per-user rate limits  ·  daily token caps  ·  call-minute caps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MedHub — AI-Powered Medicare Tele-Sales Platform</dc:title>
  <dc:subject>PptxGenJS Presentation</dc:subject>
  <dc:creator>Adhithya Rubarajan</dc:creator>
  <cp:lastModifiedBy>Adhithya Rubarajan</cp:lastModifiedBy>
  <cp:revision>1</cp:revision>
  <dcterms:created xsi:type="dcterms:W3CDTF">2026-07-25T15:51:46Z</dcterms:created>
  <dcterms:modified xsi:type="dcterms:W3CDTF">2026-07-25T15:51:46Z</dcterms:modified>
</cp:coreProperties>
</file>