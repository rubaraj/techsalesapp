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MedHub adds an AI copilot to every seat in a Medicare sales operation: the agent on the live call, the supervisor watching the floor in real time, and the QA team after the call. It's a working POC on real telephony,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Medicare tele-sales is uniquely high-stakes: CMS rules govern the exact language on every call, supervisors are blind to calls in progress, QA covers a tiny sample days later, and agents are overloaded mid-conversation.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copilots, one pipeline. Design philosophy up front: human-in-the-loop by default — the AI proposes, humans approve every write, and QA runs on demand, never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1, part one: the live-call intelligence. Diarized transcription at 1–2 seconds, live CMS compliance scanning with severity and a compliant rephrase, LLM emotion tracking, and coaching tips that reference what was actually said.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1, part two: hands-free data capture and Atlas. Entities fill the form live with an AI chip until confirmed; 20 glossary terms trigger cards with deep links; Atlas has 19 tools, rich cards, live-call awareness, and human approval on every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2: ambient supervision. A live floor view with emotion chips, streaming compliance alerts with click-through to tagged transcripts, and the trust moment: supervisors edit the rule engine themselves and the next call obeys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3: autonomous QA. Every call persisted and auto-triaged, an on-demand scorecard with four evidence-backed dimensions and a disclosure checklist, runnable from the dashboard or Atlas — one shared evaluator, two entry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browser with the Twilio Voice SDK, Twilio cloud, media WebSocket into the Express API, Deepgram streaming STT, the in-memory call bus feeding the analysis pipeline, SSE out to both the agent panel and supervisor dashboard. Atlas (LangGraph) and the QA evaluator call Claude via OpenRouter; MongoDB underneath. All self-hosted on a Raspberry Pi behind a Cloudflare tunnel — near-zero infra cost, and the same containers lift to any cloud. One-command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and economics: every LLM interaction is logged with tokens and cache hits; the rule-based core is free and the LLM is used surgically (Haiku, cents per call, ~77% cache hit); hard guardrails on rate, tokens, and minutes; and graceful degradation — the core keeps working if the LLM is down. On the right, the five things that make this different from a generic AI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in three acts on one conversation: the scripted live call, the supervisor screen during it with a live rule edit, then the QA review of that call against a clean one. Status: all of this runs end-to-end today on real calls. Close on the one-liner: every call coached, supervised, and reviewed — without adding headcount.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39776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MEDICARE TELE-SALES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MedHub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Medicare Tele-Sales Platform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3561588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4290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Intelligence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7764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228" y="356158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34290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Supervision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13232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356158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54112" y="34290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2960" y="4343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layer for every seat in a Medicare sales operation — the agent on the call, the supervisor watching the floor, and the QA team after the call.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9646920" y="2240280"/>
            <a:ext cx="1737360" cy="17373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2674620"/>
            <a:ext cx="868680" cy="8686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9050">
            <a:solidFill>
              <a:srgbClr val="3C485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22960" y="5943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Adhithya Rubarajan</a:t>
            </a:r>
            <a:pPr indent="0" marL="0">
              <a:buNone/>
            </a:pPr>
            <a:r>
              <a:rPr lang="en-US" sz="14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[Presentation Date]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686800" y="5943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api.rubarajan.dev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minefield, run blind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marketing rules prohibit superlatives, guarantees, false urgency, and cost misrepresentation — violations risk fines and license loss. And the operation has no eyes on the conversation.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898648"/>
            <a:ext cx="731520" cy="7315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0815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speech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3272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“guaranteed” or “best plan” on a recorded line is a CMS violation — enforcement happens live, not in a report.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9866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55898" y="289864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30815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supervision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5898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can't hear calls in progress. Problems surface after the damage is done — if at all.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2492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8524" y="2898648"/>
            <a:ext cx="731520" cy="7315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3081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Sampled, late QA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8524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reviews a tiny sample, days later. Coaching arrives long after the moment it was needed.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5118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01150" y="2898648"/>
            <a:ext cx="731520" cy="731520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308152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agents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01150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juggle the conversation, forms, plan lookups, and compliance — all at once, mid-call.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exist to sell. Nothing watches the conversation itself.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copilots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on the same real-time call pipeline — diarized transcript in, actions and insight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688336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89407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27248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088136" y="365760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Co-Pilot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88136" y="4160520"/>
            <a:ext cx="2779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live call: transcription, compliance guardrails, emotion, coaching, hands-free data capture, and Atlas — the agentic assistant.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9704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88336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89407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9712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800600" y="365760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CoPilot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800600" y="4160520"/>
            <a:ext cx="2779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real-time: the whole floor at a glance, alerts as they fire, and a rule engine supervisors edit themselves.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02168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13064" y="2688336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289407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52176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513064" y="365760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Call QA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513064" y="4160520"/>
            <a:ext cx="27797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call: every call persisted and auto-triaged; a deep LLM scorecard on demand from the dashboard or Atlas.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5715000"/>
            <a:ext cx="10634472" cy="749808"/>
          </a:xfrm>
          <a:prstGeom prst="roundRect">
            <a:avLst>
              <a:gd name="adj" fmla="val 12195"/>
            </a:avLst>
          </a:prstGeom>
          <a:solidFill>
            <a:srgbClr val="E8590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9161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7150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default: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humans approve. QA runs on demand — never silently.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Co-Pilot — live call intelligence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 copilot that hears both sides of the call and reacts in seconds — while the supervisor sees the same alerts live.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618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diarized transcription — Twilio media streams → Deepgram, both speakers, ~1–2 s latency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031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828800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guardrails: every utterance scanned live; alerts show the exact phrase, the CMS rule, a compliant rephrase, and severity (critical / warn / info)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4436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670048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prospect emotion badge — LLM classifies positive / neutral / confused / frustrated / upset as the call unfolds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78561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511296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tips on violations &amp; emotion dips — an instant rule-based tip, then a context-aware LLM tip referencing what was actually said (debounced, max 5/call)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says “this plan is completely free” → red critical alert + coaching tip within 2 seconds — on the agent's screen and the supervisor's, simultaneously.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CONT.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capture + Atlas, the agentic assistant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the typing and the lookups; the agent keeps the conversation — and the final say on every write.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fills the lead form live — zip, medications with dosage/frequency, providers, pharmacies; fields flash with an “AI” chip until confirmed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Medicare glossary terms (CSNP, DSNP, IRMAA, AEP…) trigger explainer cards with deep-links — “View CSNP plans in 33101” once zip is captured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note summary auto-generated and preserved in the assistant feed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conversational agent, 19 tools (pipeline, plan search &amp; compare, drug coverage, eligibility…) answering with rich UI cards — and it reads the live transcript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actions are proposals the agent must approve — auditability by design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Prospect: “I take Eliquis five milligrams twice a day” → the drug lands on the lead record, no typing. Then Atlas quotes the conversation and drafts the agent's next 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5070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Supervisor CoPilot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floor at a glance — and the controls to shape how the AI enforces compliance, in production, instantly.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6187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floor view: every active call as a card — agent, direction, ticking duration, live emotion chip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0312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828800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alerts stream the moment they fire; each alert is clickable → the full tagged transcript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4436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670048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log with flagged badges, tag chips, and QA scores — filter by agent or flagged-only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78561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511296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own the rules: add / edit / disable compliance rules (phrase lists + regex, severity) in an admin UI — effective on the very next call, no deployment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adds the phrase “special deal” to a rule; the agent says it on the next call and it flags in amber — live.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Call QA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calls captured and triaged automatically — deep review on demand, never silently.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auto-persisted: full transcript, all tags (compliance, entities, emotion shifts, coaching), duration, direction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compliance hit auto-flags the call into the review queue — zero manual triage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LLM scorecard: overall 0–100 + four dimensions (compliance, discovery, communication, next steps), each with evidence, plus a CMS disclosure checklist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the dashboard button or by asking Atlas — one shared evaluator, two entry points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stats strip: recorded calls, flagged %, reviewed count, average score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2FA36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a clean discovery call scores ~85; the 4-violation call scores ~30 — with the exact violations cited as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phone call to the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telephony in, Server-Sent Events out — with LangGraph (Atlas) and the QA evaluator calling Claude via OpenRouter, and MongoDB underneath.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650492" cy="182880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3302" y="2240280"/>
            <a:ext cx="658368" cy="658368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894" y="240487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53512"/>
            <a:ext cx="1559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Twilio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" y="3282696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Voice SDK · TwiML app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09444" y="25146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574036" y="2057400"/>
            <a:ext cx="1650492" cy="182880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70098" y="2240280"/>
            <a:ext cx="658368" cy="658368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90" y="24048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19756" y="2953512"/>
            <a:ext cx="1559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WebSocket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47188" y="3282696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+ μ-law audio frames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206240" y="25146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370832" y="2057400"/>
            <a:ext cx="1650492" cy="182880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66894" y="2240280"/>
            <a:ext cx="658368" cy="65836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86" y="240487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16552" y="2953512"/>
            <a:ext cx="1559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STT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443984" y="3282696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both speakers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003036" y="25146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167628" y="2057400"/>
            <a:ext cx="1650492" cy="182880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63690" y="2240280"/>
            <a:ext cx="658368" cy="65836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282" y="240487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13348" y="2953512"/>
            <a:ext cx="1559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40780" y="3282696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entities · emotion · coaching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99832" y="25146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7964424" y="2057400"/>
            <a:ext cx="1650492" cy="182880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460486" y="2240280"/>
            <a:ext cx="658368" cy="65836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078" y="2404872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10144" y="2953512"/>
            <a:ext cx="1559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037576" y="3282696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panel + supervisor dashboard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596628" y="25146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761220" y="2057400"/>
            <a:ext cx="1650492" cy="1828800"/>
          </a:xfrm>
          <a:prstGeom prst="roundRect">
            <a:avLst>
              <a:gd name="adj" fmla="val 6094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257282" y="2240280"/>
            <a:ext cx="658368" cy="658368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1874" y="2404872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06940" y="2953512"/>
            <a:ext cx="15590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9834372" y="3282696"/>
            <a:ext cx="15041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panel · floor view · QA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777240" y="4114800"/>
            <a:ext cx="10634472" cy="1371600"/>
          </a:xfrm>
          <a:prstGeom prst="roundRect">
            <a:avLst>
              <a:gd name="adj" fmla="val 7333"/>
            </a:avLst>
          </a:prstGeom>
          <a:solidFill>
            <a:srgbClr val="222B36"/>
          </a:solidFill>
          <a:ln/>
          <a:effectLst>
            <a:outerShdw sx="100000" sy="100000" kx="0" ky="0" algn="bl" rotWithShape="0" blurRad="127000" dist="38100" dir="5400000">
              <a:srgbClr val="1A2027">
                <a:alpha val="1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51560" y="4462272"/>
            <a:ext cx="676656" cy="67665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957" y="4624669"/>
            <a:ext cx="351861" cy="351861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920240" y="4297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Home-lab to cloud</a:t>
            </a:r>
            <a:endParaRPr lang="en-US" sz="1650" dirty="0"/>
          </a:p>
        </p:txBody>
      </p:sp>
      <p:sp>
        <p:nvSpPr>
          <p:cNvPr id="44" name="Text 35"/>
          <p:cNvSpPr/>
          <p:nvPr/>
        </p:nvSpPr>
        <p:spPr>
          <a:xfrm>
            <a:off x="1920240" y="468172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on a Raspberry Pi behind a Cloudflare named tunnel at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api.rubarajan.dev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multi-project Caddy gateway.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8732520" y="4370832"/>
            <a:ext cx="0" cy="868680"/>
          </a:xfrm>
          <a:prstGeom prst="line">
            <a:avLst/>
          </a:prstGeom>
          <a:noFill/>
          <a:ln w="19050">
            <a:solidFill>
              <a:srgbClr val="3C4857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961120" y="43891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infra cost.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containers lift to any cloud.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777240" y="5715000"/>
            <a:ext cx="1951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777240" y="5989320"/>
            <a:ext cx="195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7 · Tailwind · Twilio Voice SDK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2948026" y="5715000"/>
            <a:ext cx="1951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2948026" y="5989320"/>
            <a:ext cx="195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· Express 5 · TypeScript · LangGraph · Zod</a:t>
            </a:r>
            <a:endParaRPr lang="en-US" sz="950" dirty="0"/>
          </a:p>
        </p:txBody>
      </p:sp>
      <p:sp>
        <p:nvSpPr>
          <p:cNvPr id="51" name="Text 42"/>
          <p:cNvSpPr/>
          <p:nvPr/>
        </p:nvSpPr>
        <p:spPr>
          <a:xfrm>
            <a:off x="5118811" y="5715000"/>
            <a:ext cx="1951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5118811" y="5989320"/>
            <a:ext cx="195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(Haiku / Opus) via OpenRouter · Deepgram Nova-3</a:t>
            </a:r>
            <a:endParaRPr lang="en-US" sz="950" dirty="0"/>
          </a:p>
        </p:txBody>
      </p:sp>
      <p:sp>
        <p:nvSpPr>
          <p:cNvPr id="53" name="Text 44"/>
          <p:cNvSpPr/>
          <p:nvPr/>
        </p:nvSpPr>
        <p:spPr>
          <a:xfrm>
            <a:off x="7289597" y="5715000"/>
            <a:ext cx="1951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7289597" y="5989320"/>
            <a:ext cx="195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 · swappable repo layer (Mongo / JSON / Databricks)</a:t>
            </a:r>
            <a:endParaRPr lang="en-US" sz="950" dirty="0"/>
          </a:p>
        </p:txBody>
      </p:sp>
      <p:sp>
        <p:nvSpPr>
          <p:cNvPr id="55" name="Text 46"/>
          <p:cNvSpPr/>
          <p:nvPr/>
        </p:nvSpPr>
        <p:spPr>
          <a:xfrm>
            <a:off x="9460382" y="5715000"/>
            <a:ext cx="1951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9460382" y="5989320"/>
            <a:ext cx="19513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· Docker · Cloudflare Tunnel · Caddy · systemd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COST · AUDIT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 — and cheap to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83664"/>
            <a:ext cx="566928" cy="566928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025396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7048" y="181051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audited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27048" y="2139696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token counts, and cache hits logged per interaction; live stats endpoint.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3054096"/>
            <a:ext cx="566928" cy="566928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19582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7048" y="2980944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by construction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527048" y="3310128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pipeline is free; LLM used surgically — Claude Haiku for emotion / coaching / QA ≈ cents per call, ~77% prompt-cache hit rate observed.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77240" y="4224528"/>
            <a:ext cx="566928" cy="56692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36626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7048" y="41513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on the AI itself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527048" y="448056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rate limits, daily token caps, call-minute caps, Twilio webhook signature verification.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77240" y="5394960"/>
            <a:ext cx="566928" cy="56692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53669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27048" y="5321808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gracefully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527048" y="565099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LLM is unreachable: transcription, compliance alerts, coaching tips, autofill, and info cards keep working — the core is rule-based.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720840" y="1828800"/>
            <a:ext cx="4690872" cy="4572000"/>
          </a:xfrm>
          <a:prstGeom prst="roundRect">
            <a:avLst>
              <a:gd name="adj" fmla="val 2400"/>
            </a:avLst>
          </a:prstGeom>
          <a:solidFill>
            <a:srgbClr val="222B36"/>
          </a:solidFill>
          <a:ln/>
          <a:effectLst>
            <a:outerShdw sx="100000" sy="100000" kx="0" ky="0" algn="bl" rotWithShape="0" blurRad="152400" dist="38100" dir="5400000">
              <a:srgbClr val="1A2027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040880" y="210312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62432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254203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edit AI guardrails themselves — in production, instantly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37413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34072" y="329184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QA evaluator surfaced as UI and as an Atlas tool — no duplicated AI logic</a:t>
            </a:r>
            <a:endParaRPr lang="en-US" sz="12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4123944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34072" y="4041648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+ coaching + compliance feed the QA scorecard — review sees the emotional arc</a:t>
            </a:r>
            <a:endParaRPr lang="en-US" sz="12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4873752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434072" y="4791456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on every AI write</a:t>
            </a:r>
            <a:endParaRPr lang="en-US" sz="12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5623560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434072" y="5541264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transparency per AI call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539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482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Scripted live call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72768" y="241401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Autofill → info card → violations → emotion → coaching → Atlas mid-call ask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182112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3332988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31272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Supervisor screen, same call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72768" y="34930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view + streaming alerts; edit a rule (“special deal”) and watch it enforce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261104"/>
            <a:ext cx="603504" cy="60350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411980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72768" y="4206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QA review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72768" y="45720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on the recorded 4-violation call vs. a clean discovery call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498080" y="1874520"/>
            <a:ext cx="3886200" cy="2194560"/>
          </a:xfrm>
          <a:prstGeom prst="roundRect">
            <a:avLst>
              <a:gd name="adj" fmla="val 5000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772400" y="21031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TODAY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0" y="2395728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+ inbound calls with real-time transcript · live flagging on both screens simultaneously · QA scorecards on real call data · rules edited live, enforced next call · 4 seeded demo calls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498080" y="425196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0" y="4462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772400" y="475488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Near-term: lead ↔ transcript linking · session auth · live listen-in.  Later: auto-QA sampling · trend analytics · CRM &amp; carrier integrations · multi-tenant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2960" y="580644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E8590C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5806440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call coached, every call supervised, every call reviewed — without adding headcount.”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MedHub — AI-Powered Medicare Tele-Sales Platform</dc:title>
  <dc:subject>PptxGenJS Presentation</dc:subject>
  <dc:creator>Adhithya Rubarajan</dc:creator>
  <cp:lastModifiedBy>Adhithya Rubarajan</cp:lastModifiedBy>
  <cp:revision>1</cp:revision>
  <dcterms:created xsi:type="dcterms:W3CDTF">2026-07-25T13:54:21Z</dcterms:created>
  <dcterms:modified xsi:type="dcterms:W3CDTF">2026-07-25T13:54:21Z</dcterms:modified>
</cp:coreProperties>
</file>