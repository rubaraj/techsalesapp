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CallCenter IQ is a working POC of three AI capability sets for any customer-facing sales or service operation. Everything shown runs today on a reference tele-sales implementation — the vertical is configuration, not code. This is a capabilities showcase, not a domain product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is domain-neutral: any regulated sales or service operation has restricted speech on recorded lines, blind supervision, sampled and late QA, and overloaded agents. The conversation itself is unwatched.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capability pillars on one pipeline. Design stance: human-in-the-loop by default — every AI write is a proposal a person approves — with Auto-Pilot as an explicit opt-in where the customer's policy allows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is the agentic copilot embedded in the application: full tool use over live business data, UI navigation, drafted actions behind human approval (or Auto-Pilot where policy allows), voice commands to place calls, live entity capture that stages new records, and automatic caller identification with a disambiguation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is the conversation intelligence layer. Deterministic rules give sub-second inline compliance alerts; an AI review layer catches paraphrased violations; sentiment shifts and behavioral coaching rules fire proactively. Cost engineering: one merged structured LLM call per 15-second window covers sentiment, coaching, and compliance review together; rule engines are free. Graceful degradation with a self-healing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is the command center plus governance. Live monitoring with instant mid-call backfill and events pinned to their trigger lines. The governance story: business users own the compliance rules, coaching rules, and the QA rubric itself from admin screens — no deployment. On-demand scoring produces evidence-quoted scorecards, and every AI interaction is fully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capability section. The framing is a capture problem, not a staffing problem: missed calls, leaky voicemail, cold callbacks. The capability in one line: a voice AI that answers what agents can't, converses, looks things up live, builds the record mid-call, and hands off to a human at any moment — governed by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triggers for the same capability: agent-invoked delegation, ring timeout, and nobody-available (after hours or all busy). The outcome: no inbound call goes unanswered.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flow: disclose, recognise returning callers, converse naturally, perform live lookups, create and save the record mid-call, schedule the callback, hand off cleanly. The caller experiences a conversation; the system ends with a record, a booking, and a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differentiator: live system access during the conversation, through the same governed tool layer as the chat copilot. Two points to land: answers come from real system data, not model knowledge; and identity is injected server-side, so the AI can never act as anyone but the agent it answers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record building: on-screen navigation and real-time field population saved before hang-up; free-text mentions matched to master-data catalogs as structured links; unmatched content preserved in notes and flagged for human verification; returning callers enrich the existing record rather than duplicating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Takeover is seamless in three senses: the agent watches the live transcript and can take over mid-sentence; the customer experiences one continuous call; and one record spans both portions, so QA and compliance analysis run across the whole conversation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split: the business edits the playbook, voice, greeting, and capability switches self-service, effective on the next call. Compliance guardrails, disclosure, identity injection, and audit stay locked server-side and cannot be edited away. Business agility with policy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guardrails: mandatory disclosure, facts-not-advice, no sensitive identifiers, and off-means-off (a disabled capability is withheld from the AI, not discouraged). Then the deliberate scope boundary: no outbound AI calling, no AI recommendations — the AI gathers and prepares; the licensed human advises and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slide, brief: every system call is time-capped so a slow backend never leaves the caller in silence — the AI acknowledges and continues; and data captured late in the call is reconciled onto the record afterwards, so nothing is lost to conversational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inbound AI reports into the same audit and cost telemetry as every other capability: per-call cost from logged tokens and latency, utilisation by trigger, and linear per-call economics that can be projected to a full workforce before committing.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slide: this is a working build. Real inbound and outbound calls, all three pillars on one conversation, business-user governance exercised live, full audit. The screenshots come from the reference implementation — a regulated tele-sales build; the domain is configuration,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reusability argument: the platform is six domain-agnostic building blocks. Configurable rules engines, structured LLM outputs, real-time event streaming, human-in-the-loop approval, a tool-using agent framework, and audit/cost telemetry. A new vertical means new data model and rule content — the AI layer is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invitation slide. Three worked examples — financial services, retail/telecom, collections — and a fourth card for the audience: bring your rules, your playbook, your rubric; the pillars stay the same. End by asking which pillar would move the needle first in their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 three acts on one conversation, then the business outcomes: compliance risk reduction, faster agent ramp-up, supervisor leverage. Close on the one-liner.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the full deployment path of the reference implementation. Clients through the Cloudflare edge; Twilio carries calls and streams media; a containerized, cloud-portable app server hosts the tunnel connector, gateway, API, agentic AI layer, and real-time analysis; Deepgram and Claude (via OpenRouter) as external AI services; Ollama, Qdrant, and MongoDB on-host for embeddings, hybrid RAG, and persistence. Security posture along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· AI CAPABILITY SHOWCASE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CallCenter IQ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for customer-facing sales &amp; service operations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561588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42900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4048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35615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4290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35615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34290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QA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960" y="43434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on a reference tele-sales implementation — the domain is swappable: contact centers, financial services, retail, any regulated sales or service operation.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9966960" y="1371600"/>
            <a:ext cx="1463040" cy="14630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7373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carry the risk — and nobody can see them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selling and service, compliance policies restrict what can be said on a recorded line. Yet supervisors are blind to live calls, QA samples a fraction days later, and agents juggle systems mid-conversation.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898648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0815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speech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phrase on a recorded line is a violation — fines, license exposure, remediation. Enforcement happens live, not in a report.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55898" y="289864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30815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supervision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can't hear calls in progress. Problems surface after the damage is done — if at all.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8524" y="289864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Sampled, late QA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a tiny sample, days later. Coaching arrives long after the moment it was needed.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01150" y="2898648"/>
            <a:ext cx="731520" cy="731520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308152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agents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juggle the conversation, forms, product lookups, and policy — all at once, mid-call.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exist to sell and serve. Nothing watches the conversation itself.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one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the same real-time conversation pipeline — transcript in, actions and insight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88336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894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27248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088136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88136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assistant with full tool use: answers from live business data, drives the UI, drafts actions, and places calls — approval-gated, or autonomous in Auto-Pilot mode.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88336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894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9712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800600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800600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transcription, two-layer compliance monitoring, sentiment shift detection, and proactive coaching — cost-engineered to run on every call.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02168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13064" y="2688336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894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52176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513064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513064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with instant mid-call backfill; business users edit the rules, coaching, and QA rubric — no deployment, full audit trail.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77240" y="5715000"/>
            <a:ext cx="10634472" cy="749808"/>
          </a:xfrm>
          <a:prstGeom prst="roundRect">
            <a:avLst>
              <a:gd name="adj" fmla="val 12195"/>
            </a:avLst>
          </a:prstGeom>
          <a:solidFill>
            <a:srgbClr val="E8590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9161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7150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default: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humans approve — with an opt-in Auto-Pilot mode where policy allows.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works alongside the agent — sees the live call, uses the tools, drives the UI, and asks permission before it acts.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conversational assistant with full tool use — queries live business data and answers with rich UI cards, aware of the active call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actions — emails, record updates, notes — for one-click human approval, or executes autonomously in Auto-Pilot mode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integration: places and controls phone calls from natural language — “call John Smith”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capture: entities mentioned in conversation auto-fill forms across screens — including staged records that don't exist yet, created in one click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caller intelligence: inbound callers identified and their record opened automatically; ambiguous matches get a disambiguation flow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“Call John Smith.” The copilot finds the record, dials, and the call panel opens as it connects — then drafts the follow-up email for one-click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070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of every conversation, watched by two layers — deterministic rules for speed, AI for nuance.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7576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with speaker separation, streamed into the agent's workspace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4480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656588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compliance: instant deterministic rules (admin-configurable phrases &amp; patterns) — violating sentence highlighted inline with a corrective suggestion in under a second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1383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325624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layer catches paraphrased violations keyword rules can't — “you'd be crazy not to take this”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18287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2994660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customer sentiment with shift detection (neutral → confused → positive), surfaced to agent and supervisor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85191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3663696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coaching engine: configurable behavioral rules — talk-ratio imbalance, long monologues, missed discovery questions — nudge before the mistake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520946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74920" y="433273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Cost-engineered &amp; resilient: one merged structured LLM call per 15-second window covers sentiment + coaching + compliance; if the LLM drops, rules continue, the UI shows “AI degraded,” and a self-healing probe restores service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paraphrases a guarantee — keyword rules stay silent, the AI layer flags it with a compliant rephrase. Then we kill the LLM: rule-based monitoring never blinks.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operation on one screen — and the AI itself governed by business users, not engineers.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monitoring: click any active call and watch the transcript stream in real time — joining mid-call instantly backfills the full conversation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coaching, and sentiment events pinned to the exact lines that triggered them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 governance: business users edit compliance rules, coaching rules, and the QA scoring rubric (dimensions, weights, disclosure checklists) — effective on the next call, no deployment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AI quality scoring against the custom rubric — evidence-quoted scorecards, strengths, coaching points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auditability: every AI interaction logged with model, tokens, latency, and output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MOMENT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joins a call mid-conversation — the full transcript backfills instantly, every alert pinned to its line. Then edits a rule; the very next call obeys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61264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· AUTOMATED INBOUND CALL HANDLING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unanswered call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1907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inbound call is a lost opportunity that never enters the funnel. This is a capture problem, not a staffing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3401568" cy="2514600"/>
          </a:xfrm>
          <a:prstGeom prst="roundRect">
            <a:avLst>
              <a:gd name="adj" fmla="val 4000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2761488"/>
            <a:ext cx="749808" cy="74980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948940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36576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nobody took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9848" y="409651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Ring-outs and after-hours calls simply vanish. The intent existed — the funnel never saw 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9704" y="2468880"/>
            <a:ext cx="3401568" cy="2514600"/>
          </a:xfrm>
          <a:prstGeom prst="roundRect">
            <a:avLst>
              <a:gd name="adj" fmla="val 4000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2312" y="2761488"/>
            <a:ext cx="749808" cy="74980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2948940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6576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converts poorly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82312" y="409651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callers leave one; fewer answer the return call. The channel leaks by design.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02168" y="2468880"/>
            <a:ext cx="3401568" cy="2514600"/>
          </a:xfrm>
          <a:prstGeom prst="roundRect">
            <a:avLst>
              <a:gd name="adj" fmla="val 4000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94776" y="2761488"/>
            <a:ext cx="749808" cy="74980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228" y="2948940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3657600"/>
            <a:ext cx="2816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arrive cold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94776" y="4096512"/>
            <a:ext cx="2816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someone calls back, the moment has passed — the intent has cooled or gone elsewhere.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5349240"/>
            <a:ext cx="10634472" cy="114300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7424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349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that answers calls staffed agents can't take — holds a real conversation, does live system lookups, builds the customer record as it talks, and hands to a human at any moment. The agent, not engineering, controls how it behaves.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the AI takes a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capability, three triggers — the operation decides when the AI answers.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2706624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91236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36758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Agent-invoked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" y="416052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sees the incoming call and chooses to hand it to the AI — a deliberate delegation, not a fallback.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9704" y="2377440"/>
            <a:ext cx="3401568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706624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291236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6758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timeout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82312" y="416052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picks up within the ring window — the AI answers before the caller gives up.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02168" y="2377440"/>
            <a:ext cx="3401568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94776" y="2706624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16" y="291236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94776" y="36758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available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94776" y="4160520"/>
            <a:ext cx="28163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hours, or every agent already on a call — the AI answers instead of voicemail.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77240" y="5623560"/>
            <a:ext cx="10634472" cy="713232"/>
          </a:xfrm>
          <a:prstGeom prst="roundRect">
            <a:avLst>
              <a:gd name="adj" fmla="val 12821"/>
            </a:avLst>
          </a:prstGeom>
          <a:solidFill>
            <a:srgbClr val="222B36"/>
          </a:solidFill>
          <a:ln/>
        </p:spPr>
      </p:sp>
      <p:sp>
        <p:nvSpPr>
          <p:cNvPr id="21" name="Text 16"/>
          <p:cNvSpPr/>
          <p:nvPr/>
        </p:nvSpPr>
        <p:spPr>
          <a:xfrm>
            <a:off x="777240" y="5623560"/>
            <a:ext cx="106344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capability, three triggers — no inbound call goes unanswered.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the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seven steps — all of it visible to a supervising human in real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0229" y="274320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05" y="289407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stating it's automated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59290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14738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87890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17727" y="274320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03" y="289407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1314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397034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callers by number — confirms, doesn't re-interrogate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96789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52237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925389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55226" y="274320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02" y="289407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88813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934533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intake naturally, not as a form read aloud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234287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389735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62887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792724" y="274320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894076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26311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72031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availability, locations &amp; eligibility from real systems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771785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927233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000385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330222" y="2743200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098" y="2894076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63809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7009529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record — saved mid-call, not after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309283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8464731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8537883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867721" y="2743200"/>
            <a:ext cx="603504" cy="603504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597" y="2894076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501307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547027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callback while the caller is still on the line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846782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10002230" y="2286000"/>
            <a:ext cx="1409482" cy="265176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10075382" y="2359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10405219" y="2743200"/>
            <a:ext cx="603504" cy="603504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095" y="2894076"/>
            <a:ext cx="301752" cy="30175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0038806" y="3493008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10084526" y="3858768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to a human — at any moment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777240" y="5257800"/>
            <a:ext cx="10634472" cy="1051560"/>
          </a:xfrm>
          <a:prstGeom prst="roundRect">
            <a:avLst>
              <a:gd name="adj" fmla="val 8696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051560" y="5504688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693" y="5652821"/>
            <a:ext cx="252374" cy="252374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783080" y="525780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experiences a conversation.  </a:t>
            </a:r>
            <a:pPr indent="0" marL="0">
              <a:lnSpc>
                <a:spcPct val="106000"/>
              </a:lnSpc>
              <a:buNone/>
            </a:pPr>
            <a:r>
              <a:rPr lang="en-US" sz="13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finishes with a saved customer record, a booked callback, and a full transcript ready for QA.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access, mid-conversation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AI calls the same governed tools as the chat copilot — availability search, location-based lookups, calendar, eligibility.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5166360" cy="2331720"/>
          </a:xfrm>
          <a:prstGeom prst="roundRect">
            <a:avLst>
              <a:gd name="adj" fmla="val 431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734056"/>
            <a:ext cx="786384" cy="78638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930652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3648456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 data, not model knowledge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88136" y="4123944"/>
            <a:ext cx="4544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about availability, locations, and eligibility come from live lookups into your systems — the model never guesses, and says so when a lookup has nothing.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54496" y="2423160"/>
            <a:ext cx="5166360" cy="2331720"/>
          </a:xfrm>
          <a:prstGeom prst="roundRect">
            <a:avLst>
              <a:gd name="adj" fmla="val 431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392" y="2734056"/>
            <a:ext cx="786384" cy="78638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930652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5392" y="3648456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injected server-side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565392" y="4123944"/>
            <a:ext cx="45445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acts only as the agent it is answering for. Identity is attached by the server, never chosen by the model — it cannot impersonate, escalate, or act on its own behalf.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10312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52120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7004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9028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98348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52120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5040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tool layer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7064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786384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5212080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3076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same guardrails, same audit trail as the chat assistant — one governed surface, two front ends.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builds itself, 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166360" cy="2057400"/>
          </a:xfrm>
          <a:prstGeom prst="roundRect">
            <a:avLst>
              <a:gd name="adj" fmla="val 48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03120"/>
            <a:ext cx="658368" cy="658368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2677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21031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populate on screen, live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69848" y="2871216"/>
            <a:ext cx="4581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caller speaks, the screen navigates to the record and fields fill in real time — the record is saved before the call ends.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828800"/>
            <a:ext cx="5166360" cy="2057400"/>
          </a:xfrm>
          <a:prstGeom prst="roundRect">
            <a:avLst>
              <a:gd name="adj" fmla="val 48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28816" y="2103120"/>
            <a:ext cx="658368" cy="65836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2677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10312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becomes structured data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47104" y="2871216"/>
            <a:ext cx="4581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locations, and other mentions are matched against master-data catalogs and attached as structured links — queryable, not prose.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77240" y="4160520"/>
            <a:ext cx="5166360" cy="2057400"/>
          </a:xfrm>
          <a:prstGeom prst="roundRect">
            <a:avLst>
              <a:gd name="adj" fmla="val 48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434840"/>
            <a:ext cx="658368" cy="65836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5994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37944" y="44348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said is discarded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069848" y="5202936"/>
            <a:ext cx="4581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doesn't match a catalog is written to the notes and flagged for human verification — no detail silently dropped.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60520"/>
            <a:ext cx="5166360" cy="2057400"/>
          </a:xfrm>
          <a:prstGeom prst="roundRect">
            <a:avLst>
              <a:gd name="adj" fmla="val 48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28816" y="4434840"/>
            <a:ext cx="658368" cy="65836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994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4348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callers enrich, not duplicate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47104" y="5202936"/>
            <a:ext cx="45811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number updates the existing record instead of creating a new one — the history stays in one place.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hang-up, the conversation is already a clean, structured, deduplicated record — with a human-verification queue for anything uncertain.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human takeover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4679168" cy="777240"/>
          </a:xfrm>
          <a:prstGeom prst="roundRect">
            <a:avLst>
              <a:gd name="adj" fmla="val 10588"/>
            </a:avLst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5615925" y="2011680"/>
            <a:ext cx="5795787" cy="777240"/>
          </a:xfrm>
          <a:prstGeom prst="roundRect">
            <a:avLst>
              <a:gd name="adj" fmla="val 10588"/>
            </a:avLst>
          </a:prstGeom>
          <a:solidFill>
            <a:srgbClr val="50708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11680"/>
            <a:ext cx="4313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intake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890245" y="2011680"/>
            <a:ext cx="54300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takes over — mid-sentence if needed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3044952"/>
            <a:ext cx="10634472" cy="0"/>
          </a:xfrm>
          <a:prstGeom prst="line">
            <a:avLst/>
          </a:prstGeom>
          <a:noFill/>
          <a:ln w="25400">
            <a:solidFill>
              <a:srgbClr val="F98E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18104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call  ·  one record  ·  one QA analysis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776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3803904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never out of the loop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554480" y="4151376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transcript streams to the agent's screen while the AI talks — takeover is one click, at any moment.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736592"/>
            <a:ext cx="548640" cy="5486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8737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70001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notices nothing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1554480" y="5047488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transfer, no restart, no repeating themselves — one continuous conversation from their side.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" y="5632704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76986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559612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and the review don't split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554480" y="59436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spans the AI and human portions; QA, compliance, and coaching analysis run across the whole call unchanged.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owns the behaviour — not engineering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166360" cy="3794760"/>
          </a:xfrm>
          <a:prstGeom prst="roundRect">
            <a:avLst>
              <a:gd name="adj" fmla="val 2651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640080" cy="6400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Business-editable, self-service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5351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88950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playbook — what's asked, and in what order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753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51129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greeting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970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13308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switches — turn any function on or off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1888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47548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the very next call — no deployment, no ticket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254496" y="1783080"/>
            <a:ext cx="5166360" cy="3794760"/>
          </a:xfrm>
          <a:prstGeom prst="roundRect">
            <a:avLst>
              <a:gd name="adj" fmla="val 265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254496" y="1783080"/>
            <a:ext cx="5166360" cy="3794760"/>
          </a:xfrm>
          <a:prstGeom prst="roundRect">
            <a:avLst>
              <a:gd name="adj" fmla="val 2651"/>
            </a:avLst>
          </a:prstGeom>
          <a:solidFill>
            <a:srgbClr val="222B36"/>
          </a:solidFill>
          <a:ln/>
        </p:spPr>
      </p:sp>
      <p:sp>
        <p:nvSpPr>
          <p:cNvPr id="18" name="Shape 11"/>
          <p:cNvSpPr/>
          <p:nvPr/>
        </p:nvSpPr>
        <p:spPr>
          <a:xfrm>
            <a:off x="6528816" y="2057400"/>
            <a:ext cx="640080" cy="6400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836" y="221742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06056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server-side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2953512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94576" y="2889504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 cannot be edited away</a:t>
            </a:r>
            <a:endParaRPr lang="en-US" sz="12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3575304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94576" y="3511296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Automated-call disclosure is not optional</a:t>
            </a:r>
            <a:endParaRPr lang="en-US" sz="125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4197096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894576" y="413308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injection and tool permissions enforced by the server</a:t>
            </a:r>
            <a:endParaRPr lang="en-US" sz="125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4818888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894576" y="4754880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audited — behaviour changes included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 with policy control — the governance model in one slide.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66594" cy="288036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121408"/>
            <a:ext cx="731520" cy="73152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3042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33272" y="299923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3272" y="3438144"/>
            <a:ext cx="195453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opens by stating it's automated — non-negotiable and not editable.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99866" y="1828800"/>
            <a:ext cx="2466594" cy="288036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55898" y="212140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23042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55898" y="299923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never advice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55898" y="3438144"/>
            <a:ext cx="195453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availability and information from the systems — no recommendations, no persuasion, no selling.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22492" y="1828800"/>
            <a:ext cx="2466594" cy="288036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78524" y="2121408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23042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8524" y="299923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identifiers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8524" y="3438144"/>
            <a:ext cx="195453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requests them — by design, not by instruction.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5118" y="1828800"/>
            <a:ext cx="2466594" cy="288036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1150" y="2121408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3042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1150" y="299923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means off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01150" y="3438144"/>
            <a:ext cx="195453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disabled capability is genuinely withheld from the AI — not merely discouraged in a prompt.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77240" y="5120640"/>
            <a:ext cx="10634472" cy="1234440"/>
          </a:xfrm>
          <a:prstGeom prst="roundRect">
            <a:avLst>
              <a:gd name="adj" fmla="val 7407"/>
            </a:avLst>
          </a:prstGeom>
          <a:solidFill>
            <a:srgbClr val="222B3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55040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512064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AI calling, and AI-made recommendations of any kind. The AI gathers and prepares — the licensed human advises and closes. In a regulated room, that boundary is a feature.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live voice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is unforgiving: there is no spinner. Two engineering choices keep the conversation alive.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5166360" cy="2651760"/>
          </a:xfrm>
          <a:prstGeom prst="roundRect">
            <a:avLst>
              <a:gd name="adj" fmla="val 379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798064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00380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136" y="3767328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is never an option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88136" y="4251960"/>
            <a:ext cx="4544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call is time-capped. If a backend is slow, the AI acknowledges and moves the conversation forward — the caller never sits in dead air waiting for a database.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2468880"/>
            <a:ext cx="5166360" cy="2651760"/>
          </a:xfrm>
          <a:prstGeom prst="roundRect">
            <a:avLst>
              <a:gd name="adj" fmla="val 379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392" y="2798064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132" y="300380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5392" y="3767328"/>
            <a:ext cx="4544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details still land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565392" y="4251960"/>
            <a:ext cx="4544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surfaces late in the call is reconciled onto the saved record afterwards — information is never lost to conversational ordering.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always comes first; the systems catch up in the background.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like everything else in this deck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3401568" cy="2926080"/>
          </a:xfrm>
          <a:prstGeom prst="roundRect">
            <a:avLst>
              <a:gd name="adj" fmla="val 3438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9848" y="2249424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455164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32186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cost, tracked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69848" y="3703320"/>
            <a:ext cx="28163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is logged with tokens and latency — cost per handled call is a report, not an estimate.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9704" y="1920240"/>
            <a:ext cx="3401568" cy="2926080"/>
          </a:xfrm>
          <a:prstGeom prst="roundRect">
            <a:avLst>
              <a:gd name="adj" fmla="val 3438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2312" y="2249424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2455164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2312" y="32186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Utilisation, visible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82312" y="3703320"/>
            <a:ext cx="28163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calls the AI answered, when, and on which trigger — agent-invoked, ring timeout, or nobody available.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02168" y="1920240"/>
            <a:ext cx="3401568" cy="2926080"/>
          </a:xfrm>
          <a:prstGeom prst="roundRect">
            <a:avLst>
              <a:gd name="adj" fmla="val 3438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94776" y="2249424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16" y="2455164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4776" y="321868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Projectable to a workforce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94776" y="3703320"/>
            <a:ext cx="28163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economics scale linearly — model the cost of answering every missed call before committing to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audit spine as the rest of the platform — one place to see what the AI did, and what it cost.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build, not a mockup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65376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025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real phone calls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1214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and inbound, with real-time transcription streaming to agent and supervisor screens simultaneously.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2889504"/>
            <a:ext cx="548640" cy="54864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266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254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pillars, one conversation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actions, compliance flags, sentiment, coaching, and scoring all demonstrated on the same call, end to end.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849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business users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16966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the QA rubric edited from admin screens during the demo — enforced on the very next call.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74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8737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logged with model, tokens, latency, and output.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from the reference implementation — a regulated tele-sales build. The domain (data model, rules, vocabulary) is configuration, not code.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0" y="1691640"/>
            <a:ext cx="2377440" cy="4069080"/>
          </a:xfrm>
          <a:prstGeom prst="roundRect">
            <a:avLst>
              <a:gd name="adj" fmla="val 4231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pic>
        <p:nvPicPr>
          <p:cNvPr id="22" name="Image 4" descr="/root/deck/ss_appro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856232"/>
            <a:ext cx="2011680" cy="30998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an email — human approval required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052560" y="1691640"/>
            <a:ext cx="2377440" cy="1965960"/>
          </a:xfrm>
          <a:prstGeom prst="roundRect">
            <a:avLst>
              <a:gd name="adj" fmla="val 5116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pic>
        <p:nvPicPr>
          <p:cNvPr id="25" name="Image 5" descr="/root/deck/ss_navig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1874520"/>
            <a:ext cx="2048256" cy="10424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25712" y="2999232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navigates the app from chat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9052560" y="3931920"/>
            <a:ext cx="2377440" cy="1828800"/>
          </a:xfrm>
          <a:prstGeom prst="roundRect">
            <a:avLst>
              <a:gd name="adj" fmla="val 5500"/>
            </a:avLst>
          </a:prstGeom>
          <a:solidFill>
            <a:srgbClr val="222B36"/>
          </a:solidFill>
          <a:ln/>
          <a:effectLst>
            <a:outerShdw sx="100000" sy="100000" kx="0" ky="0" algn="bl" rotWithShape="0" blurRad="101600" dist="38100" dir="5400000">
              <a:srgbClr val="1A2027">
                <a:alpha val="14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92354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5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923544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is demonstrable live, on request.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domain-agnostic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103120"/>
            <a:ext cx="676656" cy="67665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27228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engines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phrases &amp; patterns, coaching behaviors, QA rubric — admin-edited, hot-reloaded, versioned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9704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5736" y="2103120"/>
            <a:ext cx="676656" cy="67665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27228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LLM outputs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64024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schema-validated responses; merged calls per window — predictable cost and latency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02168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03120"/>
            <a:ext cx="676656" cy="67665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227228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2872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76488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alerts, sentiment, coaching pushed live to every screen that needs them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3272" y="4114800"/>
            <a:ext cx="676656" cy="67665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428396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37944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51560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approve → execute, with opt-in Auto-Pilot; every action attributable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9704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45736" y="4114800"/>
            <a:ext cx="676656" cy="67665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28396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408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 framework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64024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tools in the reference build — swap the toolset to swap the domain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02168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114800"/>
            <a:ext cx="676656" cy="676656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64" y="428396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62872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cost telemetry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76488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tokens, latency, and output logged per interaction; live stats endpoint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77240" y="5852160"/>
            <a:ext cx="10634472" cy="658368"/>
          </a:xfrm>
          <a:prstGeom prst="roundRect">
            <a:avLst>
              <a:gd name="adj" fmla="val 13889"/>
            </a:avLst>
          </a:prstGeom>
          <a:solidFill>
            <a:srgbClr val="222B36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852160"/>
            <a:ext cx="10634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vertical means swapping the data model and the rule content — not rebuilding the AI.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in your domain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pillars — different rules, vocabulary, and data model. Three examples and an invitation: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62432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807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&amp; disclosure rules enforced live · KYC details captured mid-call · scoring against your regulatory rubric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55898" y="2624328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2807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telecom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claims compliance · churn-save coaching nudges · order and account details auto-captured into the CRM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8524" y="262432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28072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outreach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Contact-practice rules enforced in real time · required-disclosure checklists · dispute and hardship detection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01150" y="2624328"/>
            <a:ext cx="731520" cy="73152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80720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compliance policies, your coaching playbook, your QA rubric — the three pillars stay the same.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pillar would move the needle first in your operation?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AGENDA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539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482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Live call with the copilot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72768" y="241401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Voice-commanded dial → data capture → compliance flags → sentiment → coaching → agentic actions with approval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182112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3332988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31272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Command center, same call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72768" y="34930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mid-call with instant backfill; edit a rule and watch the next call obey it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4261104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411980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72768" y="42062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On-demand quality scoring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72768" y="45720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multi-violation call vs. a clean one against a rubric edited on screen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498080" y="1874520"/>
            <a:ext cx="3886200" cy="3657600"/>
          </a:xfrm>
          <a:prstGeom prst="roundRect">
            <a:avLst>
              <a:gd name="adj" fmla="val 3000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772400" y="21031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772400" y="2423160"/>
            <a:ext cx="33375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down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violations caught in the moment, on every call, not in a sampled review.
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ramp faster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real-time coaching and hands-free data capture from day one.
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scale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person effectively present on every live call, with AI they govern themselves.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580644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E8590C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5806440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coached, supervised, and reviewed — without adding headcount.”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8404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786384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view — every hop,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286000" cy="43434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1554480"/>
            <a:ext cx="2331720" cy="4343400"/>
          </a:xfrm>
          <a:prstGeom prst="roundRect">
            <a:avLst>
              <a:gd name="adj" fmla="val 392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92424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&amp; TELEPHONY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3383280" cy="4343400"/>
          </a:xfrm>
          <a:prstGeom prst="roundRect">
            <a:avLst>
              <a:gd name="adj" fmla="val 2703"/>
            </a:avLst>
          </a:prstGeom>
          <a:solidFill>
            <a:srgbClr val="F5F7F9"/>
          </a:solidFill>
          <a:ln w="15875">
            <a:solidFill>
              <a:srgbClr val="222B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1344" y="1618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 — CONTAINERIZED · CLOUD-PORTABLE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75520" y="1554480"/>
            <a:ext cx="1828800" cy="19659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21824" y="1618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875520" y="370332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21824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VECTORS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066544"/>
            <a:ext cx="310896" cy="31089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423" y="2141159"/>
            <a:ext cx="161666" cy="16166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52144" y="202082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browser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236829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· alert feed (SSE) · rules &amp; QA admin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40080" y="301752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311810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23" y="3192719"/>
            <a:ext cx="161666" cy="16166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52144" y="307238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browser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68096" y="341985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· Twilio Voice SDK · call panel + copilot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0080" y="4069080"/>
            <a:ext cx="20116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9808" y="4169664"/>
            <a:ext cx="310896" cy="31089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23" y="4244279"/>
            <a:ext cx="161666" cy="16166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52144" y="412394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phone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68096" y="447141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 — inbound &amp; outbound calls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383280" y="1965960"/>
            <a:ext cx="2057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493008" y="206654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623" y="2141159"/>
            <a:ext cx="161666" cy="16166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895344" y="20208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edge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511296" y="2368296"/>
            <a:ext cx="1819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 · TLS termination · named tunnel entry — stable custom domain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3383280" y="3566160"/>
            <a:ext cx="2057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493008" y="3666744"/>
            <a:ext cx="310896" cy="31089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623" y="3741359"/>
            <a:ext cx="161666" cy="16166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95344" y="36210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Cloud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3511296" y="3968496"/>
            <a:ext cx="1819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TwiML app (outbound) · phone number (inbound) · bidirectional media streams · signed webhooks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172200" y="192024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81928" y="202082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6543" y="2095439"/>
            <a:ext cx="161666" cy="16166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84264" y="19751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connector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6300216" y="232257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— zero open inbound ports</a:t>
            </a:r>
            <a:endParaRPr lang="en-US" sz="850" dirty="0"/>
          </a:p>
        </p:txBody>
      </p:sp>
      <p:sp>
        <p:nvSpPr>
          <p:cNvPr id="44" name="Shape 36"/>
          <p:cNvSpPr/>
          <p:nvPr/>
        </p:nvSpPr>
        <p:spPr>
          <a:xfrm>
            <a:off x="6172200" y="260604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281928" y="2706624"/>
            <a:ext cx="310896" cy="31089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6543" y="2781239"/>
            <a:ext cx="161666" cy="16166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684264" y="26609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gateway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6300216" y="300837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· multi-app path routing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6172200" y="329184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281928" y="3392424"/>
            <a:ext cx="310896" cy="310896"/>
          </a:xfrm>
          <a:prstGeom prst="ellipse">
            <a:avLst/>
          </a:prstGeom>
          <a:solidFill>
            <a:srgbClr val="222B36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6543" y="3467039"/>
            <a:ext cx="161666" cy="16166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684264" y="334670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API (TypeScript)</a:t>
            </a:r>
            <a:endParaRPr lang="en-US" sz="1050" dirty="0"/>
          </a:p>
        </p:txBody>
      </p:sp>
      <p:sp>
        <p:nvSpPr>
          <p:cNvPr id="53" name="Text 43"/>
          <p:cNvSpPr/>
          <p:nvPr/>
        </p:nvSpPr>
        <p:spPr>
          <a:xfrm>
            <a:off x="6300216" y="3694176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/api · SSE streams out · WS media receiver · systemd-managed</a:t>
            </a:r>
            <a:endParaRPr lang="en-US" sz="850" dirty="0"/>
          </a:p>
        </p:txBody>
      </p:sp>
      <p:sp>
        <p:nvSpPr>
          <p:cNvPr id="54" name="Shape 44"/>
          <p:cNvSpPr/>
          <p:nvPr/>
        </p:nvSpPr>
        <p:spPr>
          <a:xfrm>
            <a:off x="6172200" y="416052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6281928" y="4261104"/>
            <a:ext cx="310896" cy="31089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543" y="4335719"/>
            <a:ext cx="161666" cy="161666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684264" y="421538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6300216" y="4562856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(LangGraph, 19 tools) · QA evaluator · hybrid RAG retriever (BM25 + vector, RRF-fused) · prompt cache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6172200" y="4956048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6281928" y="5056632"/>
            <a:ext cx="310896" cy="31089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6543" y="5131247"/>
            <a:ext cx="161666" cy="161666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6684264" y="501091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050" dirty="0"/>
          </a:p>
        </p:txBody>
      </p:sp>
      <p:sp>
        <p:nvSpPr>
          <p:cNvPr id="63" name="Text 51"/>
          <p:cNvSpPr/>
          <p:nvPr/>
        </p:nvSpPr>
        <p:spPr>
          <a:xfrm>
            <a:off x="6300216" y="535838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call bus · compliance rules · entities · sentiment · coaching</a:t>
            </a:r>
            <a:endParaRPr lang="en-US" sz="850" dirty="0"/>
          </a:p>
        </p:txBody>
      </p:sp>
      <p:sp>
        <p:nvSpPr>
          <p:cNvPr id="64" name="Shape 52"/>
          <p:cNvSpPr/>
          <p:nvPr/>
        </p:nvSpPr>
        <p:spPr>
          <a:xfrm>
            <a:off x="7726680" y="2487168"/>
            <a:ext cx="0" cy="11887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65" name="Shape 53"/>
          <p:cNvSpPr/>
          <p:nvPr/>
        </p:nvSpPr>
        <p:spPr>
          <a:xfrm>
            <a:off x="7726680" y="3172968"/>
            <a:ext cx="0" cy="11887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66" name="Shape 54"/>
          <p:cNvSpPr/>
          <p:nvPr/>
        </p:nvSpPr>
        <p:spPr>
          <a:xfrm>
            <a:off x="7726680" y="4023360"/>
            <a:ext cx="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67" name="Shape 55"/>
          <p:cNvSpPr/>
          <p:nvPr/>
        </p:nvSpPr>
        <p:spPr>
          <a:xfrm>
            <a:off x="7726680" y="4818888"/>
            <a:ext cx="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68" name="Shape 56"/>
          <p:cNvSpPr/>
          <p:nvPr/>
        </p:nvSpPr>
        <p:spPr>
          <a:xfrm>
            <a:off x="10012680" y="1938528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69" name="Shape 57"/>
          <p:cNvSpPr/>
          <p:nvPr/>
        </p:nvSpPr>
        <p:spPr>
          <a:xfrm>
            <a:off x="10122408" y="2011680"/>
            <a:ext cx="256032" cy="256032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83856" y="2073128"/>
            <a:ext cx="133137" cy="133137"/>
          </a:xfrm>
          <a:prstGeom prst="rect">
            <a:avLst/>
          </a:prstGeom>
        </p:spPr>
      </p:pic>
      <p:sp>
        <p:nvSpPr>
          <p:cNvPr id="71" name="Text 58"/>
          <p:cNvSpPr/>
          <p:nvPr/>
        </p:nvSpPr>
        <p:spPr>
          <a:xfrm>
            <a:off x="10469880" y="19751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Deepgram</a:t>
            </a:r>
            <a:endParaRPr lang="en-US" sz="950" dirty="0"/>
          </a:p>
        </p:txBody>
      </p:sp>
      <p:sp>
        <p:nvSpPr>
          <p:cNvPr id="72" name="Text 59"/>
          <p:cNvSpPr/>
          <p:nvPr/>
        </p:nvSpPr>
        <p:spPr>
          <a:xfrm>
            <a:off x="10140696" y="22494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STT — both call tracks</a:t>
            </a:r>
            <a:endParaRPr lang="en-US" sz="750" dirty="0"/>
          </a:p>
        </p:txBody>
      </p:sp>
      <p:sp>
        <p:nvSpPr>
          <p:cNvPr id="73" name="Shape 60"/>
          <p:cNvSpPr/>
          <p:nvPr/>
        </p:nvSpPr>
        <p:spPr>
          <a:xfrm>
            <a:off x="10012680" y="2761488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74" name="Shape 61"/>
          <p:cNvSpPr/>
          <p:nvPr/>
        </p:nvSpPr>
        <p:spPr>
          <a:xfrm>
            <a:off x="10122408" y="2834640"/>
            <a:ext cx="256032" cy="256032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3856" y="2896088"/>
            <a:ext cx="133137" cy="133137"/>
          </a:xfrm>
          <a:prstGeom prst="rect">
            <a:avLst/>
          </a:prstGeom>
        </p:spPr>
      </p:pic>
      <p:sp>
        <p:nvSpPr>
          <p:cNvPr id="76" name="Text 62"/>
          <p:cNvSpPr/>
          <p:nvPr/>
        </p:nvSpPr>
        <p:spPr>
          <a:xfrm>
            <a:off x="10469880" y="2798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950" dirty="0"/>
          </a:p>
        </p:txBody>
      </p:sp>
      <p:sp>
        <p:nvSpPr>
          <p:cNvPr id="77" name="Text 63"/>
          <p:cNvSpPr/>
          <p:nvPr/>
        </p:nvSpPr>
        <p:spPr>
          <a:xfrm>
            <a:off x="10140696" y="3072384"/>
            <a:ext cx="1316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/ Opus — LLM calls</a:t>
            </a:r>
            <a:endParaRPr lang="en-US" sz="750" dirty="0"/>
          </a:p>
        </p:txBody>
      </p:sp>
      <p:sp>
        <p:nvSpPr>
          <p:cNvPr id="78" name="Shape 64"/>
          <p:cNvSpPr/>
          <p:nvPr/>
        </p:nvSpPr>
        <p:spPr>
          <a:xfrm>
            <a:off x="10012680" y="4041648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79" name="Shape 65"/>
          <p:cNvSpPr/>
          <p:nvPr/>
        </p:nvSpPr>
        <p:spPr>
          <a:xfrm>
            <a:off x="10122408" y="4114800"/>
            <a:ext cx="256032" cy="25603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3856" y="4176248"/>
            <a:ext cx="133137" cy="133137"/>
          </a:xfrm>
          <a:prstGeom prst="rect">
            <a:avLst/>
          </a:prstGeom>
        </p:spPr>
      </p:pic>
      <p:sp>
        <p:nvSpPr>
          <p:cNvPr id="81" name="Text 66"/>
          <p:cNvSpPr/>
          <p:nvPr/>
        </p:nvSpPr>
        <p:spPr>
          <a:xfrm>
            <a:off x="10469880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embedder</a:t>
            </a:r>
            <a:endParaRPr lang="en-US" sz="950" dirty="0"/>
          </a:p>
        </p:txBody>
      </p:sp>
      <p:sp>
        <p:nvSpPr>
          <p:cNvPr id="82" name="Text 67"/>
          <p:cNvSpPr/>
          <p:nvPr/>
        </p:nvSpPr>
        <p:spPr>
          <a:xfrm>
            <a:off x="10140696" y="435254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· 768-d</a:t>
            </a:r>
            <a:endParaRPr lang="en-US" sz="750" dirty="0"/>
          </a:p>
        </p:txBody>
      </p:sp>
      <p:sp>
        <p:nvSpPr>
          <p:cNvPr id="83" name="Shape 68"/>
          <p:cNvSpPr/>
          <p:nvPr/>
        </p:nvSpPr>
        <p:spPr>
          <a:xfrm>
            <a:off x="10012680" y="466344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84" name="Shape 69"/>
          <p:cNvSpPr/>
          <p:nvPr/>
        </p:nvSpPr>
        <p:spPr>
          <a:xfrm>
            <a:off x="10122408" y="4736592"/>
            <a:ext cx="256032" cy="2560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3856" y="4798040"/>
            <a:ext cx="133137" cy="133137"/>
          </a:xfrm>
          <a:prstGeom prst="rect">
            <a:avLst/>
          </a:prstGeom>
        </p:spPr>
      </p:pic>
      <p:sp>
        <p:nvSpPr>
          <p:cNvPr id="86" name="Text 70"/>
          <p:cNvSpPr/>
          <p:nvPr/>
        </p:nvSpPr>
        <p:spPr>
          <a:xfrm>
            <a:off x="10469880" y="4700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950" dirty="0"/>
          </a:p>
        </p:txBody>
      </p:sp>
      <p:sp>
        <p:nvSpPr>
          <p:cNvPr id="87" name="Text 71"/>
          <p:cNvSpPr/>
          <p:nvPr/>
        </p:nvSpPr>
        <p:spPr>
          <a:xfrm>
            <a:off x="10140696" y="4974336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5 collections · hybrid</a:t>
            </a:r>
            <a:endParaRPr lang="en-US" sz="750" dirty="0"/>
          </a:p>
        </p:txBody>
      </p:sp>
      <p:sp>
        <p:nvSpPr>
          <p:cNvPr id="88" name="Shape 72"/>
          <p:cNvSpPr/>
          <p:nvPr/>
        </p:nvSpPr>
        <p:spPr>
          <a:xfrm>
            <a:off x="10012680" y="5285232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76200" dist="25400" dir="5400000">
              <a:srgbClr val="1A2027">
                <a:alpha val="10000"/>
              </a:srgbClr>
            </a:outerShdw>
          </a:effectLst>
        </p:spPr>
      </p:sp>
      <p:sp>
        <p:nvSpPr>
          <p:cNvPr id="89" name="Shape 73"/>
          <p:cNvSpPr/>
          <p:nvPr/>
        </p:nvSpPr>
        <p:spPr>
          <a:xfrm>
            <a:off x="10122408" y="5358384"/>
            <a:ext cx="256032" cy="2560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9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3856" y="5419832"/>
            <a:ext cx="133137" cy="133137"/>
          </a:xfrm>
          <a:prstGeom prst="rect">
            <a:avLst/>
          </a:prstGeom>
        </p:spPr>
      </p:pic>
      <p:sp>
        <p:nvSpPr>
          <p:cNvPr id="91" name="Text 74"/>
          <p:cNvSpPr/>
          <p:nvPr/>
        </p:nvSpPr>
        <p:spPr>
          <a:xfrm>
            <a:off x="10469880" y="5321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92" name="Text 75"/>
          <p:cNvSpPr/>
          <p:nvPr/>
        </p:nvSpPr>
        <p:spPr>
          <a:xfrm>
            <a:off x="10140696" y="55961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app + reference DBs</a:t>
            </a:r>
            <a:endParaRPr lang="en-US" sz="750" dirty="0"/>
          </a:p>
        </p:txBody>
      </p:sp>
      <p:sp>
        <p:nvSpPr>
          <p:cNvPr id="93" name="Shape 76"/>
          <p:cNvSpPr/>
          <p:nvPr/>
        </p:nvSpPr>
        <p:spPr>
          <a:xfrm>
            <a:off x="2670048" y="2331720"/>
            <a:ext cx="694944" cy="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94" name="Text 77"/>
          <p:cNvSpPr/>
          <p:nvPr/>
        </p:nvSpPr>
        <p:spPr>
          <a:xfrm>
            <a:off x="2560320" y="2084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SSE</a:t>
            </a:r>
            <a:endParaRPr lang="en-US" sz="750" dirty="0"/>
          </a:p>
        </p:txBody>
      </p:sp>
      <p:sp>
        <p:nvSpPr>
          <p:cNvPr id="95" name="Shape 78"/>
          <p:cNvSpPr/>
          <p:nvPr/>
        </p:nvSpPr>
        <p:spPr>
          <a:xfrm flipV="1">
            <a:off x="2670048" y="2926080"/>
            <a:ext cx="694944" cy="3657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96" name="Shape 79"/>
          <p:cNvSpPr/>
          <p:nvPr/>
        </p:nvSpPr>
        <p:spPr>
          <a:xfrm>
            <a:off x="2670048" y="3611880"/>
            <a:ext cx="694944" cy="3657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97" name="Text 80"/>
          <p:cNvSpPr/>
          <p:nvPr/>
        </p:nvSpPr>
        <p:spPr>
          <a:xfrm>
            <a:off x="2487168" y="3913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audio</a:t>
            </a:r>
            <a:endParaRPr lang="en-US" sz="750" dirty="0"/>
          </a:p>
        </p:txBody>
      </p:sp>
      <p:sp>
        <p:nvSpPr>
          <p:cNvPr id="98" name="Shape 81"/>
          <p:cNvSpPr/>
          <p:nvPr/>
        </p:nvSpPr>
        <p:spPr>
          <a:xfrm>
            <a:off x="2670048" y="4498848"/>
            <a:ext cx="694944" cy="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99" name="Text 82"/>
          <p:cNvSpPr/>
          <p:nvPr/>
        </p:nvSpPr>
        <p:spPr>
          <a:xfrm>
            <a:off x="2615184" y="42611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PSTN</a:t>
            </a:r>
            <a:endParaRPr lang="en-US" sz="750" dirty="0"/>
          </a:p>
        </p:txBody>
      </p:sp>
      <p:sp>
        <p:nvSpPr>
          <p:cNvPr id="100" name="Shape 83"/>
          <p:cNvSpPr/>
          <p:nvPr/>
        </p:nvSpPr>
        <p:spPr>
          <a:xfrm>
            <a:off x="4407408" y="3154680"/>
            <a:ext cx="0" cy="41148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headEnd type="triangle"/>
            <a:tailEnd type="none"/>
          </a:ln>
        </p:spPr>
      </p:sp>
      <p:sp>
        <p:nvSpPr>
          <p:cNvPr id="101" name="Text 84"/>
          <p:cNvSpPr/>
          <p:nvPr/>
        </p:nvSpPr>
        <p:spPr>
          <a:xfrm>
            <a:off x="4480560" y="32186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· media WS</a:t>
            </a:r>
            <a:endParaRPr lang="en-US" sz="750" dirty="0"/>
          </a:p>
        </p:txBody>
      </p:sp>
      <p:sp>
        <p:nvSpPr>
          <p:cNvPr id="102" name="Shape 85"/>
          <p:cNvSpPr/>
          <p:nvPr/>
        </p:nvSpPr>
        <p:spPr>
          <a:xfrm flipV="1">
            <a:off x="5458968" y="2240280"/>
            <a:ext cx="694944" cy="22860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03" name="Text 86"/>
          <p:cNvSpPr/>
          <p:nvPr/>
        </p:nvSpPr>
        <p:spPr>
          <a:xfrm>
            <a:off x="5394960" y="19568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750" dirty="0"/>
          </a:p>
        </p:txBody>
      </p:sp>
      <p:sp>
        <p:nvSpPr>
          <p:cNvPr id="104" name="Shape 87"/>
          <p:cNvSpPr/>
          <p:nvPr/>
        </p:nvSpPr>
        <p:spPr>
          <a:xfrm flipV="1">
            <a:off x="9299448" y="2331720"/>
            <a:ext cx="685800" cy="114300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05" name="Text 88"/>
          <p:cNvSpPr/>
          <p:nvPr/>
        </p:nvSpPr>
        <p:spPr>
          <a:xfrm>
            <a:off x="9235440" y="27249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audio</a:t>
            </a:r>
            <a:endParaRPr lang="en-US" sz="750" dirty="0"/>
          </a:p>
        </p:txBody>
      </p:sp>
      <p:sp>
        <p:nvSpPr>
          <p:cNvPr id="106" name="Shape 89"/>
          <p:cNvSpPr/>
          <p:nvPr/>
        </p:nvSpPr>
        <p:spPr>
          <a:xfrm flipV="1">
            <a:off x="9299448" y="3127248"/>
            <a:ext cx="685800" cy="1124712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07" name="Text 90"/>
          <p:cNvSpPr/>
          <p:nvPr/>
        </p:nvSpPr>
        <p:spPr>
          <a:xfrm>
            <a:off x="9217152" y="35204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750" dirty="0"/>
          </a:p>
        </p:txBody>
      </p:sp>
      <p:sp>
        <p:nvSpPr>
          <p:cNvPr id="108" name="Shape 91"/>
          <p:cNvSpPr/>
          <p:nvPr/>
        </p:nvSpPr>
        <p:spPr>
          <a:xfrm flipV="1">
            <a:off x="9299448" y="4306824"/>
            <a:ext cx="685800" cy="128016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09" name="Text 92"/>
          <p:cNvSpPr/>
          <p:nvPr/>
        </p:nvSpPr>
        <p:spPr>
          <a:xfrm>
            <a:off x="9454896" y="40599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750" dirty="0"/>
          </a:p>
        </p:txBody>
      </p:sp>
      <p:sp>
        <p:nvSpPr>
          <p:cNvPr id="110" name="Shape 93"/>
          <p:cNvSpPr/>
          <p:nvPr/>
        </p:nvSpPr>
        <p:spPr>
          <a:xfrm>
            <a:off x="9299448" y="4645152"/>
            <a:ext cx="685800" cy="283464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11" name="Text 94"/>
          <p:cNvSpPr/>
          <p:nvPr/>
        </p:nvSpPr>
        <p:spPr>
          <a:xfrm>
            <a:off x="9345168" y="4901184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750" dirty="0"/>
          </a:p>
        </p:txBody>
      </p:sp>
      <p:sp>
        <p:nvSpPr>
          <p:cNvPr id="112" name="Shape 95"/>
          <p:cNvSpPr/>
          <p:nvPr/>
        </p:nvSpPr>
        <p:spPr>
          <a:xfrm>
            <a:off x="9299448" y="5413248"/>
            <a:ext cx="685800" cy="137160"/>
          </a:xfrm>
          <a:prstGeom prst="line">
            <a:avLst/>
          </a:prstGeom>
          <a:noFill/>
          <a:ln w="19050">
            <a:solidFill>
              <a:srgbClr val="8A9AA8"/>
            </a:solidFill>
            <a:prstDash val="solid"/>
            <a:tailEnd type="triangle"/>
          </a:ln>
        </p:spPr>
      </p:sp>
      <p:sp>
        <p:nvSpPr>
          <p:cNvPr id="113" name="Text 96"/>
          <p:cNvSpPr/>
          <p:nvPr/>
        </p:nvSpPr>
        <p:spPr>
          <a:xfrm>
            <a:off x="9272016" y="51572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750" dirty="0"/>
          </a:p>
        </p:txBody>
      </p:sp>
      <p:sp>
        <p:nvSpPr>
          <p:cNvPr id="114" name="Shape 97"/>
          <p:cNvSpPr/>
          <p:nvPr/>
        </p:nvSpPr>
        <p:spPr>
          <a:xfrm>
            <a:off x="502920" y="6035040"/>
            <a:ext cx="11201400" cy="502920"/>
          </a:xfrm>
          <a:prstGeom prst="roundRect">
            <a:avLst>
              <a:gd name="adj" fmla="val 14545"/>
            </a:avLst>
          </a:prstGeom>
          <a:solidFill>
            <a:srgbClr val="222B36"/>
          </a:solidFill>
          <a:ln/>
        </p:spPr>
      </p:sp>
      <p:pic>
        <p:nvPicPr>
          <p:cNvPr id="11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6153912"/>
            <a:ext cx="274320" cy="274320"/>
          </a:xfrm>
          <a:prstGeom prst="rect">
            <a:avLst/>
          </a:prstGeom>
        </p:spPr>
      </p:pic>
      <p:sp>
        <p:nvSpPr>
          <p:cNvPr id="116" name="Text 98"/>
          <p:cNvSpPr/>
          <p:nvPr/>
        </p:nvSpPr>
        <p:spPr>
          <a:xfrm>
            <a:off x="1188720" y="6035040"/>
            <a:ext cx="10378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open inbound ports (outbound-only tunnel)  ·  TLS end-to-end  ·  signature-verified Twilio webhooks  ·  per-user rate limits  ·  daily token caps  ·  call-minute caps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CallCenter IQ — AI Capabilities for Customer-Facing Sales &amp; Service</dc:title>
  <dc:subject>PptxGenJS Presentation</dc:subject>
  <dc:creator>Adhithya Rubarajan</dc:creator>
  <cp:lastModifiedBy>Adhithya Rubarajan</cp:lastModifiedBy>
  <cp:revision>1</cp:revision>
  <dcterms:created xsi:type="dcterms:W3CDTF">2026-07-28T04:36:06Z</dcterms:created>
  <dcterms:modified xsi:type="dcterms:W3CDTF">2026-07-28T04:36:06Z</dcterms:modified>
</cp:coreProperties>
</file>