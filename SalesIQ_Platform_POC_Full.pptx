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Center Intel is a working POC of three AI capability sets for any customer-facing sales or service operation. Everything shown runs today on a reference tele-sales implementation — the vertical is configuration, not code. This is a capabilities showcase, not a domain product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problems and the capability answering each. Top row: calls that go unanswered plus the hours agents lose to callbacks, re-dials and list-working — AI now covers both directions of that workload; compliance and coaching that arrive after the call is over; quality judged from a tiny sample against an unwritten standard. Bottom row: ramp-up happening on live prospects with no measurement of readiness; and AI spend that cannot be attributed per call or projected to a workforce. Every one is a cost already being paid. The boundary holds throughout — the AI gathers, prepares and measures; the licensed human advises and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capability pillars on one pipeline. Design stance: human-in-the-loop by default — every AI write is a proposal a person approves — with Auto-Pilot as an explicit opt-in where the customer's policy allows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 is the agentic copilot embedded in the application: full tool use over live business data, UI navigation, drafted actions behind human approval (or Auto-Pilot where policy allows), voice commands to place calls, live entity capture that stages new records, and automatic caller identification with a disambiguation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is the conversation intelligence layer. Deterministic rules give sub-second inline compliance alerts; an AI review layer catches paraphrased violations; sentiment shifts and behavioral coaching rules fire proactively. Cost engineering: one merged structured LLM call per 15-second window covers sentiment, coaching, and compliance review together; rule engines are free. Graceful degradation with a self-healing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 is the command center plus governance. Live monitoring with instant mid-call backfill and events pinned to their trigger lines. The governance story: business users own the compliance rules, coaching rules, and the QA scoring criteria themselves from admin screens — no deployment. On-demand scoring produces evidence-quoted scorecards, and every AI interaction is fully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flow: disclose, recognise returning callers, converse naturally, perform live lookups, create and save the record mid-call, schedule the callback, hand off cleanly. The caller experiences a conversation; the system ends with a record, a booking, and a transcript. On engineering: every system call is time-capped so a slow backend never leaves dead air, and anything captured late in the call is reconciled onto the record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on one slide. Grounding: answers come from live system lookups through the same governed tool layer as the chat copilot, and identity is injected server-side so the AI can never act as anyone but the agent it answers for. Record building: fields populate on screen and save mid-call, free text is matched to master-data catalogs as structured links, unmatched detail is preserved in notes and flagged for human verification, and returning callers enrich the existing record rather than duplicating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Takeover is seamless in three senses: the agent watches the live transcript and can take over mid-sentence, the customer experiences one continuous call, and one record spans both halves so QA and compliance run across the whole conversation. Four guardrails hold throughout: mandatory disclosure, facts-not-advice, no sensitive identifiers, and off-means-off. Then the deliberate scope boundary — no outbound AI calling, no AI recommendations; the AI gathers and prepares, the licensed human advises and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in three shifts: compliance risk falls because violations are caught in the moment on every call rather than in a sampled review; agents ramp faster with real-time coaching and hands-free capture; supervisors scale to effective presence on every call with AI they govern themselves. Close on the one-liner.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invitation slide. Three worked examples — financial services, retail/telecom, collections — and a fourth card for the audience: bring your rules, your playbook, your criteria; the pillars stay the same. End by asking which pillar would move the needle first in their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reusability argument: the platform is six domain-agnostic building blocks. Configurable rules engines, structured LLM outputs, real-time event streaming, human-in-the-loop approval, a tool-using agent framework, and audit/cost telemetry. A new vertical means new data model and rule content — the AI layer is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the full deployment path of the reference implementation. Clients through the Cloudflare edge; Twilio carries calls and streams media; a containerized, cloud-portable app server hosts the tunnel connector, gateway, API, agentic AI layer, and real-time analysis; Deepgram and Claude (via OpenRouter) as external AI services; Ollama, Qdrant, and MongoDB on-host for embeddings, hybrid RAG, and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64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2C364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77724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 · AI CAPABILITY SHOWCASE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Intel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for customer-facing sales &amp; service operations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3561588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42900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4048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356158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42900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356158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34290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QA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2960" y="434340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on a reference tele-sales implementation — the domain is swappable: contact centers, financial services, retail, any regulated sales or service operation.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9966960" y="1371600"/>
            <a:ext cx="1463040" cy="14630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7373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397764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WHAT WE BUILT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problems, and the capability built against each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33502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exist to sell and serve — nothing watches the conversation itself. Every problem below is a cost the operation already pays.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47088"/>
            <a:ext cx="3337560" cy="2331720"/>
          </a:xfrm>
          <a:prstGeom prst="roundRect">
            <a:avLst>
              <a:gd name="adj" fmla="val 4314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96696" y="2029968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305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63624" y="20116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unanswered, hours lost to chasing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14984" y="263347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dial when the agent is on another call or off shift. The hours that remain go on callbacks, re-dials and list-working just to find who is still interested.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014984" y="3328416"/>
            <a:ext cx="2862072" cy="0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14984" y="3401568"/>
            <a:ext cx="28620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covers inbound — hand-over, ring timeout, nobody online — and the outbound chase: callbacks, re-dials, first-pass qualification. Agents get the hours back for people ready to talk.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25696" y="1847088"/>
            <a:ext cx="3337560" cy="2331720"/>
          </a:xfrm>
          <a:prstGeom prst="roundRect">
            <a:avLst>
              <a:gd name="adj" fmla="val 4314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645152" y="2029968"/>
            <a:ext cx="457200" cy="45720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13055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20116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enforced after the fact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663440" y="263347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anyone reads the transcript, the words have been said and the exposure is on the books. Coaching lags the same way — a week late changes nothing.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3328416"/>
            <a:ext cx="2862072" cy="0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663440" y="3401568"/>
            <a:ext cx="28620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with in-the-moment compliance flags and coaching against business-edited rules, plus auto-filled records and sentiment — one merged AI pass, not three.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74152" y="1847088"/>
            <a:ext cx="3337560" cy="2331720"/>
          </a:xfrm>
          <a:prstGeom prst="roundRect">
            <a:avLst>
              <a:gd name="adj" fmla="val 4314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293608" y="2029968"/>
            <a:ext cx="457200" cy="45720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305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0536" y="20116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judged from a sample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8311896" y="263347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hears a handful of calls per agent, so most issues never surface. The standard lives in each reviewer's head, so scoring drifts and comparison is unreliable.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311896" y="3328416"/>
            <a:ext cx="2862072" cy="0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8311896" y="3401568"/>
            <a:ext cx="28620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scorecards on every call against scoring criteria supervisors edit themselves, a live supervision view, and full call records with markers pinned inline.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7240" y="4379976"/>
            <a:ext cx="5161788" cy="1783080"/>
          </a:xfrm>
          <a:prstGeom prst="roundRect">
            <a:avLst>
              <a:gd name="adj" fmla="val 5641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996696" y="4562856"/>
            <a:ext cx="457200" cy="4572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663440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63624" y="4544568"/>
            <a:ext cx="4155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happens on live prospects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014984" y="516636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agent's first genuinely difficult call is with a real prospect, a real recording and a real compliance obligation. Role-play costs supervisor time and measures nothing.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1014984" y="5586984"/>
            <a:ext cx="4686300" cy="0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1014984" y="5660136"/>
            <a:ext cx="46863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calls against admin-editable AI personas, graded by the same scorecards as production — so “ready for the phones” becomes a number, not a judgement call.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249924" y="4379976"/>
            <a:ext cx="5161788" cy="1783080"/>
          </a:xfrm>
          <a:prstGeom prst="roundRect">
            <a:avLst>
              <a:gd name="adj" fmla="val 5641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6469380" y="4562856"/>
            <a:ext cx="457200" cy="457200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4663440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036308" y="4544568"/>
            <a:ext cx="41559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with no attribution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6487668" y="5166360"/>
            <a:ext cx="4686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arrives as one vendor invoice — no per-call figure, no per-agent figure, no split between features. Cost per call and cost at 100 agents can only be estimated.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487668" y="5586984"/>
            <a:ext cx="4686300" cy="0"/>
          </a:xfrm>
          <a:prstGeom prst="line">
            <a:avLst/>
          </a:prstGeom>
          <a:noFill/>
          <a:ln w="12700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39" name="Text 32"/>
          <p:cNvSpPr/>
          <p:nvPr/>
        </p:nvSpPr>
        <p:spPr>
          <a:xfrm>
            <a:off x="6487668" y="5660136"/>
            <a:ext cx="46863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and per-user cost from real usage logs, split by bucket, projected to a 100-agent workforce, and drillable straight to the transcript behind any figure.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777240" y="6272784"/>
            <a:ext cx="10634472" cy="438912"/>
          </a:xfrm>
          <a:prstGeom prst="roundRect">
            <a:avLst>
              <a:gd name="adj" fmla="val 18750"/>
            </a:avLst>
          </a:prstGeom>
          <a:solidFill>
            <a:srgbClr val="222B36"/>
          </a:solidFill>
          <a:ln/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777240" y="6272784"/>
            <a:ext cx="10634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problems, one platform — the AI gathers, prepares and measures; the licensed human advises and closes.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pillars, one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on the same real-time conversation pipeline — transcript in, actions and insight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8136" y="2688336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89407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27248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088136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88136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assistant with full tool use: answers from live business data, drives the UI, drafts actions, and places calls — approval-gated, or autonomous in Auto-Pilot mode.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9704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800600" y="2688336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89407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9712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800600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 Intelligence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800600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transcription, two-layer compliance monitoring, sentiment shift detection, and proactive coaching — cost-engineered to run on every call.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02168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513064" y="2688336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289407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52176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513064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Command Center &amp; AI Governance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513064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with instant mid-call backfill; business users edit the rules, coaching, and QA scoring criteria — no deployment, full audit trail.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77240" y="5715000"/>
            <a:ext cx="10634472" cy="749808"/>
          </a:xfrm>
          <a:prstGeom prst="roundRect">
            <a:avLst>
              <a:gd name="adj" fmla="val 12195"/>
            </a:avLst>
          </a:prstGeom>
          <a:solidFill>
            <a:srgbClr val="E8590C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9161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7150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default: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humans approve — with an opt-in Auto-Pilot mode where policy allows.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works alongside the agent — sees the live call, uses the tools, drives the UI, and asks permission before it acts.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conversational assistant with full tool use — queries live business data and answers with rich UI cards, aware of the active call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actions — emails, record updates, notes — for one-click human approval, or executes autonomously in Auto-Pilot mode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integration: places and controls phone calls from natural language — “call John Smith”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capture: entities mentioned in conversation auto-fill forms across screens — including staged records that don't exist yet, created in one click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caller intelligence: inbound callers identified and their record opened automatically; ambiguous matches get a disambiguation flow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says “call John Smith.” The copilot finds the record, dials, and the call panel opens as it connects — then drafts the follow-up email for one-click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5070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 Intelligence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of every conversation, watched by two layers — deterministic rules for speed, AI for nuance.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7576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with speaker separation, streamed into the agent's workspace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4480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656588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compliance: instant deterministic rules (admin-configurable phrases &amp; patterns) — violating sentence highlighted inline with a corrective suggestion in under a second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1383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325624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layer catches paraphrased violations keyword rules can't — “you'd be crazy not to take this”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18287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2994660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customer sentiment with shift detection (neutral → confused → positive), surfaced to agent and supervisor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85191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3663696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coaching engine: configurable behavioral rules — talk-ratio imbalance, long monologues, missed discovery questions — nudge before the mistake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520946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74920" y="4332732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Cost-engineered &amp; resilient: one merged structured LLM call per 15-second window covers sentiment + coaching + compliance; if the LLM drops, rules continue, the UI shows “AI degraded,” and a self-healing probe restores service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4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paraphrases a guarantee — keyword rules stay silent, but the AI layer flags it and offers a compliant rephrase. If the model drops out, rule-based monitoring never blinks.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Command Center &amp; AI Governance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operation on one screen — and the AI itself governed by business users, not engineers.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monitoring: click any active call and watch the transcript stream in real time — joining mid-call instantly backfills the full conversation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coaching, and sentiment events pinned to the exact lines that triggered them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AI governance: business users edit compliance rules, coaching rules, and the QA scoring criteria (dimensions, weights, disclosure checklists) — effective on the next call, no deployment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AI quality scoring against the custom criteria — evidence-quoted scorecards, strengths, coaching points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auditability: every AI interaction logged with model, tokens, latency, and output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2FA36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joins a call mid-conversation — the full transcript backfills instantly, every alert pinned to its line. Edit a rule, and the very next call obeys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61264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 · AUTOMATED INBOUND CALL HANDLING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the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answers when the agent hands it over mid-ring, when the ring times out, or when nobody is online at all. One conversation, seven steps — all of it visible to a supervising human in real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0392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0229" y="256032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05" y="271119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stating it's automated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59290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14738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38789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17727" y="2560320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03" y="271119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1314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397034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callers by number — confirms, doesn't re-interrogate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96789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852237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3925389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55226" y="256032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102" y="271119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88813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934533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intake naturally, not as a form read aloud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234287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389735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5462887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792724" y="2560320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711196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26311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72031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availability, locations &amp; eligibility from real systems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771785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6927233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7000385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330222" y="2560320"/>
            <a:ext cx="603504" cy="60350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098" y="2711196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63809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7009529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record — saved mid-call, not after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309283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8464731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8537883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867721" y="2560320"/>
            <a:ext cx="603504" cy="603504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597" y="2711196"/>
            <a:ext cx="301752" cy="30175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501307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547027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callback while the caller is still on the line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846782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10002230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8" name="Text 40"/>
          <p:cNvSpPr/>
          <p:nvPr/>
        </p:nvSpPr>
        <p:spPr>
          <a:xfrm>
            <a:off x="10075382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9" name="Shape 41"/>
          <p:cNvSpPr/>
          <p:nvPr/>
        </p:nvSpPr>
        <p:spPr>
          <a:xfrm>
            <a:off x="10405219" y="2560320"/>
            <a:ext cx="603504" cy="603504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095" y="2711196"/>
            <a:ext cx="301752" cy="30175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0038806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10084526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to a human — at any moment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777240" y="4956048"/>
            <a:ext cx="5166360" cy="1481328"/>
          </a:xfrm>
          <a:prstGeom prst="roundRect">
            <a:avLst>
              <a:gd name="adj" fmla="val 6173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54" name="Shape 45"/>
          <p:cNvSpPr/>
          <p:nvPr/>
        </p:nvSpPr>
        <p:spPr>
          <a:xfrm>
            <a:off x="1033272" y="5193792"/>
            <a:ext cx="512064" cy="51206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529" y="5332049"/>
            <a:ext cx="235549" cy="235549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691640" y="519379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experiences a conversation</a:t>
            </a:r>
            <a:endParaRPr lang="en-US" sz="1450" dirty="0"/>
          </a:p>
        </p:txBody>
      </p:sp>
      <p:sp>
        <p:nvSpPr>
          <p:cNvPr id="57" name="Text 47"/>
          <p:cNvSpPr/>
          <p:nvPr/>
        </p:nvSpPr>
        <p:spPr>
          <a:xfrm>
            <a:off x="1051560" y="579729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with a saved customer record, a booked callback, and a full transcript ready for QA.</a:t>
            </a:r>
            <a:endParaRPr lang="en-US" sz="1200" dirty="0"/>
          </a:p>
        </p:txBody>
      </p:sp>
      <p:sp>
        <p:nvSpPr>
          <p:cNvPr id="58" name="Shape 48"/>
          <p:cNvSpPr/>
          <p:nvPr/>
        </p:nvSpPr>
        <p:spPr>
          <a:xfrm>
            <a:off x="6254496" y="4956048"/>
            <a:ext cx="5157216" cy="1481328"/>
          </a:xfrm>
          <a:prstGeom prst="roundRect">
            <a:avLst>
              <a:gd name="adj" fmla="val 6173"/>
            </a:avLst>
          </a:prstGeom>
          <a:solidFill>
            <a:srgbClr val="222B36"/>
          </a:solidFill>
          <a:ln/>
        </p:spPr>
        <p:txBody>
          <a:bodyPr/>
          <a:p/>
        </p:txBody>
      </p:sp>
      <p:sp>
        <p:nvSpPr>
          <p:cNvPr id="59" name="Shape 49"/>
          <p:cNvSpPr/>
          <p:nvPr/>
        </p:nvSpPr>
        <p:spPr>
          <a:xfrm>
            <a:off x="6510528" y="5193792"/>
            <a:ext cx="512064" cy="51206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785" y="5332049"/>
            <a:ext cx="235549" cy="235549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7168896" y="5193792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live voice — no dead air</a:t>
            </a:r>
            <a:endParaRPr lang="en-US" sz="1450" dirty="0"/>
          </a:p>
        </p:txBody>
      </p:sp>
      <p:sp>
        <p:nvSpPr>
          <p:cNvPr id="62" name="Text 51"/>
          <p:cNvSpPr/>
          <p:nvPr/>
        </p:nvSpPr>
        <p:spPr>
          <a:xfrm>
            <a:off x="6528816" y="5797296"/>
            <a:ext cx="4700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call is time-capped: a slow backend never leaves the caller in silence. Details that surface late are reconciled onto the saved record afterwards.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live systems — and the record builds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AI calls the same governed tools as the chat copilot, and writes what it learns straight into the customer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33272" y="2395728"/>
            <a:ext cx="713232" cy="71323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574036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 data, not model knowledge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33272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locations and eligibility come from live lookups — the model never guesses, and says so when a lookup returns nothing.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99866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755898" y="2395728"/>
            <a:ext cx="713232" cy="713232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206" y="2574036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injected server-side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55898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acts only as the agent it answers for. Identity is attached by the server, never chosen by the model.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22492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8524" y="2395728"/>
            <a:ext cx="713232" cy="713232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574036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populate live, saved mid-call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78524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fills on screen as the caller speaks; mentions are matched to master-data catalogs as structured links, not prose.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45118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01150" y="2395728"/>
            <a:ext cx="713232" cy="713232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458" y="2574036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said is discarded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01150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detail goes to notes and is flagged for human verification. A returning caller enriches the existing record, never duplicates it.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10312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521208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67004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90288" y="5074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498348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521208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5040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tool layer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470648" y="5074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786384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  <p:txBody>
          <a:bodyPr/>
          <a:p/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08" y="5212080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43076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hang-up the conversation is already a clean, structured, deduplicated record — same tools, same guardrails, same audit trail as the chat assistant.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takeover, guardrails that don't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4679168" cy="713232"/>
          </a:xfrm>
          <a:prstGeom prst="roundRect">
            <a:avLst>
              <a:gd name="adj" fmla="val 11538"/>
            </a:avLst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15925" y="1627632"/>
            <a:ext cx="5795787" cy="713232"/>
          </a:xfrm>
          <a:prstGeom prst="roundRect">
            <a:avLst>
              <a:gd name="adj" fmla="val 11538"/>
            </a:avLst>
          </a:prstGeom>
          <a:solidFill>
            <a:srgbClr val="5070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1627632"/>
            <a:ext cx="431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intake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0245" y="1627632"/>
            <a:ext cx="543002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takes over — mid-sentence if needed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86584"/>
            <a:ext cx="10634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call  ·  one record  ·  one QA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transcript streams to the agent's screen while the AI talks — takeover is one click. The customer hears no transfer and repeats nothing.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14984" y="3438144"/>
            <a:ext cx="548640" cy="5486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357530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55064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discloses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4984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opens by stating it's automated — non-negotiable, not editable.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99866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737610" y="3438144"/>
            <a:ext cx="548640" cy="54864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357530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77690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never advice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737610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what the systems say — no recommendations, no persuasion, no selling.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22492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460236" y="3438144"/>
            <a:ext cx="548640" cy="54864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57530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00316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identifiers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60236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requested — by design, not by instruction.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45118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9182862" y="3438144"/>
            <a:ext cx="548640" cy="5486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022" y="357530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22942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means off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82862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disabled capability is withheld from the AI, not discouraged in a prompt.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77240" y="5230368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222B36"/>
          </a:solidFill>
          <a:ln/>
        </p:spPr>
        <p:txBody>
          <a:bodyPr/>
          <a:p/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64184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45920" y="5230368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AI calling, and AI-made recommendations of any kind. The AI gathers and prepares — the licensed human advises and closes. In a regulated room, that boundary is a feature.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2C36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548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operation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shifts, all of them measurable from the audit and cost telemetry the platform already produces.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2825496"/>
            <a:ext cx="786384" cy="78638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302209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7581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down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97280" y="4270248"/>
            <a:ext cx="2852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are caught in the moment, on every call — not in a sampled review weeks later. The rules that catch them are owned by the business.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35424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809744" y="2825496"/>
            <a:ext cx="786384" cy="78638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3022092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9744" y="37581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ramp faster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809744" y="4270248"/>
            <a:ext cx="2852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coaching and hands-free data capture from day one. New agents get the guidance a supervisor can't give on every call at once.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47888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522208" y="2825496"/>
            <a:ext cx="786384" cy="78638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3022092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22208" y="37581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scale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522208" y="4270248"/>
            <a:ext cx="2852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effectively present on every live call, with AI they govern themselves — coverage without adding headcount.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" y="580644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22960" y="5806440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coached, supervised, and reviewed — without adding headcount.”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 in your domain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pillars — different rules, vocabulary, and data model. Three examples and an invitation: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33272" y="262432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807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3272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&amp; disclosure rules enforced live · KYC details captured mid-call · scoring against your regulatory standards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9866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755898" y="2624328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28072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telecom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5898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claims compliance · churn-save coaching nudges · order and account details auto-captured into the CRM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2492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78524" y="2624328"/>
            <a:ext cx="731520" cy="7315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28072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outreach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8524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Contact-practice rules enforced in real time · required-disclosure checklists · dispute and hardship detection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5118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22225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01150" y="2624328"/>
            <a:ext cx="731520" cy="73152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280720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domain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01150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compliance policies, your coaching playbook, your QA scoring criteria — the three pillars stay the same.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pillar would move the needle first in your operation?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domain-agnostic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33272" y="2103120"/>
            <a:ext cx="676656" cy="67665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27228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engines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phrases &amp; patterns, coaching behaviors, QA scoring criteria — admin-edited, hot-reloaded, versioned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9704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745736" y="2103120"/>
            <a:ext cx="676656" cy="67665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27228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LLM outputs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64024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schema-validated responses; merged calls per window — predictable cost and latency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02168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458200" y="2103120"/>
            <a:ext cx="676656" cy="676656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227228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62872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76488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alerts, sentiment, coaching pushed live to every screen that needs them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7240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033272" y="4114800"/>
            <a:ext cx="676656" cy="67665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428396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37944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51560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approve → execute, with opt-in Auto-Pilot; every action attributable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9704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745736" y="4114800"/>
            <a:ext cx="676656" cy="67665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428396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0408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 framework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64024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tools in the reference build — swap the toolset to swap the domain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02168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458200" y="4114800"/>
            <a:ext cx="676656" cy="676656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64" y="428396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62872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cost telemetry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76488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tokens, latency, and output logged per interaction; live stats endpoint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77240" y="5852160"/>
            <a:ext cx="10634472" cy="658368"/>
          </a:xfrm>
          <a:prstGeom prst="roundRect">
            <a:avLst>
              <a:gd name="adj" fmla="val 13889"/>
            </a:avLst>
          </a:prstGeom>
          <a:solidFill>
            <a:srgbClr val="222B36"/>
          </a:solidFill>
          <a:ln/>
        </p:spPr>
        <p:txBody>
          <a:bodyPr/>
          <a:p/>
        </p:txBody>
      </p:sp>
      <p:sp>
        <p:nvSpPr>
          <p:cNvPr id="35" name="Text 27"/>
          <p:cNvSpPr/>
          <p:nvPr/>
        </p:nvSpPr>
        <p:spPr>
          <a:xfrm>
            <a:off x="777240" y="5852160"/>
            <a:ext cx="10634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vertical means swapping the data model and the rule content — not rebuilding the AI.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view — every hop,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286000" cy="43434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9224" y="1618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46120" y="1554480"/>
            <a:ext cx="2331720" cy="4343400"/>
          </a:xfrm>
          <a:prstGeom prst="roundRect">
            <a:avLst>
              <a:gd name="adj" fmla="val 392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392424" y="1618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TELEPHONY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35040" y="1554480"/>
            <a:ext cx="3383280" cy="4343400"/>
          </a:xfrm>
          <a:prstGeom prst="roundRect">
            <a:avLst>
              <a:gd name="adj" fmla="val 2703"/>
            </a:avLst>
          </a:prstGeom>
          <a:solidFill>
            <a:srgbClr val="F5F7F9"/>
          </a:solidFill>
          <a:ln w="15875">
            <a:solidFill>
              <a:srgbClr val="222B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181344" y="1618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— CONTAINERIZED · CLOUD-PORTABLE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75520" y="1554480"/>
            <a:ext cx="1828800" cy="19659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21824" y="1618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875520" y="370332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5875">
            <a:solidFill>
              <a:srgbClr val="2FA36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21824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VECTORS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9808" y="2066544"/>
            <a:ext cx="310896" cy="31089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423" y="2141159"/>
            <a:ext cx="161666" cy="1616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2144" y="202082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browser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236829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· alert feed (SSE) · rules &amp; QA admin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0080" y="301752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49808" y="311810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23" y="3192719"/>
            <a:ext cx="161666" cy="16166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52144" y="307238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browser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68096" y="341985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· Twilio Voice SDK · call panel + copilot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0080" y="406908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749808" y="4169664"/>
            <a:ext cx="310896" cy="31089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23" y="4244279"/>
            <a:ext cx="161666" cy="16166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52144" y="412394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phone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68096" y="447141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 — inbound &amp; outbound calls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383280" y="1965960"/>
            <a:ext cx="2057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3493008" y="206654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623" y="2141159"/>
            <a:ext cx="161666" cy="16166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895344" y="20208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511296" y="2368296"/>
            <a:ext cx="181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 · TLS termination · named tunnel entry — stable custom domain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383280" y="3566160"/>
            <a:ext cx="2057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29"/>
          <p:cNvSpPr/>
          <p:nvPr/>
        </p:nvSpPr>
        <p:spPr>
          <a:xfrm>
            <a:off x="3493008" y="3666744"/>
            <a:ext cx="310896" cy="310896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623" y="3741359"/>
            <a:ext cx="161666" cy="16166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95344" y="36210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Cloud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3511296" y="3968496"/>
            <a:ext cx="1819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TwiML app (outbound) · phone number (inbound) · bidirectional media streams · signed webhooks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6172200" y="192024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6281928" y="202082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543" y="2095439"/>
            <a:ext cx="161666" cy="16166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84264" y="19751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connector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6300216" y="232257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outbound connection to the edge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6172200" y="260604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37"/>
          <p:cNvSpPr/>
          <p:nvPr/>
        </p:nvSpPr>
        <p:spPr>
          <a:xfrm>
            <a:off x="6281928" y="2706624"/>
            <a:ext cx="310896" cy="31089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543" y="2781239"/>
            <a:ext cx="161666" cy="16166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684264" y="2660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gateway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6300216" y="300837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multi-app path routing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6172200" y="329184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1"/>
          <p:cNvSpPr/>
          <p:nvPr/>
        </p:nvSpPr>
        <p:spPr>
          <a:xfrm>
            <a:off x="6281928" y="3392424"/>
            <a:ext cx="310896" cy="310896"/>
          </a:xfrm>
          <a:prstGeom prst="ellipse">
            <a:avLst/>
          </a:prstGeom>
          <a:solidFill>
            <a:srgbClr val="222B36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6543" y="3467039"/>
            <a:ext cx="161666" cy="16166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684264" y="33467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API (TypeScript)</a:t>
            </a:r>
            <a:endParaRPr lang="en-US" sz="1050" dirty="0"/>
          </a:p>
        </p:txBody>
      </p:sp>
      <p:sp>
        <p:nvSpPr>
          <p:cNvPr id="53" name="Text 43"/>
          <p:cNvSpPr/>
          <p:nvPr/>
        </p:nvSpPr>
        <p:spPr>
          <a:xfrm>
            <a:off x="6300216" y="3694176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 · SSE streams out · WS media receiver · systemd-managed</a:t>
            </a:r>
            <a:endParaRPr lang="en-US" sz="850" dirty="0"/>
          </a:p>
        </p:txBody>
      </p:sp>
      <p:sp>
        <p:nvSpPr>
          <p:cNvPr id="54" name="Shape 44"/>
          <p:cNvSpPr/>
          <p:nvPr/>
        </p:nvSpPr>
        <p:spPr>
          <a:xfrm>
            <a:off x="6172200" y="416052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5" name="Shape 45"/>
          <p:cNvSpPr/>
          <p:nvPr/>
        </p:nvSpPr>
        <p:spPr>
          <a:xfrm>
            <a:off x="6281928" y="426110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543" y="4335719"/>
            <a:ext cx="161666" cy="161666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684264" y="421538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layer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6300216" y="456285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(LangGraph, 23 tools) · QA evaluator · hybrid RAG retriever (BM25 + vector, RRF-fused) · prompt cache</a:t>
            </a:r>
            <a:endParaRPr lang="en-US" sz="850" dirty="0"/>
          </a:p>
        </p:txBody>
      </p:sp>
      <p:sp>
        <p:nvSpPr>
          <p:cNvPr id="59" name="Shape 48"/>
          <p:cNvSpPr/>
          <p:nvPr/>
        </p:nvSpPr>
        <p:spPr>
          <a:xfrm>
            <a:off x="6172200" y="4956048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0" name="Shape 49"/>
          <p:cNvSpPr/>
          <p:nvPr/>
        </p:nvSpPr>
        <p:spPr>
          <a:xfrm>
            <a:off x="6281928" y="5056632"/>
            <a:ext cx="310896" cy="31089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6543" y="5131247"/>
            <a:ext cx="161666" cy="161666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684264" y="501091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050" dirty="0"/>
          </a:p>
        </p:txBody>
      </p:sp>
      <p:sp>
        <p:nvSpPr>
          <p:cNvPr id="63" name="Text 51"/>
          <p:cNvSpPr/>
          <p:nvPr/>
        </p:nvSpPr>
        <p:spPr>
          <a:xfrm>
            <a:off x="6300216" y="535838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call bus · compliance rules · entities · sentiment · coaching</a:t>
            </a:r>
            <a:endParaRPr lang="en-US" sz="850" dirty="0"/>
          </a:p>
        </p:txBody>
      </p:sp>
      <p:sp>
        <p:nvSpPr>
          <p:cNvPr id="64" name="Shape 52"/>
          <p:cNvSpPr/>
          <p:nvPr/>
        </p:nvSpPr>
        <p:spPr>
          <a:xfrm>
            <a:off x="7726680" y="2487168"/>
            <a:ext cx="0" cy="118872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5" name="Shape 53"/>
          <p:cNvSpPr/>
          <p:nvPr/>
        </p:nvSpPr>
        <p:spPr>
          <a:xfrm>
            <a:off x="7726680" y="3172968"/>
            <a:ext cx="0" cy="118872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6" name="Shape 54"/>
          <p:cNvSpPr/>
          <p:nvPr/>
        </p:nvSpPr>
        <p:spPr>
          <a:xfrm>
            <a:off x="7726680" y="4023360"/>
            <a:ext cx="0" cy="1371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7" name="Shape 55"/>
          <p:cNvSpPr/>
          <p:nvPr/>
        </p:nvSpPr>
        <p:spPr>
          <a:xfrm>
            <a:off x="7726680" y="4818888"/>
            <a:ext cx="0" cy="1371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Shape 56"/>
          <p:cNvSpPr/>
          <p:nvPr/>
        </p:nvSpPr>
        <p:spPr>
          <a:xfrm>
            <a:off x="10012680" y="193852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9" name="Shape 57"/>
          <p:cNvSpPr/>
          <p:nvPr/>
        </p:nvSpPr>
        <p:spPr>
          <a:xfrm>
            <a:off x="10122408" y="2011680"/>
            <a:ext cx="256032" cy="256032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3856" y="2073128"/>
            <a:ext cx="133137" cy="133137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10469880" y="1975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endParaRPr lang="en-US" sz="950" dirty="0"/>
          </a:p>
        </p:txBody>
      </p:sp>
      <p:sp>
        <p:nvSpPr>
          <p:cNvPr id="72" name="Text 59"/>
          <p:cNvSpPr/>
          <p:nvPr/>
        </p:nvSpPr>
        <p:spPr>
          <a:xfrm>
            <a:off x="10140696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STT — both call tracks</a:t>
            </a:r>
            <a:endParaRPr lang="en-US" sz="750" dirty="0"/>
          </a:p>
        </p:txBody>
      </p:sp>
      <p:sp>
        <p:nvSpPr>
          <p:cNvPr id="73" name="Shape 60"/>
          <p:cNvSpPr/>
          <p:nvPr/>
        </p:nvSpPr>
        <p:spPr>
          <a:xfrm>
            <a:off x="10012680" y="2761488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4" name="Shape 61"/>
          <p:cNvSpPr/>
          <p:nvPr/>
        </p:nvSpPr>
        <p:spPr>
          <a:xfrm>
            <a:off x="10122408" y="2834640"/>
            <a:ext cx="256032" cy="256032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3856" y="2896088"/>
            <a:ext cx="133137" cy="133137"/>
          </a:xfrm>
          <a:prstGeom prst="rect">
            <a:avLst/>
          </a:prstGeom>
        </p:spPr>
      </p:pic>
      <p:sp>
        <p:nvSpPr>
          <p:cNvPr id="76" name="Text 62"/>
          <p:cNvSpPr/>
          <p:nvPr/>
        </p:nvSpPr>
        <p:spPr>
          <a:xfrm>
            <a:off x="10469880" y="2798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950" dirty="0"/>
          </a:p>
        </p:txBody>
      </p:sp>
      <p:sp>
        <p:nvSpPr>
          <p:cNvPr id="77" name="Text 63"/>
          <p:cNvSpPr/>
          <p:nvPr/>
        </p:nvSpPr>
        <p:spPr>
          <a:xfrm>
            <a:off x="10140696" y="3072384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/ Opus — LLM calls</a:t>
            </a:r>
            <a:endParaRPr lang="en-US" sz="750" dirty="0"/>
          </a:p>
        </p:txBody>
      </p:sp>
      <p:sp>
        <p:nvSpPr>
          <p:cNvPr id="78" name="Shape 64"/>
          <p:cNvSpPr/>
          <p:nvPr/>
        </p:nvSpPr>
        <p:spPr>
          <a:xfrm>
            <a:off x="10012680" y="4041648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9" name="Shape 65"/>
          <p:cNvSpPr/>
          <p:nvPr/>
        </p:nvSpPr>
        <p:spPr>
          <a:xfrm>
            <a:off x="10122408" y="4114800"/>
            <a:ext cx="256032" cy="25603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8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3856" y="4176248"/>
            <a:ext cx="133137" cy="133137"/>
          </a:xfrm>
          <a:prstGeom prst="rect">
            <a:avLst/>
          </a:prstGeom>
        </p:spPr>
      </p:pic>
      <p:sp>
        <p:nvSpPr>
          <p:cNvPr id="81" name="Text 66"/>
          <p:cNvSpPr/>
          <p:nvPr/>
        </p:nvSpPr>
        <p:spPr>
          <a:xfrm>
            <a:off x="10469880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embedder</a:t>
            </a:r>
            <a:endParaRPr lang="en-US" sz="950" dirty="0"/>
          </a:p>
        </p:txBody>
      </p:sp>
      <p:sp>
        <p:nvSpPr>
          <p:cNvPr id="82" name="Text 67"/>
          <p:cNvSpPr/>
          <p:nvPr/>
        </p:nvSpPr>
        <p:spPr>
          <a:xfrm>
            <a:off x="10140696" y="43525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· 768-d</a:t>
            </a:r>
            <a:endParaRPr lang="en-US" sz="750" dirty="0"/>
          </a:p>
        </p:txBody>
      </p:sp>
      <p:sp>
        <p:nvSpPr>
          <p:cNvPr id="83" name="Shape 68"/>
          <p:cNvSpPr/>
          <p:nvPr/>
        </p:nvSpPr>
        <p:spPr>
          <a:xfrm>
            <a:off x="10012680" y="466344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4" name="Shape 69"/>
          <p:cNvSpPr/>
          <p:nvPr/>
        </p:nvSpPr>
        <p:spPr>
          <a:xfrm>
            <a:off x="10122408" y="4736592"/>
            <a:ext cx="256032" cy="25603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83856" y="4798040"/>
            <a:ext cx="133137" cy="133137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10469880" y="4700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950" dirty="0"/>
          </a:p>
        </p:txBody>
      </p:sp>
      <p:sp>
        <p:nvSpPr>
          <p:cNvPr id="87" name="Text 71"/>
          <p:cNvSpPr/>
          <p:nvPr/>
        </p:nvSpPr>
        <p:spPr>
          <a:xfrm>
            <a:off x="10140696" y="49743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5 collections · hybrid</a:t>
            </a:r>
            <a:endParaRPr lang="en-US" sz="750" dirty="0"/>
          </a:p>
        </p:txBody>
      </p:sp>
      <p:sp>
        <p:nvSpPr>
          <p:cNvPr id="88" name="Shape 72"/>
          <p:cNvSpPr/>
          <p:nvPr/>
        </p:nvSpPr>
        <p:spPr>
          <a:xfrm>
            <a:off x="10012680" y="5285232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9" name="Shape 73"/>
          <p:cNvSpPr/>
          <p:nvPr/>
        </p:nvSpPr>
        <p:spPr>
          <a:xfrm>
            <a:off x="10122408" y="5358384"/>
            <a:ext cx="256032" cy="25603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9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3856" y="5419832"/>
            <a:ext cx="133137" cy="133137"/>
          </a:xfrm>
          <a:prstGeom prst="rect">
            <a:avLst/>
          </a:prstGeom>
        </p:spPr>
      </p:pic>
      <p:sp>
        <p:nvSpPr>
          <p:cNvPr id="91" name="Text 74"/>
          <p:cNvSpPr/>
          <p:nvPr/>
        </p:nvSpPr>
        <p:spPr>
          <a:xfrm>
            <a:off x="10469880" y="5321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92" name="Text 75"/>
          <p:cNvSpPr/>
          <p:nvPr/>
        </p:nvSpPr>
        <p:spPr>
          <a:xfrm>
            <a:off x="10140696" y="559612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app + reference DBs</a:t>
            </a:r>
            <a:endParaRPr lang="en-US" sz="750" dirty="0"/>
          </a:p>
        </p:txBody>
      </p:sp>
      <p:sp>
        <p:nvSpPr>
          <p:cNvPr id="93" name="Shape 76"/>
          <p:cNvSpPr/>
          <p:nvPr/>
        </p:nvSpPr>
        <p:spPr>
          <a:xfrm>
            <a:off x="2670048" y="2331720"/>
            <a:ext cx="694944" cy="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4" name="Text 77"/>
          <p:cNvSpPr/>
          <p:nvPr/>
        </p:nvSpPr>
        <p:spPr>
          <a:xfrm>
            <a:off x="2560320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SSE</a:t>
            </a:r>
            <a:endParaRPr lang="en-US" sz="750" dirty="0"/>
          </a:p>
        </p:txBody>
      </p:sp>
      <p:sp>
        <p:nvSpPr>
          <p:cNvPr id="95" name="Shape 78"/>
          <p:cNvSpPr/>
          <p:nvPr/>
        </p:nvSpPr>
        <p:spPr>
          <a:xfrm flipV="1">
            <a:off x="2670048" y="2926080"/>
            <a:ext cx="694944" cy="3657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6" name="Shape 79"/>
          <p:cNvSpPr/>
          <p:nvPr/>
        </p:nvSpPr>
        <p:spPr>
          <a:xfrm>
            <a:off x="2670048" y="3611880"/>
            <a:ext cx="694944" cy="3657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7" name="Text 80"/>
          <p:cNvSpPr/>
          <p:nvPr/>
        </p:nvSpPr>
        <p:spPr>
          <a:xfrm>
            <a:off x="2487168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audio</a:t>
            </a:r>
            <a:endParaRPr lang="en-US" sz="750" dirty="0"/>
          </a:p>
        </p:txBody>
      </p:sp>
      <p:sp>
        <p:nvSpPr>
          <p:cNvPr id="98" name="Shape 81"/>
          <p:cNvSpPr/>
          <p:nvPr/>
        </p:nvSpPr>
        <p:spPr>
          <a:xfrm>
            <a:off x="2670048" y="4498848"/>
            <a:ext cx="694944" cy="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9" name="Text 82"/>
          <p:cNvSpPr/>
          <p:nvPr/>
        </p:nvSpPr>
        <p:spPr>
          <a:xfrm>
            <a:off x="2615184" y="4261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</a:t>
            </a:r>
            <a:endParaRPr lang="en-US" sz="750" dirty="0"/>
          </a:p>
        </p:txBody>
      </p:sp>
      <p:sp>
        <p:nvSpPr>
          <p:cNvPr id="100" name="Shape 83"/>
          <p:cNvSpPr/>
          <p:nvPr/>
        </p:nvSpPr>
        <p:spPr>
          <a:xfrm>
            <a:off x="4407408" y="3154680"/>
            <a:ext cx="0" cy="41148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headEnd type="triangle"/>
            <a:tailEnd type="none"/>
          </a:ln>
        </p:spPr>
        <p:txBody>
          <a:bodyPr/>
          <a:p/>
        </p:txBody>
      </p:sp>
      <p:sp>
        <p:nvSpPr>
          <p:cNvPr id="101" name="Text 84"/>
          <p:cNvSpPr/>
          <p:nvPr/>
        </p:nvSpPr>
        <p:spPr>
          <a:xfrm>
            <a:off x="4480560" y="3218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· media WS</a:t>
            </a:r>
            <a:endParaRPr lang="en-US" sz="750" dirty="0"/>
          </a:p>
        </p:txBody>
      </p:sp>
      <p:sp>
        <p:nvSpPr>
          <p:cNvPr id="102" name="Shape 85"/>
          <p:cNvSpPr/>
          <p:nvPr/>
        </p:nvSpPr>
        <p:spPr>
          <a:xfrm flipV="1">
            <a:off x="5458968" y="2240280"/>
            <a:ext cx="694944" cy="22860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3" name="Text 86"/>
          <p:cNvSpPr/>
          <p:nvPr/>
        </p:nvSpPr>
        <p:spPr>
          <a:xfrm>
            <a:off x="5394960" y="19568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750" dirty="0"/>
          </a:p>
        </p:txBody>
      </p:sp>
      <p:sp>
        <p:nvSpPr>
          <p:cNvPr id="104" name="Shape 87"/>
          <p:cNvSpPr/>
          <p:nvPr/>
        </p:nvSpPr>
        <p:spPr>
          <a:xfrm flipV="1">
            <a:off x="9299448" y="2331720"/>
            <a:ext cx="685800" cy="114300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5" name="Text 88"/>
          <p:cNvSpPr/>
          <p:nvPr/>
        </p:nvSpPr>
        <p:spPr>
          <a:xfrm>
            <a:off x="9235440" y="27249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audio</a:t>
            </a:r>
            <a:endParaRPr lang="en-US" sz="750" dirty="0"/>
          </a:p>
        </p:txBody>
      </p:sp>
      <p:sp>
        <p:nvSpPr>
          <p:cNvPr id="106" name="Shape 89"/>
          <p:cNvSpPr/>
          <p:nvPr/>
        </p:nvSpPr>
        <p:spPr>
          <a:xfrm flipV="1">
            <a:off x="9299448" y="3127248"/>
            <a:ext cx="685800" cy="1124712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7" name="Text 90"/>
          <p:cNvSpPr/>
          <p:nvPr/>
        </p:nvSpPr>
        <p:spPr>
          <a:xfrm>
            <a:off x="9217152" y="35204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750" dirty="0"/>
          </a:p>
        </p:txBody>
      </p:sp>
      <p:sp>
        <p:nvSpPr>
          <p:cNvPr id="108" name="Shape 91"/>
          <p:cNvSpPr/>
          <p:nvPr/>
        </p:nvSpPr>
        <p:spPr>
          <a:xfrm flipV="1">
            <a:off x="9299448" y="4306824"/>
            <a:ext cx="685800" cy="128016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9" name="Text 92"/>
          <p:cNvSpPr/>
          <p:nvPr/>
        </p:nvSpPr>
        <p:spPr>
          <a:xfrm>
            <a:off x="9454896" y="40599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750" dirty="0"/>
          </a:p>
        </p:txBody>
      </p:sp>
      <p:sp>
        <p:nvSpPr>
          <p:cNvPr id="110" name="Shape 93"/>
          <p:cNvSpPr/>
          <p:nvPr/>
        </p:nvSpPr>
        <p:spPr>
          <a:xfrm>
            <a:off x="9299448" y="4645152"/>
            <a:ext cx="685800" cy="283464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1" name="Text 94"/>
          <p:cNvSpPr/>
          <p:nvPr/>
        </p:nvSpPr>
        <p:spPr>
          <a:xfrm>
            <a:off x="9345168" y="490118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50" dirty="0"/>
          </a:p>
        </p:txBody>
      </p:sp>
      <p:sp>
        <p:nvSpPr>
          <p:cNvPr id="112" name="Shape 95"/>
          <p:cNvSpPr/>
          <p:nvPr/>
        </p:nvSpPr>
        <p:spPr>
          <a:xfrm>
            <a:off x="9299448" y="5413248"/>
            <a:ext cx="685800" cy="1371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3" name="Text 96"/>
          <p:cNvSpPr/>
          <p:nvPr/>
        </p:nvSpPr>
        <p:spPr>
          <a:xfrm>
            <a:off x="9272016" y="5157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Center Intel — AI Capabilities for Customer-Facing Sales &amp; Service</dc:title>
  <dc:subject>PptxGenJS Presentation</dc:subject>
  <dc:creator>Adhithya Rubarajan</dc:creator>
  <cp:lastModifiedBy>Adhithya Rubarajan</cp:lastModifiedBy>
  <cp:revision>1</cp:revision>
  <dcterms:created xsi:type="dcterms:W3CDTF">2026-07-30T05:03:45Z</dcterms:created>
  <dcterms:modified xsi:type="dcterms:W3CDTF">2026-07-30T05:03:45Z</dcterms:modified>
</cp:coreProperties>
</file>